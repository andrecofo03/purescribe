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biettivo" id="{F4B3CE39-7EA2-44CD-82A9-A9042E327384}">
          <p14:sldIdLst>
            <p14:sldId id="256"/>
          </p14:sldIdLst>
        </p14:section>
        <p14:section name="Preparazione offline" id="{96E0088A-2685-44E0-87C1-9F163A12EF5B}">
          <p14:sldIdLst>
            <p14:sldId id="257"/>
          </p14:sldIdLst>
        </p14:section>
        <p14:section name="Pipeline finale" id="{C3D17D65-3E4C-4533-8C18-D701587796CE}">
          <p14:sldIdLst>
            <p14:sldId id="258"/>
          </p14:sldIdLst>
        </p14:section>
        <p14:section name="Riproduzione e limiti" id="{7167C1BA-AF9B-4180-8E2D-6C1E4B92381D}">
          <p14:sldIdLst>
            <p14:sldId id="259"/>
          </p14:sldIdLst>
        </p14:section>
      </p14:sectionLst>
    </p:ext>
    <p:ext xmlns:p="http://schemas.openxmlformats.org/presentationml/2006/main"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theme" Target="theme/them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6096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6096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524000"/>
            <a:ext cx="5143500" cy="4572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6461760"/>
            <a:ext cx="5486400" cy="438912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2400"/>
            <a:ext cx="2948940" cy="6096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11582400"/>
            <a:ext cx="2948940" cy="6096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Obiettivo. La baseline “Lost in Translation” (Bohacek e Farid, CVPRW 2024) confronta due trascrizioni indipendenti dello stesso video: quella dell’audio (Whisper) e quella del labiale (Auto-AVSR). Se la distanza di Levenshtein normalizzata supera 0,5 il video è classificato fake.
</a:t>
            </a:r>
            <a:br>
              <a:rPr lang="en-US"/>
            </a:br>
            <a:r>
              <a:rPr lang="en-US"/>
              <a:t>La tesi sostituisce soltanto il trascrittore audio con PureScribe. Restano invariati: i video, le trascrizioni labiali, la normalizzazione (standardize_text), la distanza (normalized_levenshtein), la soglia 0,5, la classe positiva fake e le metriche (TP, TN, FP, FN, accuracy, precision, recall, F1).
</a:t>
            </a:r>
            <a:br>
              <a:rPr lang="en-US"/>
            </a:br>
            <a:r>
              <a:rPr lang="en-US"/>
              <a:t>Domanda sperimentale: a parità di tutto il resto, come cambiano le prestazioni di rilevamento passando da Whisper a PureScribe?
</a:t>
            </a:r>
            <a:br>
              <a:rPr lang="en-US"/>
            </a:br>
            <a:r>
              <a:rPr lang="en-US"/>
              <a:t>
</a:t>
            </a:r>
            <a:br>
              <a:rPr lang="en-US"/>
            </a:br>
            <a:r>
              <a:rPr lang="en-US"/>
              <a:t>Fonti: docs/pipeline.md (sezioni Obiettivo e Rapporto con Lost in Translation); lost_in_translation.py (standardize_text, normalized_levenshtein, compare: prediction = fake se distance &gt; threshold, default 0.5); baseline locale C:\Users\cofon\DeepSpeak\transcribe.py (evaluate, threshold 0.5) e text_utils.py; paper in thesis/Bohacek_Lost_in_Translation_..._CVPRW_2024_paper.pdf.
</a:t>
            </a:r>
            <a:br>
              <a:rPr lang="en-US"/>
            </a:br>
            <a:r>
              <a:rPr lang="en-US"/>
              <a:t>Nota: non esiste una repository ufficiale del paper; il riferimento è l’esecuzione locale della baseline DeepSpeak del 20/09/2026 (Whisper-small + Auto-AVSR).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Preparazione offline (fasi 2 e 3 della pipeline; le fasi 1 split e 4 validazione su Common Voice sono state rimosse: tutto Common Voice dev è materiale di training, la valutazione è su DeepSpeak).
</a:t>
            </a:r>
            <a:br>
              <a:rPr lang="en-US"/>
            </a:br>
            <a:r>
              <a:rPr lang="en-US"/>
              <a:t>1. Input: D:\CommonVoice\dev\*.mp3 e D:\CommonVoice\cv_path_transcription.txt (etichette ufficiali). dev.tsv facoltativo: solo path, client_id, locale.
</a:t>
            </a:r>
            <a:br>
              <a:rPr lang="en-US"/>
            </a:br>
            <a:r>
              <a:rPr lang="en-US"/>
              <a:t>2. Whisper (openai-whisper, modello base) riceve solo l’audio: model.transcribe(audio, language="en", word_timestamps=True), senza initial_prompt, senza align() e senza testo ufficiale. Serve solo a proporre timestamp candidati.
</a:t>
            </a:r>
            <a:br>
              <a:rPr lang="en-US"/>
            </a:br>
            <a:r>
              <a:rPr lang="en-US"/>
              <a:t>3. match_word_indices: corrispondenze esatte e monotone (SequenceMatcher sui token normalizzati: casefold, apostrofi tipografici → ', punteggiatura esterna rimossa; apostrofi e trattini interni conservati). Inserzioni, omissioni e sostituzioni sono ignorate; nessun timestamp viene ricostruito. Esempio: ufficiale “the quick brown fox”, Whisper “the quick fox” → clip solo per the, quick, fox.
</a:t>
            </a:r>
            <a:br>
              <a:rPr lang="en-US"/>
            </a:br>
            <a:r>
              <a:rPr lang="en-US"/>
              <a:t>4. valid_word_bounds rifiuta timestamp mancanti, non finiti, negativi, invertiti o fuori durata; padding 50 ms prima e 120 ms dopo, limitato ai bordi; durata minima 100 ms; WAV mono 16 kHz PCM 16 bit scritti in modo esclusivo (save_wav). Etichetta = parola ufficiale Common Voice. Quota --clips-per-word 20; a fine estrazione le parole con meno di --min-clips-per-word 10 clip vengono rimosse: il vocabolario chiuso è l’insieme delle cartelle rimaste.
</a:t>
            </a:r>
            <a:br>
              <a:rPr lang="en-US"/>
            </a:br>
            <a:r>
              <a:rPr lang="en-US"/>
              <a:t>5. python -m purescribe.cli train &lt;corpus&gt; -o &lt;modello&gt;.psm (default: 2 gaussiane per stato, 10 iterazioni, addestramento Viterbi).
</a:t>
            </a:r>
            <a:br>
              <a:rPr lang="en-US"/>
            </a:br>
            <a:r>
              <a:rPr lang="en-US"/>
              <a:t>
</a:t>
            </a:r>
            <a:br>
              <a:rPr lang="en-US"/>
            </a:br>
            <a:r>
              <a:rPr lang="en-US"/>
              <a:t>PureScribe (purescribe/): features.py FeatureConfig: 16 kHz, frame 25 ms, hop 10 ms, n_fft 512, 26 filtri mel, 13 cepstra con C0 sostituito dall’energia logaritmica, liftering 22, Δ e ΔΔ (39 dimensioni), CMVN globale stimata sul corpus e salvata nel modello. train.py: un HMM left-to-right per parola, numero di stati dalla durata mediana dei clip (4 frame per stato, 3–24), GMM diagonali con floor di varianza, segmental k-means (method=viterbi); modello di silenzio a 1 stato stimato sulle regioni non vocali. decoder.py: token passing (Young, Russell &amp; Thornton 1989), una sola ricerca Viterbi con beam 250 su un loop di modelli di parola; lexicon.py: LM uniforme se non si passa --grammar. L’output contiene solo parole del vocabolario addestrato.
</a:t>
            </a:r>
            <a:br>
              <a:rPr lang="en-US"/>
            </a:br>
            <a:r>
              <a:rPr lang="en-US"/>
              <a:t>
</a:t>
            </a:r>
            <a:br>
              <a:rPr lang="en-US"/>
            </a:br>
            <a:r>
              <a:rPr lang="en-US"/>
              <a:t>Fonti: commonvoice_purescribe.py (extract, match_word_indices, valid_word_bounds, save_wav, costanti di padding); purescribe/features.py, train.py, hmm.py, decoder.py, lexicon.py, cli.py; docs/pipeline.md.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Pipeline finale (fasi 5 e 6, lost_in_translation.py). Nessun modello ASR diverso da PureScribe viene eseguito; il modulo non importa Whisper.
</a:t>
            </a:r>
            <a:br>
              <a:rPr lang="en-US"/>
            </a:br>
            <a:r>
              <a:rPr lang="en-US"/>
              <a:t>Fase 5 transcribe: l’elenco dei video è dato dai nomi dei file della baseline presenti in entrambi i rami (whisper\test\&lt;real|fake&gt;\ e avsr\test\&lt;real|fake&gt;\; il contenuto non viene letto). Per ogni video D:\DeepSpeak\test\&lt;real|fake&gt;\&lt;nome&gt;.mp4: Recognizer.transcribe → purescribe.audio.load_audio estrae l’intera traccia audio con ffmpeg (mono, 16 kHz) e PureScribe la trascrive. Output: deepfake_purescribe.tsv con colonne video, status (ok/missing/error), purescribe_transcription, detail, model_sha256.
</a:t>
            </a:r>
            <a:br>
              <a:rPr lang="en-US"/>
            </a:br>
            <a:r>
              <a:rPr lang="en-US"/>
              <a:t>Ramo labiale: i testi Auto-AVSR vengono letti dagli output della baseline DeepSpeak (C:\Users\cofon\DeepSpeak\transcriptions\avsr\test\{real,fake}\*.txt, scritti il 20/09/2026). Questo repository non riesegue Auto-AVSR.
</a:t>
            </a:r>
            <a:br>
              <a:rPr lang="en-US"/>
            </a:br>
            <a:r>
              <a:rPr lang="en-US"/>
              <a:t>Fase 6 compare: solo i video con trascrizione PureScribe ok entrano nel confronto, per entrambi i sistemi. L’output di PureScribe passa per standardize_text (minuscole, rimozione di [..] e (..), di um/uh/hmm/mm/mhm/mmm e della punteggiatura ASCII, spazi compattati), come la baseline faceva con Whisper; i testi Whisper e labiali salvati dalla baseline sono già normalizzati. normalized_levenshtein: distanza di Levenshtein sui caratteri divisa per la lunghezza massima, 1,0 se solo uno dei due testi è vuoto, arrotondata a 4 decimali. Decisione: fake se d &gt; 0,5 (classe positiva fake). Output: deepfake_comparison.json con TP, TN, FP, FN, accuracy, precision, recall, F1, distribuzioni delle distanze, risultati per metodo e per video, differenze PureScribe − Whisper, SHA-256 degli input.
</a:t>
            </a:r>
            <a:br>
              <a:rPr lang="en-US"/>
            </a:br>
            <a:r>
              <a:rPr lang="en-US"/>
              <a:t>Verifica eseguita per questa presentazione (sola lettura): la baseline contiene 24 + 100 trascrizioni in entrambi i rami; 120 dei 124 video sono presenti in D:\DeepSpeak\test (4 autentici mancano).
</a:t>
            </a:r>
            <a:br>
              <a:rPr lang="en-US"/>
            </a:br>
            <a:r>
              <a:rPr lang="en-US"/>
              <a:t>
</a:t>
            </a:r>
            <a:br>
              <a:rPr lang="en-US"/>
            </a:br>
            <a:r>
              <a:rPr lang="en-US"/>
              <a:t>Fonti: lost_in_translation.py (baseline_videos, transcribe, standardize_text, normalized_levenshtein, compare); purescribe/recognizer.py e audio.py; docs/pipeline.md (fasi 5 e 6).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Comandi completi (PowerShell, dalla root del repository C:\Users\cofon\purescribe). $RUN è un esempio di directory nuova: verificare che non esista prima di iniziare.
</a:t>
            </a:r>
            <a:br>
              <a:rPr lang="en-US"/>
            </a:br>
            <a:r>
              <a:rPr lang="en-US"/>
              <a:t>$RUN = "C:\Users\cofon\Desktop\thesis_lit_purescribe_20261016_01"
</a:t>
            </a:r>
            <a:br>
              <a:rPr lang="en-US"/>
            </a:br>
            <a:r>
              <a:rPr lang="en-US"/>
              <a:t>.\.venv\Scripts\python.exe commonvoice_purescribe.py extract --data-root D:\CommonVoice --audio-dir D:\CommonVoice\dev --transcription-file D:\CommonVoice\cv_path_transcription.txt --output $RUN\corpus
</a:t>
            </a:r>
            <a:br>
              <a:rPr lang="en-US"/>
            </a:br>
            <a:r>
              <a:rPr lang="en-US"/>
              <a:t>.\.venv\Scripts\python.exe -m purescribe.cli train $RUN\corpus -o $RUN\purescribe.psm
</a:t>
            </a:r>
            <a:br>
              <a:rPr lang="en-US"/>
            </a:br>
            <a:r>
              <a:rPr lang="en-US"/>
              <a:t>.\.venv\Scripts\python.exe -m purescribe.cli info $RUN\purescribe.psm   (facoltativo: elenca le classi del modello)
</a:t>
            </a:r>
            <a:br>
              <a:rPr lang="en-US"/>
            </a:br>
            <a:r>
              <a:rPr lang="en-US"/>
              <a:t>.\.venv\Scripts\python.exe lost_in_translation.py transcribe --model $RUN\purescribe.psm --baseline-transcripts C:\Users\cofon\DeepSpeak\transcriptions --subset test --videos-dir D:\DeepSpeak\test --output $RUN\deepfake_purescribe.tsv
</a:t>
            </a:r>
            <a:br>
              <a:rPr lang="en-US"/>
            </a:br>
            <a:r>
              <a:rPr lang="en-US"/>
              <a:t>.\.venv\Scripts\python.exe lost_in_translation.py compare --baseline-transcripts C:\Users\cofon\DeepSpeak\transcriptions --subset test --purescribe $RUN\deepfake_purescribe.tsv --threshold 0.5 --output $RUN\deepfake_comparison.json
</a:t>
            </a:r>
            <a:br>
              <a:rPr lang="en-US"/>
            </a:br>
            <a:r>
              <a:rPr lang="en-US"/>
              <a:t>
</a:t>
            </a:r>
            <a:br>
              <a:rPr lang="en-US"/>
            </a:br>
            <a:r>
              <a:rPr lang="en-US"/>
              <a:t>Prerequisiti: ambiente .venv già predisposto (numpy, scipy, openai-whisper); ffmpeg nel PATH; modello Whisper base nella cache locale (~\.cache\whisper\base.pt); dati in sola lettura D:\CommonVoice, D:\DeepSpeak, C:\Users\cofon\DeepSpeak.
</a:t>
            </a:r>
            <a:br>
              <a:rPr lang="en-US"/>
            </a:br>
            <a:r>
              <a:rPr lang="en-US"/>
              <a:t>Predefiniti di extract: --clips-per-word 20, --min-clips-per-word 10, --whisper-model base, --seed 20261014 (ordine di elaborazione degli audio). I percorsi passati vengono ricordati in commonvoice_purescribe.settings.json: passarli sempre esplicitamente rende il comando riproducibile.
</a:t>
            </a:r>
            <a:br>
              <a:rPr lang="en-US"/>
            </a:br>
            <a:r>
              <a:rPr lang="en-US"/>
              <a:t>Comportamento sui file: train, transcribe e compare rifiutano output già esistenti; extract svuota e riscrive soltanto una propria estrazione precedente nella stessa cartella (o una cartella vuota) e rifiuta ogni altra cartella. Per questo $RUN deve essere nuova. Non sovrascrivere i dati e modelli protetti da AGENTS.md: D:\CommonVoice, C:\Users\cofon\Desktop\words_cv, corpus\ del repository, words.psm, temp_iso.wav, artefatti di pilot e QA precedenti (per esempio Desktop\thesis_lit_purescribe_20261015_01).
</a:t>
            </a:r>
            <a:br>
              <a:rPr lang="en-US"/>
            </a:br>
            <a:r>
              <a:rPr lang="en-US"/>
              <a:t>Costo: extract elabora tutti gli audio di dev senza limite; stima da docs/pipeline.md circa 0,8 s per audio su CPU (pilota precedente), ~3,6 ore per 16.401 audio utilizzabili, non rimisurata dopo il refactoring. Ctrl+C ferma in anticipo: i clip già salvati vengono potati e extraction.json riporta stopped: interrupted. Se restano meno di due parole extract termina con exit code 2.
</a:t>
            </a:r>
            <a:br>
              <a:rPr lang="en-US"/>
            </a:br>
            <a:r>
              <a:rPr lang="en-US"/>
              <a:t>Le opzioni sono state verificate sul codice attuale (argparse in commonvoice_purescribe.py, purescribe/cli.py, lost_in_translation.py) e con --help; i comandi non sono stati eseguiti per preparare questa presentazione.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>
                <a:solidFill>
                  <a:schemeClr val="bg1"/>
                </a:solidFill>
                <a:latin typeface="Cambria"/>
                <a:ea typeface="Cambria"/>
                <a:cs typeface="Cambria"/>
              </a:defRPr>
            </a:lvl1pPr>
          </a:lstStyle>
          <a:p>
            <a:pPr marL="0" indent="0">
              <a:buNone/>
            </a:pPr>
            <a:endParaRPr lang="en-US" sz="3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EDCD0F9E-EF7E-4C26-8662-25A73F2263DD}" type="slidenum">
              <a:rPr lang="en-US" b="0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>
                <a:solidFill>
                  <a:schemeClr val="tx1"/>
                </a:solidFill>
                <a:latin typeface="Cambria"/>
                <a:ea typeface="Cambria"/>
                <a:cs typeface="Cambria"/>
              </a:defRPr>
            </a:lvl1pPr>
          </a:lstStyle>
          <a:p>
            <a:pPr marL="0" indent="0">
              <a:buNone/>
            </a:pPr>
            <a:endParaRPr lang="en-US" sz="320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tx2"/>
                </a:solidFill>
              </a:rPr>
              <a:t>PureScribe in “Lost in Translation” · pipeline della tesi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87C18080-B33E-4073-8615-72D8F5AE8F78}" type="slidenum">
              <a:rPr lang="en-US" b="0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ureScribe T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473D6AB1-0FDA-49F1-8390-8828CE9E6676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Whisper → PureScribe in “Lost in Translation”</a:t>
            </a:r>
            <a:endParaRPr lang="en-US" sz="340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accent6"/>
                </a:solidFill>
              </a:rPr>
              <a:t>Lip-sync deepfake: disallineamento tra trascrizione dell’audio e del labiale (Bohacek &amp; Farid, CVPRW 2024)</a:t>
            </a:r>
            <a:endParaRPr lang="en-US" sz="1600"/>
          </a:p>
        </p:txBody>
      </p:sp>
      <p:sp>
        <p:nvSpPr>
          <p:cNvPr id="4" name="card-1"/>
          <p:cNvSpPr/>
          <p:nvPr/>
        </p:nvSpPr>
        <p:spPr>
          <a:xfrm>
            <a:off x="548640" y="2514600"/>
            <a:ext cx="1417320" cy="1143000"/>
          </a:xfrm>
          <a:prstGeom prst="roundRect">
            <a:avLst>
              <a:gd name="adj" fmla="val 64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box-text-2"/>
          <p:cNvSpPr txBox="1"/>
          <p:nvPr/>
        </p:nvSpPr>
        <p:spPr>
          <a:xfrm>
            <a:off x="658368" y="2569464"/>
            <a:ext cx="119786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>
                <a:solidFill>
                  <a:schemeClr val="bg1"/>
                </a:solidFill>
              </a:rPr>
              <a:t>Video</a:t>
            </a:r>
            <a:endParaRPr lang="en-US" sz="150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200">
                <a:solidFill>
                  <a:schemeClr val="accent6"/>
                </a:solidFill>
              </a:rPr>
              <a:t>.mp4</a:t>
            </a:r>
            <a:endParaRPr lang="en-US" sz="1500"/>
          </a:p>
        </p:txBody>
      </p:sp>
      <p:sp>
        <p:nvSpPr>
          <p:cNvPr id="6" name="label-3"/>
          <p:cNvSpPr txBox="1"/>
          <p:nvPr/>
        </p:nvSpPr>
        <p:spPr>
          <a:xfrm>
            <a:off x="2423160" y="1752600"/>
            <a:ext cx="4206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chemeClr val="accent5"/>
                </a:solidFill>
              </a:rPr>
              <a:t>         RAMO AUDIO</a:t>
            </a:r>
            <a:endParaRPr lang="en-US" sz="1100"/>
          </a:p>
        </p:txBody>
      </p:sp>
      <p:sp>
        <p:nvSpPr>
          <p:cNvPr id="7" name="card-4"/>
          <p:cNvSpPr/>
          <p:nvPr/>
        </p:nvSpPr>
        <p:spPr>
          <a:xfrm>
            <a:off x="2423160" y="201168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8" name="box-text-5"/>
          <p:cNvSpPr txBox="1"/>
          <p:nvPr/>
        </p:nvSpPr>
        <p:spPr>
          <a:xfrm>
            <a:off x="2532888" y="206654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>
                <a:solidFill>
                  <a:schemeClr val="accent2"/>
                </a:solidFill>
              </a:rPr>
              <a:t>Whisper-small</a:t>
            </a:r>
            <a:endParaRPr lang="en-US" sz="150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200">
                <a:solidFill>
                  <a:schemeClr val="accent6"/>
                </a:solidFill>
              </a:rPr>
              <a:t>baseline</a:t>
            </a:r>
            <a:endParaRPr lang="en-US" sz="1500"/>
          </a:p>
        </p:txBody>
      </p:sp>
      <p:sp>
        <p:nvSpPr>
          <p:cNvPr id="9" name="arrow-6"/>
          <p:cNvSpPr/>
          <p:nvPr/>
        </p:nvSpPr>
        <p:spPr>
          <a:xfrm>
            <a:off x="4251960" y="2446020"/>
            <a:ext cx="502920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 w="med" len="med"/>
          </a:ln>
        </p:spPr>
      </p:sp>
      <p:sp>
        <p:nvSpPr>
          <p:cNvPr id="10" name="card-7"/>
          <p:cNvSpPr/>
          <p:nvPr/>
        </p:nvSpPr>
        <p:spPr>
          <a:xfrm>
            <a:off x="4800600" y="201168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</p:sp>
      <p:sp>
        <p:nvSpPr>
          <p:cNvPr id="11" name="box-text-8"/>
          <p:cNvSpPr txBox="1"/>
          <p:nvPr/>
        </p:nvSpPr>
        <p:spPr>
          <a:xfrm>
            <a:off x="4910328" y="206654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>
                <a:solidFill>
                  <a:schemeClr val="bg1"/>
                </a:solidFill>
              </a:rPr>
              <a:t>PureScribe</a:t>
            </a:r>
            <a:endParaRPr lang="en-US" sz="150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200">
                <a:solidFill>
                  <a:schemeClr val="bg2"/>
                </a:solidFill>
              </a:rPr>
              <a:t>tesi</a:t>
            </a:r>
            <a:endParaRPr lang="en-US" sz="1500"/>
          </a:p>
        </p:txBody>
      </p:sp>
      <p:sp>
        <p:nvSpPr>
          <p:cNvPr id="12" name="label-9"/>
          <p:cNvSpPr txBox="1"/>
          <p:nvPr/>
        </p:nvSpPr>
        <p:spPr>
          <a:xfrm>
            <a:off x="2423160" y="3078480"/>
            <a:ext cx="4206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chemeClr val="accent6"/>
                </a:solidFill>
              </a:rPr>
              <a:t>        RAMO LABIALE</a:t>
            </a:r>
            <a:endParaRPr lang="en-US" sz="1100"/>
          </a:p>
        </p:txBody>
      </p:sp>
      <p:sp>
        <p:nvSpPr>
          <p:cNvPr id="13" name="card-10"/>
          <p:cNvSpPr/>
          <p:nvPr/>
        </p:nvSpPr>
        <p:spPr>
          <a:xfrm>
            <a:off x="2423160" y="3337560"/>
            <a:ext cx="416052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/>
        </p:spPr>
      </p:sp>
      <p:sp>
        <p:nvSpPr>
          <p:cNvPr id="14" name="box-text-11"/>
          <p:cNvSpPr txBox="1"/>
          <p:nvPr/>
        </p:nvSpPr>
        <p:spPr>
          <a:xfrm>
            <a:off x="2532888" y="3392424"/>
            <a:ext cx="39410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>
                <a:solidFill>
                  <a:schemeClr val="bg1"/>
                </a:solidFill>
              </a:rPr>
              <a:t>Auto-AVSR (lip reading)</a:t>
            </a:r>
            <a:endParaRPr lang="en-US" sz="150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200">
                <a:solidFill>
                  <a:schemeClr val="bg2"/>
                </a:solidFill>
              </a:rPr>
              <a:t>trascrizioni della baseline</a:t>
            </a:r>
            <a:endParaRPr lang="en-US" sz="1500"/>
          </a:p>
        </p:txBody>
      </p:sp>
      <p:sp>
        <p:nvSpPr>
          <p:cNvPr id="15" name="arrow-12"/>
          <p:cNvSpPr/>
          <p:nvPr/>
        </p:nvSpPr>
        <p:spPr>
          <a:xfrm flipV="1">
            <a:off x="1965960" y="2446020"/>
            <a:ext cx="411480" cy="48006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 w="med" len="med"/>
          </a:ln>
        </p:spPr>
      </p:sp>
      <p:sp>
        <p:nvSpPr>
          <p:cNvPr id="16" name="arrow-13"/>
          <p:cNvSpPr/>
          <p:nvPr/>
        </p:nvSpPr>
        <p:spPr>
          <a:xfrm>
            <a:off x="1965960" y="3246120"/>
            <a:ext cx="411480" cy="5257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 w="med" len="med"/>
          </a:ln>
        </p:spPr>
      </p:sp>
      <p:sp>
        <p:nvSpPr>
          <p:cNvPr id="17" name="arrow-14"/>
          <p:cNvSpPr/>
          <p:nvPr/>
        </p:nvSpPr>
        <p:spPr>
          <a:xfrm>
            <a:off x="6629400" y="2446020"/>
            <a:ext cx="457200" cy="5257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 w="med" len="med"/>
          </a:ln>
        </p:spPr>
      </p:sp>
      <p:sp>
        <p:nvSpPr>
          <p:cNvPr id="18" name="arrow-15"/>
          <p:cNvSpPr/>
          <p:nvPr/>
        </p:nvSpPr>
        <p:spPr>
          <a:xfrm flipV="1">
            <a:off x="6629400" y="3246120"/>
            <a:ext cx="457200" cy="5257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 w="med" len="med"/>
          </a:ln>
        </p:spPr>
      </p:sp>
      <p:sp>
        <p:nvSpPr>
          <p:cNvPr id="19" name="card-16"/>
          <p:cNvSpPr/>
          <p:nvPr/>
        </p:nvSpPr>
        <p:spPr>
          <a:xfrm>
            <a:off x="7132320" y="2560320"/>
            <a:ext cx="160020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box-text-17"/>
          <p:cNvSpPr txBox="1"/>
          <p:nvPr/>
        </p:nvSpPr>
        <p:spPr>
          <a:xfrm>
            <a:off x="7242048" y="2615184"/>
            <a:ext cx="1380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>
                <a:solidFill>
                  <a:schemeClr val="bg1"/>
                </a:solidFill>
              </a:rPr>
              <a:t>Normalizzazione</a:t>
            </a:r>
            <a:endParaRPr lang="en-US" sz="140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>
                <a:solidFill>
                  <a:schemeClr val="accent6"/>
                </a:solidFill>
              </a:rPr>
              <a:t>standardize_text</a:t>
            </a:r>
            <a:endParaRPr lang="en-US" sz="1400"/>
          </a:p>
        </p:txBody>
      </p:sp>
      <p:sp>
        <p:nvSpPr>
          <p:cNvPr id="21" name="arrow-18"/>
          <p:cNvSpPr/>
          <p:nvPr/>
        </p:nvSpPr>
        <p:spPr>
          <a:xfrm>
            <a:off x="8759952" y="3108960"/>
            <a:ext cx="219456" cy="914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 w="med" len="med"/>
          </a:ln>
        </p:spPr>
      </p:sp>
      <p:sp>
        <p:nvSpPr>
          <p:cNvPr id="22" name="card-19"/>
          <p:cNvSpPr/>
          <p:nvPr/>
        </p:nvSpPr>
        <p:spPr>
          <a:xfrm>
            <a:off x="9006840" y="2560320"/>
            <a:ext cx="132588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box-text-20"/>
          <p:cNvSpPr txBox="1"/>
          <p:nvPr/>
        </p:nvSpPr>
        <p:spPr>
          <a:xfrm>
            <a:off x="9116568" y="2615184"/>
            <a:ext cx="11064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>
                <a:solidFill>
                  <a:schemeClr val="bg1"/>
                </a:solidFill>
              </a:rPr>
              <a:t>Distanza d</a:t>
            </a:r>
            <a:endParaRPr lang="en-US" sz="140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>
                <a:solidFill>
                  <a:schemeClr val="accent6"/>
                </a:solidFill>
              </a:rPr>
              <a:t>Levenshtein normalizzata</a:t>
            </a:r>
            <a:endParaRPr lang="en-US" sz="1400"/>
          </a:p>
        </p:txBody>
      </p:sp>
      <p:sp>
        <p:nvSpPr>
          <p:cNvPr id="24" name="arrow-21"/>
          <p:cNvSpPr/>
          <p:nvPr/>
        </p:nvSpPr>
        <p:spPr>
          <a:xfrm>
            <a:off x="10360152" y="3108960"/>
            <a:ext cx="219456" cy="914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 w="med" len="med"/>
          </a:ln>
        </p:spPr>
      </p:sp>
      <p:sp>
        <p:nvSpPr>
          <p:cNvPr id="25" name="card-22"/>
          <p:cNvSpPr/>
          <p:nvPr/>
        </p:nvSpPr>
        <p:spPr>
          <a:xfrm>
            <a:off x="10607040" y="2560320"/>
            <a:ext cx="1033272" cy="1097280"/>
          </a:xfrm>
          <a:prstGeom prst="roundRect">
            <a:avLst>
              <a:gd name="adj" fmla="val 7080"/>
            </a:avLst>
          </a:prstGeom>
          <a:solidFill>
            <a:schemeClr val="bg1">
              <a:alpha val="10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26" name="box-text-23"/>
          <p:cNvSpPr txBox="1"/>
          <p:nvPr/>
        </p:nvSpPr>
        <p:spPr>
          <a:xfrm>
            <a:off x="10716768" y="2615184"/>
            <a:ext cx="8138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>
                <a:solidFill>
                  <a:schemeClr val="bg1"/>
                </a:solidFill>
              </a:rPr>
              <a:t>d &gt; 0,5</a:t>
            </a:r>
            <a:endParaRPr lang="en-US" sz="140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>
                <a:solidFill>
                  <a:schemeClr val="accent6"/>
                </a:solidFill>
              </a:rPr>
              <a:t>⇒ fake</a:t>
            </a:r>
            <a:endParaRPr lang="en-US" sz="1400"/>
          </a:p>
        </p:txBody>
      </p:sp>
      <p:sp>
        <p:nvSpPr>
          <p:cNvPr id="27" name="label-24"/>
          <p:cNvSpPr txBox="1"/>
          <p:nvPr/>
        </p:nvSpPr>
        <p:spPr>
          <a:xfrm>
            <a:off x="7132320" y="3794760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chemeClr val="accent6"/>
                </a:solidFill>
              </a:rPr>
              <a:t>INVARIATI: NORMALIZZAZIONE · DISTANZA · SOGLIA</a:t>
            </a:r>
            <a:endParaRPr lang="en-US" sz="1000"/>
          </a:p>
        </p:txBody>
      </p:sp>
      <p:sp>
        <p:nvSpPr>
          <p:cNvPr id="28" name="card-25"/>
          <p:cNvSpPr/>
          <p:nvPr/>
        </p:nvSpPr>
        <p:spPr>
          <a:xfrm>
            <a:off x="548640" y="4617720"/>
            <a:ext cx="11094415" cy="1463040"/>
          </a:xfrm>
          <a:prstGeom prst="roundRect">
            <a:avLst>
              <a:gd name="adj" fmla="val 5000"/>
            </a:avLst>
          </a:prstGeom>
          <a:solidFill>
            <a:schemeClr val="bg1">
              <a:alpha val="8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9" name="label-26"/>
          <p:cNvSpPr txBox="1"/>
          <p:nvPr/>
        </p:nvSpPr>
        <p:spPr>
          <a:xfrm>
            <a:off x="82296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chemeClr val="accent5"/>
                </a:solidFill>
              </a:rPr>
              <a:t>DOMANDA SPERIMENTALE</a:t>
            </a:r>
            <a:endParaRPr lang="en-US" sz="1200"/>
          </a:p>
        </p:txBody>
      </p:sp>
      <p:sp>
        <p:nvSpPr>
          <p:cNvPr id="30" name="question"/>
          <p:cNvSpPr txBox="1"/>
          <p:nvPr/>
        </p:nvSpPr>
        <p:spPr>
          <a:xfrm>
            <a:off x="822960" y="50749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A parità di video, trascrizioni labiali, normalizzazione, distanza, soglia e protocollo, come cambiano le prestazioni di rilevamento se Whisper è sostituito da PureScribe?</a:t>
            </a:r>
            <a:endParaRPr lang="en-US" sz="200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D4E0D67-8901-4D8D-881D-3D861B2E5AE2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Preparazione offline: da Common Voice al modello .psm</a:t>
            </a:r>
            <a:endParaRPr lang="en-US" sz="3200"/>
          </a:p>
        </p:txBody>
      </p:sp>
      <p:sp>
        <p:nvSpPr>
          <p:cNvPr id="3" name="label-27"/>
          <p:cNvSpPr txBox="1"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chemeClr val="tx2"/>
                </a:solidFill>
              </a:rPr>
              <a:t>COSTRUZIONE DEL CORPUS · commonvoice_purescribe.py extract  →  purescribe.cli train</a:t>
            </a:r>
            <a:endParaRPr lang="en-US" sz="1100"/>
          </a:p>
        </p:txBody>
      </p:sp>
      <p:sp>
        <p:nvSpPr>
          <p:cNvPr id="4" name="card-28"/>
          <p:cNvSpPr/>
          <p:nvPr/>
        </p:nvSpPr>
        <p:spPr>
          <a:xfrm>
            <a:off x="548640" y="1600200"/>
            <a:ext cx="1962851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/>
        </p:txBody>
      </p:sp>
      <p:sp>
        <p:nvSpPr>
          <p:cNvPr id="5" name="pill-29"/>
          <p:cNvSpPr/>
          <p:nvPr/>
        </p:nvSpPr>
        <p:spPr>
          <a:xfrm>
            <a:off x="685800" y="1737360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pill-text-30"/>
          <p:cNvSpPr txBox="1"/>
          <p:nvPr/>
        </p:nvSpPr>
        <p:spPr>
          <a:xfrm>
            <a:off x="68580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chemeClr val="bg1"/>
                </a:solidFill>
              </a:rPr>
              <a:t>1</a:t>
            </a:r>
            <a:endParaRPr lang="en-US" sz="1200"/>
          </a:p>
        </p:txBody>
      </p:sp>
      <p:sp>
        <p:nvSpPr>
          <p:cNvPr id="7" name="step-text-31"/>
          <p:cNvSpPr txBox="1"/>
          <p:nvPr/>
        </p:nvSpPr>
        <p:spPr>
          <a:xfrm>
            <a:off x="685800" y="2130552"/>
            <a:ext cx="168853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>
                <a:solidFill>
                  <a:schemeClr val="tx1"/>
                </a:solidFill>
              </a:rPr>
              <a:t>Common Voice</a:t>
            </a:r>
            <a:endParaRPr lang="en-US" sz="15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chemeClr val="tx2"/>
                </a:solidFill>
              </a:rPr>
              <a:t>MP3 + trascrizioni ufficiali</a:t>
            </a:r>
            <a:endParaRPr lang="en-US" sz="1500"/>
          </a:p>
        </p:txBody>
      </p:sp>
      <p:sp>
        <p:nvSpPr>
          <p:cNvPr id="8" name="arrow-32"/>
          <p:cNvSpPr/>
          <p:nvPr/>
        </p:nvSpPr>
        <p:spPr>
          <a:xfrm>
            <a:off x="2548067" y="2308860"/>
            <a:ext cx="246888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9" name="card-33"/>
          <p:cNvSpPr/>
          <p:nvPr/>
        </p:nvSpPr>
        <p:spPr>
          <a:xfrm>
            <a:off x="2831531" y="1600200"/>
            <a:ext cx="1962851" cy="1417320"/>
          </a:xfrm>
          <a:prstGeom prst="roundRect">
            <a:avLst>
              <a:gd name="adj" fmla="val 20844"/>
            </a:avLst>
          </a:prstGeom>
          <a:solidFill>
            <a:schemeClr val="accent2"/>
          </a:solidFill>
          <a:ln/>
        </p:spPr>
        <p:txBody>
          <a:bodyPr/>
          <a:lstStyle/>
          <a:p/>
        </p:txBody>
      </p:sp>
      <p:sp>
        <p:nvSpPr>
          <p:cNvPr id="10" name="pill-34"/>
          <p:cNvSpPr/>
          <p:nvPr/>
        </p:nvSpPr>
        <p:spPr>
          <a:xfrm>
            <a:off x="2968691" y="1737360"/>
            <a:ext cx="329184" cy="32918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1" name="pill-text-35"/>
          <p:cNvSpPr txBox="1"/>
          <p:nvPr/>
        </p:nvSpPr>
        <p:spPr>
          <a:xfrm>
            <a:off x="2968691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chemeClr val="accent2"/>
                </a:solidFill>
              </a:rPr>
              <a:t>2</a:t>
            </a:r>
            <a:endParaRPr lang="en-US" sz="1200"/>
          </a:p>
        </p:txBody>
      </p:sp>
      <p:sp>
        <p:nvSpPr>
          <p:cNvPr id="12" name="step-text-36"/>
          <p:cNvSpPr txBox="1"/>
          <p:nvPr/>
        </p:nvSpPr>
        <p:spPr>
          <a:xfrm>
            <a:off x="2968691" y="2130552"/>
            <a:ext cx="168853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>
                <a:solidFill>
                  <a:schemeClr val="bg1"/>
                </a:solidFill>
              </a:rPr>
              <a:t>Whisper base</a:t>
            </a:r>
            <a:endParaRPr lang="en-US" sz="15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chemeClr val="bg2"/>
                </a:solidFill>
              </a:rPr>
              <a:t>solo audio → timestamp per parola; nessun testo, prompt o align()</a:t>
            </a:r>
            <a:endParaRPr lang="en-US" sz="1500"/>
          </a:p>
        </p:txBody>
      </p:sp>
      <p:sp>
        <p:nvSpPr>
          <p:cNvPr id="13" name="arrow-37"/>
          <p:cNvSpPr/>
          <p:nvPr/>
        </p:nvSpPr>
        <p:spPr>
          <a:xfrm>
            <a:off x="4830958" y="2308860"/>
            <a:ext cx="246888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14" name="card-38"/>
          <p:cNvSpPr/>
          <p:nvPr/>
        </p:nvSpPr>
        <p:spPr>
          <a:xfrm>
            <a:off x="5114422" y="1600200"/>
            <a:ext cx="1962851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5" name="pill-39"/>
          <p:cNvSpPr/>
          <p:nvPr/>
        </p:nvSpPr>
        <p:spPr>
          <a:xfrm>
            <a:off x="5251582" y="1737360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pill-text-40"/>
          <p:cNvSpPr txBox="1"/>
          <p:nvPr/>
        </p:nvSpPr>
        <p:spPr>
          <a:xfrm>
            <a:off x="5251582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chemeClr val="bg1"/>
                </a:solidFill>
              </a:rPr>
              <a:t>3</a:t>
            </a:r>
            <a:endParaRPr lang="en-US" sz="1200"/>
          </a:p>
        </p:txBody>
      </p:sp>
      <p:sp>
        <p:nvSpPr>
          <p:cNvPr id="17" name="step-text-41"/>
          <p:cNvSpPr txBox="1"/>
          <p:nvPr/>
        </p:nvSpPr>
        <p:spPr>
          <a:xfrm>
            <a:off x="5251582" y="2130552"/>
            <a:ext cx="1688531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>
                <a:solidFill>
                  <a:schemeClr val="tx1"/>
                </a:solidFill>
              </a:rPr>
              <a:t>Match esatto</a:t>
            </a:r>
            <a:endParaRPr lang="en-US" sz="15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chemeClr val="tx2"/>
                </a:solidFill>
              </a:rPr>
              <a:t>whisper con timestamp, se corretto si salva 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8" name="arrow-42"/>
          <p:cNvSpPr/>
          <p:nvPr/>
        </p:nvSpPr>
        <p:spPr>
          <a:xfrm>
            <a:off x="7113849" y="2308860"/>
            <a:ext cx="246888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19" name="card-43"/>
          <p:cNvSpPr/>
          <p:nvPr/>
        </p:nvSpPr>
        <p:spPr>
          <a:xfrm>
            <a:off x="7397313" y="1600200"/>
            <a:ext cx="1962851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0" name="pill-44"/>
          <p:cNvSpPr/>
          <p:nvPr/>
        </p:nvSpPr>
        <p:spPr>
          <a:xfrm>
            <a:off x="7534473" y="1737360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" name="pill-text-45"/>
          <p:cNvSpPr txBox="1"/>
          <p:nvPr/>
        </p:nvSpPr>
        <p:spPr>
          <a:xfrm>
            <a:off x="7534473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chemeClr val="bg1"/>
                </a:solidFill>
              </a:rPr>
              <a:t>4</a:t>
            </a:r>
            <a:endParaRPr lang="en-US" sz="1200"/>
          </a:p>
        </p:txBody>
      </p:sp>
      <p:sp>
        <p:nvSpPr>
          <p:cNvPr id="22" name="step-text-46"/>
          <p:cNvSpPr txBox="1"/>
          <p:nvPr/>
        </p:nvSpPr>
        <p:spPr>
          <a:xfrm>
            <a:off x="7534473" y="2130552"/>
            <a:ext cx="168853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>
                <a:solidFill>
                  <a:schemeClr val="tx1"/>
                </a:solidFill>
              </a:rPr>
              <a:t>Clip WAV</a:t>
            </a:r>
            <a:endParaRPr lang="en-US" sz="15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chemeClr val="tx2"/>
                </a:solidFill>
              </a:rPr>
              <a:t>etichetta = parola ufficiale; 10–20 clip per parola</a:t>
            </a:r>
            <a:endParaRPr lang="en-US" sz="1500"/>
          </a:p>
        </p:txBody>
      </p:sp>
      <p:sp>
        <p:nvSpPr>
          <p:cNvPr id="23" name="arrow-47"/>
          <p:cNvSpPr/>
          <p:nvPr/>
        </p:nvSpPr>
        <p:spPr>
          <a:xfrm>
            <a:off x="9396740" y="2308860"/>
            <a:ext cx="246888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24" name="card-48"/>
          <p:cNvSpPr/>
          <p:nvPr/>
        </p:nvSpPr>
        <p:spPr>
          <a:xfrm>
            <a:off x="9680204" y="1600200"/>
            <a:ext cx="1962851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/>
        </p:spPr>
      </p:sp>
      <p:sp>
        <p:nvSpPr>
          <p:cNvPr id="25" name="pill-49"/>
          <p:cNvSpPr/>
          <p:nvPr/>
        </p:nvSpPr>
        <p:spPr>
          <a:xfrm>
            <a:off x="9817364" y="1737360"/>
            <a:ext cx="329184" cy="32918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6" name="pill-text-50"/>
          <p:cNvSpPr txBox="1"/>
          <p:nvPr/>
        </p:nvSpPr>
        <p:spPr>
          <a:xfrm>
            <a:off x="9817364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chemeClr val="accent1"/>
                </a:solidFill>
              </a:rPr>
              <a:t>5</a:t>
            </a:r>
            <a:endParaRPr lang="en-US" sz="1200"/>
          </a:p>
        </p:txBody>
      </p:sp>
      <p:sp>
        <p:nvSpPr>
          <p:cNvPr id="27" name="step-text-51"/>
          <p:cNvSpPr txBox="1"/>
          <p:nvPr/>
        </p:nvSpPr>
        <p:spPr>
          <a:xfrm>
            <a:off x="9817364" y="2130552"/>
            <a:ext cx="168853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>
                <a:solidFill>
                  <a:schemeClr val="bg1"/>
                </a:solidFill>
              </a:rPr>
              <a:t>Addestramento</a:t>
            </a:r>
            <a:endParaRPr lang="en-US" sz="15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chemeClr val="bg2"/>
                </a:solidFill>
              </a:rPr>
              <a:t>purescribe.cli train → modello .psm</a:t>
            </a:r>
            <a:endParaRPr lang="en-US" sz="1500"/>
          </a:p>
        </p:txBody>
      </p:sp>
      <p:sp>
        <p:nvSpPr>
          <p:cNvPr id="28" name="card-52"/>
          <p:cNvSpPr/>
          <p:nvPr/>
        </p:nvSpPr>
        <p:spPr>
          <a:xfrm>
            <a:off x="548640" y="3474720"/>
            <a:ext cx="11094415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29" name="panel-title"/>
          <p:cNvSpPr txBox="1"/>
          <p:nvPr/>
        </p:nvSpPr>
        <p:spPr>
          <a:xfrm>
            <a:off x="822960" y="3639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Dentro PureScribe</a:t>
            </a:r>
            <a:r>
              <a:rPr lang="en-US" sz="1500">
                <a:solidFill>
                  <a:schemeClr val="tx2"/>
                </a:solidFill>
              </a:rPr>
              <a:t>  </a:t>
            </a:r>
            <a:endParaRPr lang="en-US" sz="1500"/>
          </a:p>
        </p:txBody>
      </p:sp>
      <p:sp>
        <p:nvSpPr>
          <p:cNvPr id="30" name="card-53"/>
          <p:cNvSpPr/>
          <p:nvPr/>
        </p:nvSpPr>
        <p:spPr>
          <a:xfrm>
            <a:off x="822960" y="4133088"/>
            <a:ext cx="251460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box-text-54"/>
          <p:cNvSpPr txBox="1"/>
          <p:nvPr/>
        </p:nvSpPr>
        <p:spPr>
          <a:xfrm>
            <a:off x="932688" y="4187952"/>
            <a:ext cx="22951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b="1">
                <a:solidFill>
                  <a:schemeClr val="tx1"/>
                </a:solidFill>
              </a:rPr>
              <a:t>MFCC</a:t>
            </a:r>
            <a:endParaRPr lang="en-US" sz="160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>
                <a:solidFill>
                  <a:schemeClr val="tx2"/>
                </a:solidFill>
              </a:rPr>
              <a:t>finestre 25 ms, passo 10 ms; 26 filtri mel; 13 coeff. + Δ + ΔΔ = 39 dim; CMVN globale</a:t>
            </a:r>
            <a:endParaRPr lang="en-US" sz="1600"/>
          </a:p>
        </p:txBody>
      </p:sp>
      <p:sp>
        <p:nvSpPr>
          <p:cNvPr id="32" name="arrow-55"/>
          <p:cNvSpPr/>
          <p:nvPr/>
        </p:nvSpPr>
        <p:spPr>
          <a:xfrm>
            <a:off x="3374136" y="4933188"/>
            <a:ext cx="246888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33" name="card-56"/>
          <p:cNvSpPr/>
          <p:nvPr/>
        </p:nvSpPr>
        <p:spPr>
          <a:xfrm>
            <a:off x="3657600" y="4133088"/>
            <a:ext cx="297180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box-text-57"/>
          <p:cNvSpPr txBox="1"/>
          <p:nvPr/>
        </p:nvSpPr>
        <p:spPr>
          <a:xfrm>
            <a:off x="3701674" y="4188866"/>
            <a:ext cx="27523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b="1">
                <a:solidFill>
                  <a:schemeClr val="tx1"/>
                </a:solidFill>
              </a:rPr>
              <a:t>HMM-GMM per parola</a:t>
            </a:r>
            <a:endParaRPr lang="en-US" sz="160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>
                <a:solidFill>
                  <a:schemeClr val="tx2"/>
                </a:solidFill>
              </a:rPr>
              <a:t>left-to-right, 3–24 stati; 2 gaussiane diagonali per stato; addestramento Viterbi (segmental k-means)</a:t>
            </a:r>
            <a:endParaRPr lang="en-US" sz="1600"/>
          </a:p>
        </p:txBody>
      </p:sp>
      <p:sp>
        <p:nvSpPr>
          <p:cNvPr id="35" name="state-58"/>
          <p:cNvSpPr/>
          <p:nvPr/>
        </p:nvSpPr>
        <p:spPr>
          <a:xfrm>
            <a:off x="3931920" y="527608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arrow-59"/>
          <p:cNvSpPr/>
          <p:nvPr/>
        </p:nvSpPr>
        <p:spPr>
          <a:xfrm>
            <a:off x="4251960" y="5422392"/>
            <a:ext cx="310896" cy="91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37" name="state-60"/>
          <p:cNvSpPr/>
          <p:nvPr/>
        </p:nvSpPr>
        <p:spPr>
          <a:xfrm>
            <a:off x="4590288" y="527608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arrow-61"/>
          <p:cNvSpPr/>
          <p:nvPr/>
        </p:nvSpPr>
        <p:spPr>
          <a:xfrm>
            <a:off x="4910328" y="5422392"/>
            <a:ext cx="310896" cy="91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39" name="state-62"/>
          <p:cNvSpPr/>
          <p:nvPr/>
        </p:nvSpPr>
        <p:spPr>
          <a:xfrm>
            <a:off x="5248656" y="527608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arrow-63"/>
          <p:cNvSpPr/>
          <p:nvPr/>
        </p:nvSpPr>
        <p:spPr>
          <a:xfrm>
            <a:off x="5568696" y="5422392"/>
            <a:ext cx="310896" cy="91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41" name="state-64"/>
          <p:cNvSpPr/>
          <p:nvPr/>
        </p:nvSpPr>
        <p:spPr>
          <a:xfrm>
            <a:off x="5907024" y="5276088"/>
            <a:ext cx="292608" cy="292608"/>
          </a:xfrm>
          <a:prstGeom prst="ellipse">
            <a:avLst/>
          </a:prstGeom>
          <a:solidFill>
            <a:schemeClr val="accent1">
              <a:alpha val="40000"/>
            </a:schemeClr>
          </a:solidFill>
          <a:ln/>
        </p:spPr>
      </p:sp>
      <p:sp>
        <p:nvSpPr>
          <p:cNvPr id="42" name="arrow-65"/>
          <p:cNvSpPr/>
          <p:nvPr/>
        </p:nvSpPr>
        <p:spPr>
          <a:xfrm>
            <a:off x="6665976" y="4933188"/>
            <a:ext cx="246888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43" name="card-66"/>
          <p:cNvSpPr/>
          <p:nvPr/>
        </p:nvSpPr>
        <p:spPr>
          <a:xfrm>
            <a:off x="6949440" y="4133088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4" name="box-text-67"/>
          <p:cNvSpPr txBox="1"/>
          <p:nvPr/>
        </p:nvSpPr>
        <p:spPr>
          <a:xfrm>
            <a:off x="7059168" y="4187952"/>
            <a:ext cx="238658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b="1">
                <a:solidFill>
                  <a:schemeClr val="tx1"/>
                </a:solidFill>
              </a:rPr>
              <a:t>Decodifica Viterbi</a:t>
            </a:r>
            <a:endParaRPr lang="en-US" sz="160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>
                <a:solidFill>
                  <a:schemeClr val="tx2"/>
                </a:solidFill>
              </a:rPr>
              <a:t>token passing su un loop di modelli di parola + silenzio; beam search</a:t>
            </a:r>
            <a:endParaRPr lang="en-US" sz="1600"/>
          </a:p>
        </p:txBody>
      </p:sp>
      <p:sp>
        <p:nvSpPr>
          <p:cNvPr id="45" name="arrow-68"/>
          <p:cNvSpPr/>
          <p:nvPr/>
        </p:nvSpPr>
        <p:spPr>
          <a:xfrm>
            <a:off x="9592056" y="4933188"/>
            <a:ext cx="246888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46" name="card-69"/>
          <p:cNvSpPr/>
          <p:nvPr/>
        </p:nvSpPr>
        <p:spPr>
          <a:xfrm>
            <a:off x="9875520" y="4133088"/>
            <a:ext cx="1645920" cy="160020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/>
        </p:spPr>
      </p:sp>
      <p:sp>
        <p:nvSpPr>
          <p:cNvPr id="47" name="box-text-70"/>
          <p:cNvSpPr txBox="1"/>
          <p:nvPr/>
        </p:nvSpPr>
        <p:spPr>
          <a:xfrm>
            <a:off x="9985248" y="4187952"/>
            <a:ext cx="142646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b="1">
                <a:solidFill>
                  <a:schemeClr val="bg1"/>
                </a:solidFill>
              </a:rPr>
              <a:t>Testo</a:t>
            </a:r>
            <a:endParaRPr lang="en-US" sz="1600"/>
          </a:p>
          <a:p>
            <a:pPr marL="0" indent="0" algn="l">
              <a:spcAft>
                <a:spcPts val="200"/>
              </a:spcAft>
              <a:buNone/>
            </a:pPr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00266782-2A85-475A-865E-BAD95958CDD5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Pipeline finale: PureScribe trascrive l’audio dei video</a:t>
            </a:r>
            <a:endParaRPr lang="en-US" sz="3200"/>
          </a:p>
        </p:txBody>
      </p:sp>
      <p:sp>
        <p:nvSpPr>
          <p:cNvPr id="3" name="label-71"/>
          <p:cNvSpPr txBox="1"/>
          <p:nvPr/>
        </p:nvSpPr>
        <p:spPr>
          <a:xfrm>
            <a:off x="548640" y="1306068"/>
            <a:ext cx="6400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chemeClr val="accent1"/>
                </a:solidFill>
              </a:rPr>
              <a:t>RAMO AUDIO (lost_in_translation.py transcribe)</a:t>
            </a:r>
            <a:endParaRPr lang="en-US" sz="1100"/>
          </a:p>
        </p:txBody>
      </p:sp>
      <p:sp>
        <p:nvSpPr>
          <p:cNvPr id="4" name="card-72"/>
          <p:cNvSpPr/>
          <p:nvPr/>
        </p:nvSpPr>
        <p:spPr>
          <a:xfrm>
            <a:off x="548640" y="160020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box-text-73"/>
          <p:cNvSpPr txBox="1"/>
          <p:nvPr/>
        </p:nvSpPr>
        <p:spPr>
          <a:xfrm>
            <a:off x="658368" y="1655064"/>
            <a:ext cx="1380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>
                <a:solidFill>
                  <a:schemeClr val="tx1"/>
                </a:solidFill>
              </a:rPr>
              <a:t>Video</a:t>
            </a:r>
            <a:endParaRPr lang="en-US" sz="150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>
                <a:solidFill>
                  <a:schemeClr val="tx2"/>
                </a:solidFill>
              </a:rPr>
              <a:t>DeepSpeak test (.mp4)</a:t>
            </a:r>
            <a:endParaRPr lang="en-US" sz="1500"/>
          </a:p>
        </p:txBody>
      </p:sp>
      <p:sp>
        <p:nvSpPr>
          <p:cNvPr id="6" name="arrow-74"/>
          <p:cNvSpPr/>
          <p:nvPr/>
        </p:nvSpPr>
        <p:spPr>
          <a:xfrm>
            <a:off x="2194560" y="2057400"/>
            <a:ext cx="182880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7" name="card-75"/>
          <p:cNvSpPr/>
          <p:nvPr/>
        </p:nvSpPr>
        <p:spPr>
          <a:xfrm>
            <a:off x="2423160" y="1600200"/>
            <a:ext cx="2057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box-text-76"/>
          <p:cNvSpPr txBox="1"/>
          <p:nvPr/>
        </p:nvSpPr>
        <p:spPr>
          <a:xfrm>
            <a:off x="2532888" y="1655064"/>
            <a:ext cx="18379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>
                <a:solidFill>
                  <a:schemeClr val="tx1"/>
                </a:solidFill>
              </a:rPr>
              <a:t>FFmpeg</a:t>
            </a:r>
            <a:endParaRPr lang="en-US" sz="150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>
                <a:solidFill>
                  <a:schemeClr val="tx2"/>
                </a:solidFill>
              </a:rPr>
              <a:t>traccia audio, mono 16 kHz</a:t>
            </a:r>
            <a:endParaRPr lang="en-US" sz="1500"/>
          </a:p>
        </p:txBody>
      </p:sp>
      <p:sp>
        <p:nvSpPr>
          <p:cNvPr id="9" name="arrow-77"/>
          <p:cNvSpPr/>
          <p:nvPr/>
        </p:nvSpPr>
        <p:spPr>
          <a:xfrm>
            <a:off x="4526280" y="2057400"/>
            <a:ext cx="228600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10" name="card-78"/>
          <p:cNvSpPr/>
          <p:nvPr/>
        </p:nvSpPr>
        <p:spPr>
          <a:xfrm>
            <a:off x="4800600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1" name="box-text-79"/>
          <p:cNvSpPr txBox="1"/>
          <p:nvPr/>
        </p:nvSpPr>
        <p:spPr>
          <a:xfrm>
            <a:off x="4910328" y="1655064"/>
            <a:ext cx="1563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>
                <a:solidFill>
                  <a:schemeClr val="bg1"/>
                </a:solidFill>
              </a:rPr>
              <a:t>PureScribe</a:t>
            </a:r>
            <a:endParaRPr lang="en-US" sz="150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>
                <a:solidFill>
                  <a:schemeClr val="bg2"/>
                </a:solidFill>
              </a:rPr>
              <a:t>modello .psm</a:t>
            </a:r>
            <a:endParaRPr lang="en-US" sz="1500"/>
          </a:p>
        </p:txBody>
      </p:sp>
      <p:sp>
        <p:nvSpPr>
          <p:cNvPr id="12" name="label-80"/>
          <p:cNvSpPr txBox="1"/>
          <p:nvPr/>
        </p:nvSpPr>
        <p:spPr>
          <a:xfrm>
            <a:off x="548640" y="2670048"/>
            <a:ext cx="6400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chemeClr val="accent3"/>
                </a:solidFill>
              </a:rPr>
              <a:t>RAMO LABIALE </a:t>
            </a:r>
            <a:endParaRPr lang="en-US" sz="1100"/>
          </a:p>
        </p:txBody>
      </p:sp>
      <p:sp>
        <p:nvSpPr>
          <p:cNvPr id="13" name="card-81"/>
          <p:cNvSpPr/>
          <p:nvPr/>
        </p:nvSpPr>
        <p:spPr>
          <a:xfrm>
            <a:off x="548640" y="2880360"/>
            <a:ext cx="60350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14" name="box-text-82"/>
          <p:cNvSpPr txBox="1"/>
          <p:nvPr/>
        </p:nvSpPr>
        <p:spPr>
          <a:xfrm>
            <a:off x="658368" y="3210560"/>
            <a:ext cx="581558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>
                <a:solidFill>
                  <a:schemeClr val="tx1"/>
                </a:solidFill>
              </a:rPr>
              <a:t>Trascrizioni Auto-AVSR</a:t>
            </a:r>
            <a:endParaRPr lang="en-US" sz="1500"/>
          </a:p>
          <a:p>
            <a:pPr marL="0" indent="0" algn="l">
              <a:spcAft>
                <a:spcPts val="200"/>
              </a:spcAft>
              <a:buNone/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5" name="label-83"/>
          <p:cNvSpPr txBox="1"/>
          <p:nvPr/>
        </p:nvSpPr>
        <p:spPr>
          <a:xfrm>
            <a:off x="548640" y="3950208"/>
            <a:ext cx="6400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chemeClr val="accent2"/>
                </a:solidFill>
              </a:rPr>
              <a:t>RIFERIMENTO</a:t>
            </a:r>
            <a:endParaRPr lang="en-US" sz="1100"/>
          </a:p>
        </p:txBody>
      </p:sp>
      <p:sp>
        <p:nvSpPr>
          <p:cNvPr id="16" name="card-84"/>
          <p:cNvSpPr/>
          <p:nvPr/>
        </p:nvSpPr>
        <p:spPr>
          <a:xfrm>
            <a:off x="548640" y="4160520"/>
            <a:ext cx="60350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17" name="box-text-85"/>
          <p:cNvSpPr txBox="1"/>
          <p:nvPr/>
        </p:nvSpPr>
        <p:spPr>
          <a:xfrm>
            <a:off x="658368" y="4485640"/>
            <a:ext cx="581558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>
                <a:solidFill>
                  <a:schemeClr val="tx1"/>
                </a:solidFill>
              </a:rPr>
              <a:t>Trascrizioni Whisper della baseline</a:t>
            </a:r>
            <a:endParaRPr lang="en-US" sz="1500"/>
          </a:p>
          <a:p>
            <a:pPr marL="0" indent="0" algn="l">
              <a:spcAft>
                <a:spcPts val="200"/>
              </a:spcAft>
              <a:buNone/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8" name="arrow-86"/>
          <p:cNvSpPr/>
          <p:nvPr/>
        </p:nvSpPr>
        <p:spPr>
          <a:xfrm>
            <a:off x="6629400" y="2057400"/>
            <a:ext cx="22860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 w="med" len="med"/>
          </a:ln>
        </p:spPr>
      </p:sp>
      <p:sp>
        <p:nvSpPr>
          <p:cNvPr id="19" name="card-87"/>
          <p:cNvSpPr/>
          <p:nvPr/>
        </p:nvSpPr>
        <p:spPr>
          <a:xfrm>
            <a:off x="6903720" y="1828800"/>
            <a:ext cx="11430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out-88"/>
          <p:cNvSpPr txBox="1"/>
          <p:nvPr/>
        </p:nvSpPr>
        <p:spPr>
          <a:xfrm>
            <a:off x="6903720" y="18288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chemeClr val="bg1"/>
                </a:solidFill>
              </a:rPr>
              <a:t>testo audio</a:t>
            </a:r>
            <a:endParaRPr lang="en-US" sz="1300"/>
          </a:p>
        </p:txBody>
      </p:sp>
      <p:sp>
        <p:nvSpPr>
          <p:cNvPr id="21" name="arrow-89"/>
          <p:cNvSpPr/>
          <p:nvPr/>
        </p:nvSpPr>
        <p:spPr>
          <a:xfrm>
            <a:off x="6629400" y="3337560"/>
            <a:ext cx="228600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 w="med" len="med"/>
          </a:ln>
        </p:spPr>
      </p:sp>
      <p:sp>
        <p:nvSpPr>
          <p:cNvPr id="22" name="card-90"/>
          <p:cNvSpPr/>
          <p:nvPr/>
        </p:nvSpPr>
        <p:spPr>
          <a:xfrm>
            <a:off x="6903720" y="3108960"/>
            <a:ext cx="11430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out-91"/>
          <p:cNvSpPr txBox="1"/>
          <p:nvPr/>
        </p:nvSpPr>
        <p:spPr>
          <a:xfrm>
            <a:off x="6903720" y="31089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chemeClr val="bg1"/>
                </a:solidFill>
              </a:rPr>
              <a:t>testo labiale</a:t>
            </a:r>
            <a:endParaRPr lang="en-US" sz="1300"/>
          </a:p>
        </p:txBody>
      </p:sp>
      <p:sp>
        <p:nvSpPr>
          <p:cNvPr id="24" name="arrow-92"/>
          <p:cNvSpPr/>
          <p:nvPr/>
        </p:nvSpPr>
        <p:spPr>
          <a:xfrm>
            <a:off x="6629400" y="4617720"/>
            <a:ext cx="228600" cy="914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 w="med" len="med"/>
          </a:ln>
        </p:spPr>
      </p:sp>
      <p:sp>
        <p:nvSpPr>
          <p:cNvPr id="25" name="card-93"/>
          <p:cNvSpPr/>
          <p:nvPr/>
        </p:nvSpPr>
        <p:spPr>
          <a:xfrm>
            <a:off x="6903720" y="4389120"/>
            <a:ext cx="1143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6" name="out-94"/>
          <p:cNvSpPr txBox="1"/>
          <p:nvPr/>
        </p:nvSpPr>
        <p:spPr>
          <a:xfrm>
            <a:off x="6903720" y="43891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chemeClr val="bg1"/>
                </a:solidFill>
              </a:rPr>
              <a:t>testo Whisper</a:t>
            </a:r>
            <a:endParaRPr lang="en-US" sz="1300"/>
          </a:p>
        </p:txBody>
      </p:sp>
      <p:sp>
        <p:nvSpPr>
          <p:cNvPr id="27" name="arrow-95"/>
          <p:cNvSpPr/>
          <p:nvPr/>
        </p:nvSpPr>
        <p:spPr>
          <a:xfrm>
            <a:off x="8092440" y="2057400"/>
            <a:ext cx="320040" cy="91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28" name="arrow-96"/>
          <p:cNvSpPr/>
          <p:nvPr/>
        </p:nvSpPr>
        <p:spPr>
          <a:xfrm>
            <a:off x="8092440" y="3337560"/>
            <a:ext cx="320040" cy="91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29" name="arrow-97"/>
          <p:cNvSpPr/>
          <p:nvPr/>
        </p:nvSpPr>
        <p:spPr>
          <a:xfrm>
            <a:off x="8092440" y="4617720"/>
            <a:ext cx="320040" cy="91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30" name="card-98"/>
          <p:cNvSpPr/>
          <p:nvPr/>
        </p:nvSpPr>
        <p:spPr>
          <a:xfrm>
            <a:off x="8458200" y="1252728"/>
            <a:ext cx="3184855" cy="3822192"/>
          </a:xfrm>
          <a:prstGeom prst="roundRect">
            <a:avLst>
              <a:gd name="adj" fmla="val 2297"/>
            </a:avLst>
          </a:prstGeom>
          <a:solidFill>
            <a:schemeClr val="bg2"/>
          </a:solidFill>
          <a:ln/>
        </p:spPr>
      </p:sp>
      <p:sp>
        <p:nvSpPr>
          <p:cNvPr id="31" name="label-99"/>
          <p:cNvSpPr txBox="1"/>
          <p:nvPr/>
        </p:nvSpPr>
        <p:spPr>
          <a:xfrm>
            <a:off x="8686800" y="1389888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chemeClr val="tx1"/>
                </a:solidFill>
              </a:rPr>
              <a:t>PROTOCOLLO DELLA BASELINE</a:t>
            </a:r>
            <a:endParaRPr lang="en-US" sz="1100"/>
          </a:p>
        </p:txBody>
      </p:sp>
      <p:sp>
        <p:nvSpPr>
          <p:cNvPr id="32" name="card-100"/>
          <p:cNvSpPr/>
          <p:nvPr/>
        </p:nvSpPr>
        <p:spPr>
          <a:xfrm>
            <a:off x="8686800" y="1755648"/>
            <a:ext cx="2727655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</p:sp>
      <p:sp>
        <p:nvSpPr>
          <p:cNvPr id="33" name="box-text-101"/>
          <p:cNvSpPr txBox="1"/>
          <p:nvPr/>
        </p:nvSpPr>
        <p:spPr>
          <a:xfrm>
            <a:off x="8796528" y="1810512"/>
            <a:ext cx="250819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>
                <a:solidFill>
                  <a:schemeClr val="tx1"/>
                </a:solidFill>
              </a:rPr>
              <a:t>standardize_text</a:t>
            </a:r>
            <a:endParaRPr lang="en-US" sz="150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>
                <a:solidFill>
                  <a:schemeClr val="tx2"/>
                </a:solidFill>
              </a:rPr>
              <a:t>minuscole; senza punteggiatura, [..], (..), riempitivi</a:t>
            </a:r>
            <a:endParaRPr lang="en-US" sz="1500"/>
          </a:p>
        </p:txBody>
      </p:sp>
      <p:sp>
        <p:nvSpPr>
          <p:cNvPr id="34" name="arrow-102"/>
          <p:cNvSpPr/>
          <p:nvPr/>
        </p:nvSpPr>
        <p:spPr>
          <a:xfrm>
            <a:off x="10050628" y="2688336"/>
            <a:ext cx="914" cy="14630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35" name="card-103"/>
          <p:cNvSpPr/>
          <p:nvPr/>
        </p:nvSpPr>
        <p:spPr>
          <a:xfrm>
            <a:off x="8686800" y="2852928"/>
            <a:ext cx="2727655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</p:sp>
      <p:sp>
        <p:nvSpPr>
          <p:cNvPr id="36" name="box-text-104"/>
          <p:cNvSpPr txBox="1"/>
          <p:nvPr/>
        </p:nvSpPr>
        <p:spPr>
          <a:xfrm>
            <a:off x="8796528" y="2907792"/>
            <a:ext cx="250819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>
                <a:solidFill>
                  <a:schemeClr val="tx1"/>
                </a:solidFill>
              </a:rPr>
              <a:t>d = lev(a, v) / max(|a|, |v|)</a:t>
            </a:r>
            <a:endParaRPr lang="en-US" sz="150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>
                <a:solidFill>
                  <a:schemeClr val="tx2"/>
                </a:solidFill>
              </a:rPr>
              <a:t>Levenshtein sui caratteri</a:t>
            </a:r>
            <a:endParaRPr lang="en-US" sz="1500"/>
          </a:p>
        </p:txBody>
      </p:sp>
      <p:sp>
        <p:nvSpPr>
          <p:cNvPr id="37" name="arrow-105"/>
          <p:cNvSpPr/>
          <p:nvPr/>
        </p:nvSpPr>
        <p:spPr>
          <a:xfrm>
            <a:off x="10050628" y="3785616"/>
            <a:ext cx="914" cy="14630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 w="med" len="med"/>
          </a:ln>
        </p:spPr>
      </p:sp>
      <p:sp>
        <p:nvSpPr>
          <p:cNvPr id="38" name="card-106"/>
          <p:cNvSpPr/>
          <p:nvPr/>
        </p:nvSpPr>
        <p:spPr>
          <a:xfrm>
            <a:off x="8686800" y="3950208"/>
            <a:ext cx="2727655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39" name="box-text-107"/>
          <p:cNvSpPr txBox="1"/>
          <p:nvPr/>
        </p:nvSpPr>
        <p:spPr>
          <a:xfrm>
            <a:off x="8796528" y="4267200"/>
            <a:ext cx="2508199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>
                <a:solidFill>
                  <a:schemeClr val="tx1"/>
                </a:solidFill>
              </a:rPr>
              <a:t>d &gt; 0,5  ⇒  fake</a:t>
            </a:r>
            <a:endParaRPr lang="en-US" sz="1500"/>
          </a:p>
          <a:p>
            <a:pPr marL="0" indent="0" algn="l">
              <a:spcAft>
                <a:spcPts val="200"/>
              </a:spcAft>
              <a:buNone/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10D219E0-3C5E-43C7-87F2-6F36B66D5D50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Riproduzione: quattro comandi </a:t>
            </a:r>
            <a:endParaRPr lang="en-US" sz="3200"/>
          </a:p>
        </p:txBody>
      </p:sp>
      <p:sp>
        <p:nvSpPr>
          <p:cNvPr id="3" name="card-109"/>
          <p:cNvSpPr/>
          <p:nvPr/>
        </p:nvSpPr>
        <p:spPr>
          <a:xfrm>
            <a:off x="548640" y="1234440"/>
            <a:ext cx="7178040" cy="4937760"/>
          </a:xfrm>
          <a:prstGeom prst="roundRect">
            <a:avLst>
              <a:gd name="adj" fmla="val 926"/>
            </a:avLst>
          </a:prstGeom>
          <a:solidFill>
            <a:schemeClr val="tx1"/>
          </a:solidFill>
          <a:ln/>
        </p:spPr>
      </p:sp>
      <p:sp>
        <p:nvSpPr>
          <p:cNvPr id="4" name="code"/>
          <p:cNvSpPr txBox="1"/>
          <p:nvPr/>
        </p:nvSpPr>
        <p:spPr>
          <a:xfrm>
            <a:off x="777240" y="1417320"/>
            <a:ext cx="67665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chemeClr val="accent5"/>
                </a:solidFill>
                <a:latin typeface="Courier New"/>
                <a:ea typeface="Courier New"/>
                <a:cs typeface="Courier New"/>
              </a:rPr>
              <a:t># PowerShell, dalla root del repository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accent5"/>
                </a:solidFill>
                <a:latin typeface="Courier New"/>
                <a:ea typeface="Courier New"/>
                <a:cs typeface="Courier New"/>
              </a:rPr>
              <a:t># prerequisiti: .venv (numpy, scipy, openai-whisper), ffmpeg nel PATH,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accent5"/>
                </a:solidFill>
                <a:latin typeface="Courier New"/>
                <a:ea typeface="Courier New"/>
                <a:cs typeface="Courier New"/>
              </a:rPr>
              <a:t>#               Whisper base in cache, trascrizioni della baseline</a:t>
            </a:r>
            <a:endParaRPr lang="en-US" sz="1100"/>
          </a:p>
          <a:p>
            <a:pPr marL="0" indent="0">
              <a:spcBef>
                <a:spcPts val="600"/>
              </a:spcBef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$RUN = "C:\Users\cofon\Desktop\thesis_lit_purescribe_20261016_01"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$PY  = ".\.venv\Scripts\python.exe"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$BT  = "C:\Users\cofon\DeepSpeak\transcriptions"</a:t>
            </a:r>
            <a:endParaRPr lang="en-US" sz="1100"/>
          </a:p>
          <a:p>
            <a:pPr marL="0" indent="0">
              <a:spcBef>
                <a:spcPts val="600"/>
              </a:spcBef>
              <a:buNone/>
            </a:pPr>
            <a:r>
              <a:rPr lang="en-US" sz="1100">
                <a:solidFill>
                  <a:schemeClr val="accent5"/>
                </a:solidFill>
                <a:latin typeface="Courier New"/>
                <a:ea typeface="Courier New"/>
                <a:cs typeface="Courier New"/>
              </a:rPr>
              <a:t># 2 · extract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&amp; $PY commonvoice_purescribe.py extract --data-root D:\CommonVoice `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   --audio-dir D:\CommonVoice\dev `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   --transcription-file D:\CommonVoice\cv_path_transcription.txt `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   --output $RUN\corpus</a:t>
            </a:r>
            <a:endParaRPr lang="en-US" sz="1100"/>
          </a:p>
          <a:p>
            <a:pPr marL="0" indent="0">
              <a:spcBef>
                <a:spcPts val="600"/>
              </a:spcBef>
              <a:buNone/>
            </a:pPr>
            <a:r>
              <a:rPr lang="en-US" sz="1100">
                <a:solidFill>
                  <a:schemeClr val="accent5"/>
                </a:solidFill>
                <a:latin typeface="Courier New"/>
                <a:ea typeface="Courier New"/>
                <a:cs typeface="Courier New"/>
              </a:rPr>
              <a:t># 3 · train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&amp; $PY -m purescribe.cli train $RUN\corpus -o $RUN\purescribe.psm</a:t>
            </a:r>
            <a:endParaRPr lang="en-US" sz="1100"/>
          </a:p>
          <a:p>
            <a:pPr marL="0" indent="0">
              <a:spcBef>
                <a:spcPts val="600"/>
              </a:spcBef>
              <a:buNone/>
            </a:pPr>
            <a:r>
              <a:rPr lang="en-US" sz="1100">
                <a:solidFill>
                  <a:schemeClr val="accent5"/>
                </a:solidFill>
                <a:latin typeface="Courier New"/>
                <a:ea typeface="Courier New"/>
                <a:cs typeface="Courier New"/>
              </a:rPr>
              <a:t># 5 · transcribe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&amp; $PY lost_in_translation.py transcribe --model $RUN\purescribe.psm `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   --baseline-transcripts $BT --subset test `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   --videos-dir D:\DeepSpeak\test --output $RUN\deepfake_purescribe.tsv</a:t>
            </a:r>
            <a:endParaRPr lang="en-US" sz="1100"/>
          </a:p>
          <a:p>
            <a:pPr marL="0" indent="0">
              <a:spcBef>
                <a:spcPts val="600"/>
              </a:spcBef>
              <a:buNone/>
            </a:pPr>
            <a:r>
              <a:rPr lang="en-US" sz="1100">
                <a:solidFill>
                  <a:schemeClr val="accent5"/>
                </a:solidFill>
                <a:latin typeface="Courier New"/>
                <a:ea typeface="Courier New"/>
                <a:cs typeface="Courier New"/>
              </a:rPr>
              <a:t># 6 · compare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&amp; $PY lost_in_translation.py compare --baseline-transcripts $BT `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   --subset test --purescribe $RUN\deepfake_purescribe.tsv `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   --threshold 0.5 --output $RUN\deepfake_comparison.json</a:t>
            </a:r>
            <a:endParaRPr lang="en-US" sz="1100"/>
          </a:p>
        </p:txBody>
      </p:sp>
      <p:sp>
        <p:nvSpPr>
          <p:cNvPr id="5" name="label-110"/>
          <p:cNvSpPr txBox="1"/>
          <p:nvPr/>
        </p:nvSpPr>
        <p:spPr>
          <a:xfrm>
            <a:off x="8046720" y="1234440"/>
            <a:ext cx="359633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chemeClr val="tx1"/>
                </a:solidFill>
              </a:rPr>
              <a:t>ARTEFATTI</a:t>
            </a:r>
            <a:endParaRPr lang="en-US" sz="1100"/>
          </a:p>
        </p:txBody>
      </p:sp>
      <p:sp>
        <p:nvSpPr>
          <p:cNvPr id="6" name="card-111"/>
          <p:cNvSpPr/>
          <p:nvPr/>
        </p:nvSpPr>
        <p:spPr>
          <a:xfrm>
            <a:off x="8046720" y="1600200"/>
            <a:ext cx="359633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7" name="pill-112"/>
          <p:cNvSpPr/>
          <p:nvPr/>
        </p:nvSpPr>
        <p:spPr>
          <a:xfrm>
            <a:off x="8156448" y="17465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ill-text-113"/>
          <p:cNvSpPr txBox="1"/>
          <p:nvPr/>
        </p:nvSpPr>
        <p:spPr>
          <a:xfrm>
            <a:off x="8156448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chemeClr val="bg1"/>
                </a:solidFill>
              </a:rPr>
              <a:t>2</a:t>
            </a:r>
            <a:endParaRPr lang="en-US" sz="1300"/>
          </a:p>
        </p:txBody>
      </p:sp>
      <p:sp>
        <p:nvSpPr>
          <p:cNvPr id="9" name="artifact-114"/>
          <p:cNvSpPr txBox="1"/>
          <p:nvPr/>
        </p:nvSpPr>
        <p:spPr>
          <a:xfrm>
            <a:off x="8641080" y="1636776"/>
            <a:ext cx="2910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corpus\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&lt;parola&gt;\*.wav · clips.jsonl · extraction.json</a:t>
            </a:r>
            <a:endParaRPr lang="en-US" sz="1300"/>
          </a:p>
        </p:txBody>
      </p:sp>
      <p:sp>
        <p:nvSpPr>
          <p:cNvPr id="10" name="card-115"/>
          <p:cNvSpPr/>
          <p:nvPr/>
        </p:nvSpPr>
        <p:spPr>
          <a:xfrm>
            <a:off x="8046720" y="2386584"/>
            <a:ext cx="359633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1" name="pill-116"/>
          <p:cNvSpPr/>
          <p:nvPr/>
        </p:nvSpPr>
        <p:spPr>
          <a:xfrm>
            <a:off x="8156448" y="25328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pill-text-117"/>
          <p:cNvSpPr txBox="1"/>
          <p:nvPr/>
        </p:nvSpPr>
        <p:spPr>
          <a:xfrm>
            <a:off x="8156448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chemeClr val="bg1"/>
                </a:solidFill>
              </a:rPr>
              <a:t>3</a:t>
            </a:r>
            <a:endParaRPr lang="en-US" sz="1300"/>
          </a:p>
        </p:txBody>
      </p:sp>
      <p:sp>
        <p:nvSpPr>
          <p:cNvPr id="13" name="artifact-118"/>
          <p:cNvSpPr txBox="1"/>
          <p:nvPr/>
        </p:nvSpPr>
        <p:spPr>
          <a:xfrm>
            <a:off x="8641080" y="2423160"/>
            <a:ext cx="2910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purescribe.psm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modello HMM-GMM</a:t>
            </a:r>
            <a:endParaRPr lang="en-US" sz="1300"/>
          </a:p>
        </p:txBody>
      </p:sp>
      <p:sp>
        <p:nvSpPr>
          <p:cNvPr id="14" name="card-119"/>
          <p:cNvSpPr/>
          <p:nvPr/>
        </p:nvSpPr>
        <p:spPr>
          <a:xfrm>
            <a:off x="8046720" y="3172968"/>
            <a:ext cx="359633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5" name="pill-120"/>
          <p:cNvSpPr/>
          <p:nvPr/>
        </p:nvSpPr>
        <p:spPr>
          <a:xfrm>
            <a:off x="8156448" y="33192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pill-text-121"/>
          <p:cNvSpPr txBox="1"/>
          <p:nvPr/>
        </p:nvSpPr>
        <p:spPr>
          <a:xfrm>
            <a:off x="8156448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chemeClr val="bg1"/>
                </a:solidFill>
              </a:rPr>
              <a:t>5</a:t>
            </a:r>
            <a:endParaRPr lang="en-US" sz="1300"/>
          </a:p>
        </p:txBody>
      </p:sp>
      <p:sp>
        <p:nvSpPr>
          <p:cNvPr id="17" name="artifact-122"/>
          <p:cNvSpPr txBox="1"/>
          <p:nvPr/>
        </p:nvSpPr>
        <p:spPr>
          <a:xfrm>
            <a:off x="8641080" y="3209544"/>
            <a:ext cx="2910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deepfake_purescribe.tsv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una riga per video: stato, testo, SHA-256</a:t>
            </a:r>
            <a:endParaRPr lang="en-US" sz="1300"/>
          </a:p>
        </p:txBody>
      </p:sp>
      <p:sp>
        <p:nvSpPr>
          <p:cNvPr id="18" name="card-123"/>
          <p:cNvSpPr/>
          <p:nvPr/>
        </p:nvSpPr>
        <p:spPr>
          <a:xfrm>
            <a:off x="8046720" y="3959352"/>
            <a:ext cx="359633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9" name="pill-124"/>
          <p:cNvSpPr/>
          <p:nvPr/>
        </p:nvSpPr>
        <p:spPr>
          <a:xfrm>
            <a:off x="8156448" y="41056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pill-text-125"/>
          <p:cNvSpPr txBox="1"/>
          <p:nvPr/>
        </p:nvSpPr>
        <p:spPr>
          <a:xfrm>
            <a:off x="8156448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chemeClr val="bg1"/>
                </a:solidFill>
              </a:rPr>
              <a:t>6</a:t>
            </a:r>
            <a:endParaRPr lang="en-US" sz="1300"/>
          </a:p>
        </p:txBody>
      </p:sp>
      <p:sp>
        <p:nvSpPr>
          <p:cNvPr id="21" name="artifact-126"/>
          <p:cNvSpPr txBox="1"/>
          <p:nvPr/>
        </p:nvSpPr>
        <p:spPr>
          <a:xfrm>
            <a:off x="8641080" y="3995928"/>
            <a:ext cx="2910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deepfake_comparison.json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metriche Whisper vs PureScribe, per video</a:t>
            </a:r>
            <a:endParaRPr lang="en-US" sz="1300"/>
          </a:p>
        </p:txBody>
      </p:sp>
      <p:sp>
        <p:nvSpPr>
          <p:cNvPr id="23" name="warning"/>
          <p:cNvSpPr txBox="1"/>
          <p:nvPr/>
        </p:nvSpPr>
        <p:spPr>
          <a:xfrm>
            <a:off x="8229600" y="4937760"/>
            <a:ext cx="323057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endParaRPr lang="en-US" sz="1400" b="1">
              <a:solidFill>
                <a:schemeClr val="accent4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9D1DB54B-4FC6-4944-8106-E43DA6D7893B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ureScribe Tesi">
  <a:themeElements>
    <a:clrScheme name="PureScribe Tesi">
      <a:dk1>
        <a:srgbClr val="17263A"/>
      </a:dk1>
      <a:lt1>
        <a:srgbClr val="FFFFFF"/>
      </a:lt1>
      <a:dk2>
        <a:srgbClr val="56677A"/>
      </a:dk2>
      <a:lt2>
        <a:srgbClr val="EDF2F4"/>
      </a:lt2>
      <a:accent1>
        <a:srgbClr val="0E7C7B"/>
      </a:accent1>
      <a:accent2>
        <a:srgbClr val="C46A1C"/>
      </a:accent2>
      <a:accent3>
        <a:srgbClr val="5E4F9C"/>
      </a:accent3>
      <a:accent4>
        <a:srgbClr val="B8322A"/>
      </a:accent4>
      <a:accent5>
        <a:srgbClr val="86D3CC"/>
      </a:accent5>
      <a:accent6>
        <a:srgbClr val="C9D4DB"/>
      </a:accent6>
      <a:hlink>
        <a:srgbClr val="0E7C7B"/>
      </a:hlink>
      <a:folHlink>
        <a:srgbClr val="5E4F9C"/>
      </a:folHlink>
    </a:clrScheme>
    <a:fontScheme name="PureScribe Tes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2.xml><?xml version="1.0" encoding="utf-8"?>
<a:theme xmlns:a="http://schemas.openxmlformats.org/drawingml/2006/main" xmlns:r="http://schemas.openxmlformats.org/officeDocument/2006/relationships" name="PureScribe Tesi">
  <a:themeElements>
    <a:clrScheme name="PureScribe Tesi">
      <a:dk1>
        <a:srgbClr val="17263A"/>
      </a:dk1>
      <a:lt1>
        <a:srgbClr val="FFFFFF"/>
      </a:lt1>
      <a:dk2>
        <a:srgbClr val="56677A"/>
      </a:dk2>
      <a:lt2>
        <a:srgbClr val="EDF2F4"/>
      </a:lt2>
      <a:accent1>
        <a:srgbClr val="0E7C7B"/>
      </a:accent1>
      <a:accent2>
        <a:srgbClr val="C46A1C"/>
      </a:accent2>
      <a:accent3>
        <a:srgbClr val="5E4F9C"/>
      </a:accent3>
      <a:accent4>
        <a:srgbClr val="B8322A"/>
      </a:accent4>
      <a:accent5>
        <a:srgbClr val="86D3CC"/>
      </a:accent5>
      <a:accent6>
        <a:srgbClr val="C9D4DB"/>
      </a:accent6>
      <a:hlink>
        <a:srgbClr val="0E7C7B"/>
      </a:hlink>
      <a:folHlink>
        <a:srgbClr val="5E4F9C"/>
      </a:folHlink>
    </a:clrScheme>
    <a:fontScheme name="PureScribe Tes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4</Slides>
  <Notes>4</Notes>
  <HiddenSlides>0</HiddenSlide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PureScribe nella pipeline Lost in Translation</dc:title>
  <dc:subject>PptxGenJS Presentation</dc:subject>
  <dc:creator>andrecofo03</dc:creator>
  <cp:lastModifiedBy>andrecofo03</cp:lastModifiedBy>
  <cp:revision>1</cp:revision>
  <dcterms:created xsi:type="dcterms:W3CDTF">2026-10-16T14:10:18Z</dcterms:created>
  <dcterms:modified xsi:type="dcterms:W3CDTF">2026-10-16T14:10:18Z</dcterms:modified>
</cp:coreProperties>
</file>