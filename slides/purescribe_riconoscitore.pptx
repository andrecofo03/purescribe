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theme" Target="theme/theme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609600"/>
          </a:xfrm>
          <a:prstGeom prst="rect">
            <a:avLst/>
          </a:prstGeom>
        </p:spPr>
        <p:txBody>
          <a:bodyPr/>
          <a:lstStyle/>
          <a:p/>
        </p:txBody>
      </p:sp>
      <p:sp>
        <p:nvSpPr>
          <p:cNvPr id="3" name="Date Placeholder 2"/>
          <p:cNvSpPr>
            <a:spLocks noGrp="1"/>
          </p:cNvSpPr>
          <p:nvPr>
            <p:ph type="dt" sz="quarter" idx="1"/>
          </p:nvPr>
        </p:nvSpPr>
        <p:spPr>
          <a:xfrm>
            <a:off x="3909060" y="0"/>
            <a:ext cx="2948940" cy="609600"/>
          </a:xfrm>
          <a:prstGeom prst="rect">
            <a:avLst/>
          </a:prstGeom>
        </p:spPr>
        <p:txBody>
          <a:bodyPr/>
          <a:lstStyle/>
          <a:p/>
        </p:txBody>
      </p:sp>
      <p:sp>
        <p:nvSpPr>
          <p:cNvPr id="4" name="Slide Image Placeholder 3"/>
          <p:cNvSpPr>
            <a:spLocks noGrp="1"/>
          </p:cNvSpPr>
          <p:nvPr>
            <p:ph type="sldImg" idx="2"/>
          </p:nvPr>
        </p:nvSpPr>
        <p:spPr>
          <a:xfrm>
            <a:off x="857250" y="1524000"/>
            <a:ext cx="5143500" cy="4572000"/>
          </a:xfrm>
          <a:prstGeom prst="rect">
            <a:avLst/>
          </a:prstGeom>
          <a:noFill/>
          <a:ln w="12700">
            <a:solidFill>
              <a:srgbClr val="000000"/>
            </a:solidFill>
          </a:ln>
        </p:spPr>
      </p:sp>
      <p:sp>
        <p:nvSpPr>
          <p:cNvPr id="5" name="Notes Placeholder 4"/>
          <p:cNvSpPr>
            <a:spLocks noGrp="1"/>
          </p:cNvSpPr>
          <p:nvPr>
            <p:ph type="body" sz="quarter" idx="3"/>
          </p:nvPr>
        </p:nvSpPr>
        <p:spPr>
          <a:xfrm>
            <a:off x="685800" y="6461760"/>
            <a:ext cx="5486400" cy="438912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11582400"/>
            <a:ext cx="2948940" cy="609600"/>
          </a:xfrm>
          <a:prstGeom prst="rect">
            <a:avLst/>
          </a:prstGeom>
        </p:spPr>
        <p:txBody>
          <a:bodyPr/>
          <a:lstStyle/>
          <a:p/>
        </p:txBody>
      </p:sp>
      <p:sp>
        <p:nvSpPr>
          <p:cNvPr id="7" name="Slide Number Placeholder 6"/>
          <p:cNvSpPr>
            <a:spLocks noGrp="1"/>
          </p:cNvSpPr>
          <p:nvPr>
            <p:ph type="sldNum" sz="quarter" idx="5"/>
          </p:nvPr>
        </p:nvSpPr>
        <p:spPr>
          <a:xfrm>
            <a:off x="3909060" y="11582400"/>
            <a:ext cx="2948940" cy="6096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Questa è la pipeline della tesi nel suo insieme. L'idea di partenza è il metodo "Lost in Translation", che riconosce i video deepfake confrontando ciò che si sente con ciò che si legge sulle labbra. Nella tesi il pezzo che ascolta l'audio non è più Whisper, ma PureScribe.
</a:t>
            </a:r>
            <a:br>
              <a:rPr lang="en-US"/>
            </a:br>
            <a:r>
              <a:rPr lang="en-US"/>
              <a:t>
</a:t>
            </a:r>
            <a:br>
              <a:rPr lang="en-US"/>
            </a:br>
            <a:r>
              <a:rPr lang="en-US"/>
              <a:t>Il lavoro si divide in due momenti. Il primo si fa una volta sola, su Common Voice: nella fase 2 lo script commonvoice_purescribe.py ritaglia dalle frasi lette tante parole singole, usando Whisper solo per sapere dove cade ogni parola; nella fase 3 PureScribe impara da quei ritagli e produce il modello, il file .psm.
</a:t>
            </a:r>
            <a:br>
              <a:rPr lang="en-US"/>
            </a:br>
            <a:r>
              <a:rPr lang="en-US"/>
              <a:t>
</a:t>
            </a:r>
            <a:br>
              <a:rPr lang="en-US"/>
            </a:br>
            <a:r>
              <a:rPr lang="en-US"/>
              <a:t>Il secondo momento è la valutazione sui video di DeepSpeak, e qui Whisper non viene più eseguito. Nella fase 5 lost_in_translation.py fa trascrivere a PureScribe l'audio di ogni video; nella fase 6 confronta quel testo con la lettura delle labbra e decide se il video è reale o un deepfake.
</a:t>
            </a:r>
            <a:br>
              <a:rPr lang="en-US"/>
            </a:br>
            <a:r>
              <a:rPr lang="en-US"/>
              <a:t>
</a:t>
            </a:r>
            <a:br>
              <a:rPr lang="en-US"/>
            </a:br>
            <a:r>
              <a:rPr lang="en-US"/>
              <a:t>Le fasi 1 e 4, che dividevano Common Voice in addestramento e validazione, sono state tolte: tutto Common Voice serve per imparare, e la prova vera si fa su DeepSpeak. La numerazione delle altre fasi è rimasta quella originale.</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Il punto di partenza è il lavoro di Bohacek e Farid, "Lost in Translation". L'idea è semplice: in un video autentico le parole che si sentono e i movimenti della bocca raccontano la stessa cosa. In un lip-sync deepfake invece la bocca è stata modificata e non segue più l'audio.
</a:t>
            </a:r>
            <a:br>
              <a:rPr lang="en-US"/>
            </a:br>
            <a:r>
              <a:rPr lang="en-US"/>
              <a:t>
</a:t>
            </a:r>
            <a:br>
              <a:rPr lang="en-US"/>
            </a:br>
            <a:r>
              <a:rPr lang="en-US"/>
              <a:t>Il metodo quindi trascrive lo stesso video due volte: una volta dall'audio, con Whisper, e una volta leggendo le labbra, con un modello chiamato Auto-AVSR. Poi misura quanto sono diversi i due testi: se la distanza supera 0,5, il video viene considerato un deepfake.
</a:t>
            </a:r>
            <a:br>
              <a:rPr lang="en-US"/>
            </a:br>
            <a:r>
              <a:rPr lang="en-US"/>
              <a:t>
</a:t>
            </a:r>
            <a:br>
              <a:rPr lang="en-US"/>
            </a:br>
            <a:r>
              <a:rPr lang="en-US"/>
              <a:t>Nella tesi cambia un solo pezzo: chi ascolta l'audio. Al posto di Whisper c'è PureScribe. Tutto il resto, cioè i video, i testi letti dalle labbra, il modo di pulire i testi, la distanza e la soglia, resta esattamente quello della baseline, così ogni differenza nei risultati si può attribuire al trascrittore.
</a:t>
            </a:r>
            <a:br>
              <a:rPr lang="en-US"/>
            </a:br>
            <a:r>
              <a:rPr lang="en-US"/>
              <a:t>
</a:t>
            </a:r>
            <a:br>
              <a:rPr lang="en-US"/>
            </a:br>
            <a:r>
              <a:rPr lang="en-US"/>
              <a:t>In pratica la baseline era già stata eseguita il 20 settembre 2026 e aveva salvato le sue trascrizioni, sia quelle di Whisper sia quelle del labiale. Il mio progetto le legge e basta: non riesegue Whisper e non riesegue la lettura labiale sui video.</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La fase 2 prepara il materiale da cui PureScribe impara, ed è lo script commonvoice_purescribe.py con il comando extract.
</a:t>
            </a:r>
            <a:br>
              <a:rPr lang="en-US"/>
            </a:br>
            <a:r>
              <a:rPr lang="en-US"/>
              <a:t>
</a:t>
            </a:r>
            <a:br>
              <a:rPr lang="en-US"/>
            </a:br>
            <a:r>
              <a:rPr lang="en-US"/>
              <a:t>Si parte dalle 16.402 registrazioni di Common Voice che si trovano in corpus\dev: sono persone che leggono una frase, e per ognuna il file dev.tsv contiene il testo ufficiale. PureScribe però impara parola per parola, quindi bisogna sapere in quale punto dell'audio cade ogni parola.
</a:t>
            </a:r>
            <a:br>
              <a:rPr lang="en-US"/>
            </a:br>
            <a:r>
              <a:rPr lang="en-US"/>
              <a:t>
</a:t>
            </a:r>
            <a:br>
              <a:rPr lang="en-US"/>
            </a:br>
            <a:r>
              <a:rPr lang="en-US"/>
              <a:t>Per questo usiamo Whisper, ed è l'unico punto della pipeline in cui Whisper gira. Gli diamo solo l'audio, senza il testo ufficiale e senza suggerimenti: lui restituisce le parole che sente, ciascuna con il momento di inizio e di fine. A questo punto il programma mette a confronto le parole di Whisper con quelle ufficiali e tiene soltanto quelle identiche, nello stesso ordine. Nell'esempio a destra la frase ufficiale è "the quick brown fox" e Whisper sente "the quick fox": vengono salvate the, quick e fox, mentre brown viene semplicemente ignorata.
</a:t>
            </a:r>
            <a:br>
              <a:rPr lang="en-US"/>
            </a:br>
            <a:r>
              <a:rPr lang="en-US"/>
              <a:t>
</a:t>
            </a:r>
            <a:br>
              <a:rPr lang="en-US"/>
            </a:br>
            <a:r>
              <a:rPr lang="en-US"/>
              <a:t>L'etichetta del ritaglio è sempre la parola ufficiale: da Whisper prendiamo solo i tempi. Ogni parola trovata diventa un piccolo file audio con un margine di 50 millisecondi prima e 120 dopo, salvato in una cartella che ha il nome della parola.</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Questa fase segue alcune regole precise, scritte nel codice.
</a:t>
            </a:r>
            <a:br>
              <a:rPr lang="en-US"/>
            </a:br>
            <a:r>
              <a:rPr lang="en-US"/>
              <a:t>
</a:t>
            </a:r>
            <a:br>
              <a:rPr lang="en-US"/>
            </a:br>
            <a:r>
              <a:rPr lang="en-US"/>
              <a:t>Prima di tutto il vocabolario non è deciso in anticipo: nasce dall'estrazione. Entra ogni parola fatta di lettere, con l'apostrofo o il trattino solo in mezzo; così "we're" e "were" restano due parole diverse, e ogni etichetta è anche un nome di cartella valido su Windows.
</a:t>
            </a:r>
            <a:br>
              <a:rPr lang="en-US"/>
            </a:br>
            <a:r>
              <a:rPr lang="en-US"/>
              <a:t>
</a:t>
            </a:r>
            <a:br>
              <a:rPr lang="en-US"/>
            </a:br>
            <a:r>
              <a:rPr lang="en-US"/>
              <a:t>Poi ci sono due limiti. Una parola può avere al massimo 23 clip, altrimenti le parole frequentissime come "the" o "and" occuperebbero tutto il corpus. Alla fine, le parole con meno di 12 clip vengono tolte, perché con così pochi esempi il modello di quella parola non riesce a imparare.
</a:t>
            </a:r>
            <a:br>
              <a:rPr lang="en-US"/>
            </a:br>
            <a:r>
              <a:rPr lang="en-US"/>
              <a:t>
</a:t>
            </a:r>
            <a:br>
              <a:rPr lang="en-US"/>
            </a:br>
            <a:r>
              <a:rPr lang="en-US"/>
              <a:t>Le registrazioni vengono lette in un ordine mescolato, ma sempre lo stesso grazie a un seme fisso: in questo modo i clip di una parola arrivano da tante persone diverse e l'estrazione si può ripetere identica.
</a:t>
            </a:r>
            <a:br>
              <a:rPr lang="en-US"/>
            </a:br>
            <a:r>
              <a:rPr lang="en-US"/>
              <a:t>
</a:t>
            </a:r>
            <a:br>
              <a:rPr lang="en-US"/>
            </a:br>
            <a:r>
              <a:rPr lang="en-US"/>
              <a:t>Una parola viene scartata se Whisper non l'ha sentita uguale al testo, se i suoi tempi mancano o non hanno senso, se il ritaglio è troppo corto, o se la parola ha già raggiunto la quota. I tempi non vengono mai aggiustati: in caso di dubbio la parola si salta.
</a:t>
            </a:r>
            <a:br>
              <a:rPr lang="en-US"/>
            </a:br>
            <a:r>
              <a:rPr lang="en-US"/>
              <a:t>
</a:t>
            </a:r>
            <a:br>
              <a:rPr lang="en-US"/>
            </a:br>
            <a:r>
              <a:rPr lang="en-US"/>
              <a:t>Infine tutto è tracciato: per ogni parola incontrata il file clips.jsonl dice da quale audio viene e che fine ha fatto, come nella riga reale qui a destra, e extraction.json riassume parametri, vocabolario e conteggi. Su tutto Common Voice servono circa tre ore e mezza di calcolo; se si interrompe con Ctrl+C, il corpus raccolto fino a quel punto viene comunque ripulito e riassunto.</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Con la fase 3 PureScribe impara. Si lancia con "python -m purescribe.cli train", indicando la cartella prodotta dalla fase 2 e il nome del modello da creare.
</a:t>
            </a:r>
            <a:br>
              <a:rPr lang="en-US"/>
            </a:br>
            <a:r>
              <a:rPr lang="en-US"/>
              <a:t>
</a:t>
            </a:r>
            <a:br>
              <a:rPr lang="en-US"/>
            </a:br>
            <a:r>
              <a:rPr lang="en-US"/>
              <a:t>Il comando legge una cartella per parola, e il nome della cartella è l'etichetta. È un punto importante: l'addestramento non sa nulla di Whisper né di Common Voice, vede soltanto dei file audio già divisi per parola.
</a:t>
            </a:r>
            <a:br>
              <a:rPr lang="en-US"/>
            </a:br>
            <a:r>
              <a:rPr lang="en-US"/>
              <a:t>
</a:t>
            </a:r>
            <a:br>
              <a:rPr lang="en-US"/>
            </a:br>
            <a:r>
              <a:rPr lang="en-US"/>
              <a:t>Ogni clip viene prima ripulito. Viene portato sempre alla stessa forma, una traccia a 16.000 campioni al secondo con il volume uniformato, e il rilevatore di voce taglia il silenzio rimasto all'inizio e alla fine. Un po' di silenzio viene messo da parte apposta, per insegnare al modello com'è lo sfondo.
</a:t>
            </a:r>
            <a:br>
              <a:rPr lang="en-US"/>
            </a:br>
            <a:r>
              <a:rPr lang="en-US"/>
              <a:t>
</a:t>
            </a:r>
            <a:br>
              <a:rPr lang="en-US"/>
            </a:br>
            <a:r>
              <a:rPr lang="en-US"/>
              <a:t>Poi l'audio diventa numeri: ogni centesimo di secondo il programma guarda un pezzetto lungo 25 millisecondi e lo descrive con 39 numeri, che raccontano il timbro del suono e come sta cambiando. Questi numeri vengono tarati con un'unica taratura calcolata su tutti i clip, e la taratura viene salvata nel modello: così, più avanti, l'audio dei video verrà misurato esattamente nello stesso modo.</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Con i numeri pronti, PureScribe costruisce un modello per ogni parola del vocabolario, uno alla volta e solo con gli esempi di quella parola.
</a:t>
            </a:r>
            <a:br>
              <a:rPr lang="en-US"/>
            </a:br>
            <a:r>
              <a:rPr lang="en-US"/>
              <a:t>
</a:t>
            </a:r>
            <a:br>
              <a:rPr lang="en-US"/>
            </a:br>
            <a:r>
              <a:rPr lang="en-US"/>
              <a:t>Ogni modello si può immaginare come una catena di tratti di suono da attraversare in ordine, senza tornare indietro. In ogni tratto si può restare finché quel suono dura, e per questo la stessa parola viene riconosciuta sia detta lentamente sia detta in fretta. Il numero di tratti dipende dalla durata media degli esempi: una parola lunga ne riceve di più, una corta di meno.
</a:t>
            </a:r>
            <a:br>
              <a:rPr lang="en-US"/>
            </a:br>
            <a:r>
              <a:rPr lang="en-US"/>
              <a:t>
</a:t>
            </a:r>
            <a:br>
              <a:rPr lang="en-US"/>
            </a:br>
            <a:r>
              <a:rPr lang="en-US"/>
              <a:t>L'apprendimento procede per correzioni successive. All'inizio il programma non sa dove inizi ciascun tratto, quindi divide ogni esempio in parti uguali. Poi riallinea ogni esempio sui tratti, ricalcola come suona ognuno e ripete, finché il modello smette di migliorare, al massimo dieci volte. Anche il silenzio ha il suo modello, volutamente semplice, con un solo tratto.
</a:t>
            </a:r>
            <a:br>
              <a:rPr lang="en-US"/>
            </a:br>
            <a:r>
              <a:rPr lang="en-US"/>
              <a:t>
</a:t>
            </a:r>
            <a:br>
              <a:rPr lang="en-US"/>
            </a:br>
            <a:r>
              <a:rPr lang="en-US"/>
              <a:t>Alla fine tutto viene salvato in un unico file. Il modello che uso nella valutazione su DeepSpeak è purescribe_cv.psm: conosce 1676 parole più il silenzio, e contiene anche le impostazioni con cui misurare l'audio e cercare le parole. Il file viene prima scritto in una cartella temporanea e poi rinominato, quindi un modello esistente non viene mai sovrascritto.</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Con il modello pronto si passa alla valutazione. La fase 5 è lo script lost_in_translation.py con il comando transcribe, e qui Whisper non compare più.
</a:t>
            </a:r>
            <a:br>
              <a:rPr lang="en-US"/>
            </a:br>
            <a:r>
              <a:rPr lang="en-US"/>
              <a:t>
</a:t>
            </a:r>
            <a:br>
              <a:rPr lang="en-US"/>
            </a:br>
            <a:r>
              <a:rPr lang="en-US"/>
              <a:t>Prima di tutto lo script decide quali video trascrivere: prende quelli che la baseline aveva trascritto in entrambi i rami, audio e labiale. Dei file della baseline usa solo i nomi, non il contenuto, e cerca i video corrispondenti in D:\DeepSpeak\test.
</a:t>
            </a:r>
            <a:br>
              <a:rPr lang="en-US"/>
            </a:br>
            <a:r>
              <a:rPr lang="en-US"/>
              <a:t>
</a:t>
            </a:r>
            <a:br>
              <a:rPr lang="en-US"/>
            </a:br>
            <a:r>
              <a:rPr lang="en-US"/>
              <a:t>Per ogni video, ffmpeg estrae la traccia audio e la porta alla stessa forma dei clip di addestramento: una sola traccia a 16.000 campioni al secondo. Poi PureScribe la trascrive. Il risultato è un testo fatto solo di parole che PureScribe conosce, come si vede nella riga reale a destra.
</a:t>
            </a:r>
            <a:br>
              <a:rPr lang="en-US"/>
            </a:br>
            <a:r>
              <a:rPr lang="en-US"/>
              <a:t>
</a:t>
            </a:r>
            <a:br>
              <a:rPr lang="en-US"/>
            </a:br>
            <a:r>
              <a:rPr lang="en-US"/>
              <a:t>Ogni video produce una riga nel file deepfake_purescribe.tsv: il nome del video, l'esito, il testo e l'impronta del modello usato. L'impronta serve a riprendere il lavoro: se l'esecuzione si interrompe, rilanciando con --resume lo script controlla che il file sia coerente con lo stesso modello e gli stessi video, e riparte da dove si era fermato.
</a:t>
            </a:r>
            <a:br>
              <a:rPr lang="en-US"/>
            </a:br>
            <a:r>
              <a:rPr lang="en-US"/>
              <a:t>
</a:t>
            </a:r>
            <a:br>
              <a:rPr lang="en-US"/>
            </a:br>
            <a:r>
              <a:rPr lang="en-US"/>
              <a:t>Nel file attuale ci sono 120 video trascritti con esito ok; altri 4, che la baseline aveva trascritto, non sono più presenti su disco e sono segnati come mancanti. Come tempi, il modello impiega circa 50 secondi a caricarsi, e poi servono circa 2,6 secondi di calcolo per ogni secondo di audio: per tutti i video, circa un'ora.</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Vediamo cosa succede dentro la chiamata transcribe, cioè come PureScribe passa dall'audio di un video al testo.
</a:t>
            </a:r>
            <a:br>
              <a:rPr lang="en-US"/>
            </a:br>
            <a:r>
              <a:rPr lang="en-US"/>
              <a:t>
</a:t>
            </a:r>
            <a:br>
              <a:rPr lang="en-US"/>
            </a:br>
            <a:r>
              <a:rPr lang="en-US"/>
              <a:t>L'audio viene misurato con gli stessi 39 numeri dell'addestramento e con la stessa taratura salvata nel modello. Poi parte la ricerca. Tutti i modelli di parola, 1676, più quello della pausa, sono collegati ad anello: quando una parola finisce ne può iniziare una qualsiasi. Non c'è grammatica, quindi il programma non sa quali parole tendono a seguirsi e decide solo in base a come suona l'audio.
</a:t>
            </a:r>
            <a:br>
              <a:rPr lang="en-US"/>
            </a:br>
            <a:r>
              <a:rPr lang="en-US"/>
              <a:t>
</a:t>
            </a:r>
            <a:br>
              <a:rPr lang="en-US"/>
            </a:br>
            <a:r>
              <a:rPr lang="en-US"/>
              <a:t>La ricerca scorre l'audio un centesimo di secondo alla volta e porta avanti in parallelo moltissime ipotesi di frase; a ogni passo scarta quelle troppo lontane dalla migliore, così il calcolo resta gestibile. Ogni volta che un'ipotesi passa da una parola all'altra il programma se lo annota. Alla fine prende l'ipotesi migliore e ripercorre all'indietro queste annotazioni: ottiene le parole in ordine, e toglie le pause.
</a:t>
            </a:r>
            <a:br>
              <a:rPr lang="en-US"/>
            </a:br>
            <a:r>
              <a:rPr lang="en-US"/>
              <a:t>
</a:t>
            </a:r>
            <a:br>
              <a:rPr lang="en-US"/>
            </a:br>
            <a:r>
              <a:rPr lang="en-US"/>
              <a:t>I video di DeepSpeak sono brevi, con una durata mediana di circa 6,6 secondi, quindi di norma l'audio viene cercato tutto in un solo passaggio. Solo oltre i 30 secondi il rilevatore di voce lo divide nei tratti parlati e ogni tratto viene cercato separatamente.</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L'ultima fase è il confronto, ancora in lost_in_translation.py, con il comando compare.
</a:t>
            </a:r>
            <a:br>
              <a:rPr lang="en-US"/>
            </a:br>
            <a:r>
              <a:rPr lang="en-US"/>
              <a:t>
</a:t>
            </a:r>
            <a:br>
              <a:rPr lang="en-US"/>
            </a:br>
            <a:r>
              <a:rPr lang="en-US"/>
              <a:t>Per essere equi, i due sistemi vengono confrontati sugli stessi video: entrano solo quelli che PureScribe ha trascritto con esito ok, e su quegli stessi video si ricalcolano anche i risultati di Whisper, partendo dai testi che la baseline aveva salvato.
</a:t>
            </a:r>
            <a:br>
              <a:rPr lang="en-US"/>
            </a:br>
            <a:r>
              <a:rPr lang="en-US"/>
              <a:t>
</a:t>
            </a:r>
            <a:br>
              <a:rPr lang="en-US"/>
            </a:br>
            <a:r>
              <a:rPr lang="en-US"/>
              <a:t>Le regole sono quelle della baseline, ricopiate e verificate sui suoi file di risultato. Il testo di PureScribe viene pulito esattamente come la baseline puliva quello di Whisper: tutto in minuscolo, senza punteggiatura e senza esitazioni come "um" o "uh". Poi si misura quanto è diverso dal testo letto sulle labbra: si contano le lettere da cambiare per passare da un testo all'altro e si divide per la lunghezza del testo più lungo. Zero vuol dire testi identici, uno vuol dire nulla in comune. Sopra 0,5 il video è classificato deepfake. La soglia non viene ritoccata per PureScribe, così una differenza nei risultati dipende dal trascrittore e non dalla soglia.
</a:t>
            </a:r>
            <a:br>
              <a:rPr lang="en-US"/>
            </a:br>
            <a:r>
              <a:rPr lang="en-US"/>
              <a:t>
</a:t>
            </a:r>
            <a:br>
              <a:rPr lang="en-US"/>
            </a:br>
            <a:r>
              <a:rPr lang="en-US"/>
              <a:t>Il risultato è il file deepfake_comparison.json, con le stesse misure per Whisper e per PureScribe. Attenzione nel leggerle: con 100 deepfake e 20 video autentici, un sistema che dicesse sempre "deepfake" otterrebbe già l'83,3% di accuratezza e un F1 del 90,9%. Per questo vanno sempre guardati anche i veri negativi e i falsi positivi, cioè come vengono trattati i video autentici.</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Per chiudere, quattro cose da tenere presenti quando si leggono i risultati di questa pipeline.
</a:t>
            </a:r>
            <a:br>
              <a:rPr lang="en-US"/>
            </a:br>
            <a:r>
              <a:rPr lang="en-US"/>
              <a:t>
</a:t>
            </a:r>
            <a:br>
              <a:rPr lang="en-US"/>
            </a:br>
            <a:r>
              <a:rPr lang="en-US"/>
              <a:t>Primo, PureScribe conosce solo le sue 1676 parole. Nei video si parla liberamente e molte parole sono fuori da questo vocabolario: PureScribe le sostituisce con parole che suonano simili. Per questo, anche in un video autentico, il testo dell'audio si allontana da quello del labiale, e questo pesa proprio sui video veri.
</a:t>
            </a:r>
            <a:br>
              <a:rPr lang="en-US"/>
            </a:br>
            <a:r>
              <a:rPr lang="en-US"/>
              <a:t>
</a:t>
            </a:r>
            <a:br>
              <a:rPr lang="en-US"/>
            </a:br>
            <a:r>
              <a:rPr lang="en-US"/>
              <a:t>Secondo, i dati di addestramento e quelli di prova vengono da mondi diversi: frasi lette di Common Voice, compresse in MP3, contro l'audio registrato in webcam dei video DeepSpeak.
</a:t>
            </a:r>
            <a:br>
              <a:rPr lang="en-US"/>
            </a:br>
            <a:r>
              <a:rPr lang="en-US"/>
              <a:t>
</a:t>
            </a:r>
            <a:br>
              <a:rPr lang="en-US"/>
            </a:br>
            <a:r>
              <a:rPr lang="en-US"/>
              <a:t>Terzo, i tagli delle parole sono candidati. Il fatto che Whisper e il testo ufficiale coincidano dice che la parola c'è, non che il taglio cada esattamente al punto giusto, e i clip non sono stati ascoltati uno per uno.
</a:t>
            </a:r>
            <a:br>
              <a:rPr lang="en-US"/>
            </a:br>
            <a:r>
              <a:rPr lang="en-US"/>
              <a:t>
</a:t>
            </a:r>
            <a:br>
              <a:rPr lang="en-US"/>
            </a:br>
            <a:r>
              <a:rPr lang="en-US"/>
              <a:t>Quarto, il banco di prova è piccolo: 120 video, di cui 20 autentici e 100 deepfake, e un solo metodo di lip-sync vero e proprio, latentsync. La soglia resta quella della baseline.
</a:t>
            </a:r>
            <a:br>
              <a:rPr lang="en-US"/>
            </a:br>
            <a:r>
              <a:rPr lang="en-US"/>
              <a:t>
</a:t>
            </a:r>
            <a:br>
              <a:rPr lang="en-US"/>
            </a:br>
            <a:r>
              <a:rPr lang="en-US"/>
              <a:t>Ognuno di questi punti si può migliorare, ma la regola del progetto è farlo come esperimento separato, senza scegliere i parametri guardando i risultati su DeepSpeak.</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cust"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cust"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marL="0" indent="0">
              <a:buNone/>
            </a:pPr>
            <a:r>
              <a:rPr lang="en-US" sz="1000">
                <a:solidFill>
                  <a:schemeClr val="tx2"/>
                </a:solidFill>
              </a:rPr>
              <a:t>PureScribe · la pipeline della tesi</a:t>
            </a:r>
            <a:endParaRPr lang="en-US" sz="1000"/>
          </a:p>
        </p:txBody>
      </p:sp>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EDCD0F9E-EF7E-4C26-8662-25A73F2263DD}" type="slidenum">
              <a:rPr lang="en-US" b="0"/>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cust" preserve="1">
  <p:cSld name="DARK">
    <p:bg>
      <p:bgPr>
        <a:solidFill>
          <a:srgbClr val="1A2638"/>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accent5"/>
                </a:solidFill>
              </a:defRPr>
            </a:lvl1pPr>
          </a:lstStyle>
          <a:p>
            <a:pPr algn="r"/>
            <a:fld id="{87C18080-B33E-4073-8615-72D8F5AE8F78}" type="slidenum">
              <a:rPr lang="en-US" b="0"/>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ureScribe">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473D6AB1-0FDA-49F1-8390-8828CE9E6676}" type="slidenum">
              <a:rPr lang="en-US" b="0"/>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a:buChar char="•"/>
        <a:defRPr sz="2000" kern="1200">
          <a:solidFill>
            <a:schemeClr val="tx1"/>
          </a:solidFill>
          <a:latin typeface="+mn-lt"/>
          <a:ea typeface="+mn-ea"/>
          <a:cs typeface="+mn-cs"/>
        </a:defRPr>
      </a:lvl9pPr>
    </p:bodyStyle>
    <p:other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rgbClr val="FFFFFF"/>
                </a:solidFill>
                <a:latin typeface="Cambria"/>
                <a:ea typeface="Cambria"/>
                <a:cs typeface="Cambria"/>
              </a:rPr>
              <a:t>La pipeline della tesi con PureScribe</a:t>
            </a:r>
            <a:endParaRPr lang="en-US" sz="3600"/>
          </a:p>
        </p:txBody>
      </p:sp>
      <p:sp>
        <p:nvSpPr>
          <p:cNvPr id="3" name="Text 1"/>
          <p:cNvSpPr txBox="1"/>
          <p:nvPr/>
        </p:nvSpPr>
        <p:spPr>
          <a:xfrm>
            <a:off x="548640" y="1188720"/>
            <a:ext cx="11094415" cy="365760"/>
          </a:xfrm>
          <a:prstGeom prst="rect">
            <a:avLst/>
          </a:prstGeom>
          <a:noFill/>
          <a:ln/>
        </p:spPr>
        <p:txBody>
          <a:bodyPr wrap="square" lIns="0" tIns="0" rIns="0" bIns="0" rtlCol="0" anchor="t"/>
          <a:lstStyle/>
          <a:p>
            <a:pPr marL="0" indent="0">
              <a:buNone/>
            </a:pPr>
            <a:r>
              <a:rPr lang="en-US" sz="1600">
                <a:solidFill>
                  <a:schemeClr val="accent5"/>
                </a:solidFill>
              </a:rPr>
              <a:t>PureScribe prende il posto di Whisper in “Lost in Translation”: impara le parole da Common Voice, poi trascrive i video di DeepSpeak</a:t>
            </a:r>
            <a:endParaRPr lang="en-US" sz="1600"/>
          </a:p>
        </p:txBody>
      </p:sp>
      <p:sp>
        <p:nvSpPr>
          <p:cNvPr id="4" name="Text 2"/>
          <p:cNvSpPr txBox="1"/>
          <p:nvPr/>
        </p:nvSpPr>
        <p:spPr>
          <a:xfrm>
            <a:off x="548640" y="1810512"/>
            <a:ext cx="7315200" cy="274320"/>
          </a:xfrm>
          <a:prstGeom prst="rect">
            <a:avLst/>
          </a:prstGeom>
          <a:noFill/>
          <a:ln/>
        </p:spPr>
        <p:txBody>
          <a:bodyPr wrap="square" lIns="0" tIns="0" rIns="0" bIns="0" rtlCol="0" anchor="t"/>
          <a:lstStyle/>
          <a:p>
            <a:pPr marL="0" indent="0">
              <a:buNone/>
            </a:pPr>
            <a:r>
              <a:rPr lang="en-US" sz="1100" b="1" kern="0" spc="100">
                <a:solidFill>
                  <a:schemeClr val="accent2"/>
                </a:solidFill>
              </a:rPr>
              <a:t>PREPARAZIONE · una volta sola, su Common Voice</a:t>
            </a:r>
            <a:endParaRPr lang="en-US" sz="1100"/>
          </a:p>
        </p:txBody>
      </p:sp>
      <p:sp>
        <p:nvSpPr>
          <p:cNvPr id="5" name="Card"/>
          <p:cNvSpPr/>
          <p:nvPr/>
        </p:nvSpPr>
        <p:spPr>
          <a:xfrm>
            <a:off x="548640" y="2194560"/>
            <a:ext cx="2331720" cy="960120"/>
          </a:xfrm>
          <a:prstGeom prst="roundRect">
            <a:avLst>
              <a:gd name="adj" fmla="val 7619"/>
            </a:avLst>
          </a:prstGeom>
          <a:solidFill>
            <a:schemeClr val="accent6"/>
          </a:solidFill>
          <a:ln w="12700">
            <a:solidFill>
              <a:srgbClr val="4A5A70"/>
            </a:solidFill>
            <a:prstDash val="solid"/>
          </a:ln>
        </p:spPr>
      </p:sp>
      <p:sp>
        <p:nvSpPr>
          <p:cNvPr id="6" name="Text 4"/>
          <p:cNvSpPr txBox="1"/>
          <p:nvPr/>
        </p:nvSpPr>
        <p:spPr>
          <a:xfrm>
            <a:off x="640080" y="219456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Common Voice</a:t>
            </a:r>
            <a:endParaRPr lang="en-US" sz="1400"/>
          </a:p>
          <a:p>
            <a:pPr marL="0" indent="0" algn="ctr">
              <a:buNone/>
            </a:pPr>
            <a:r>
              <a:rPr lang="en-US" sz="1300">
                <a:solidFill>
                  <a:srgbClr val="C9D3DD"/>
                </a:solidFill>
              </a:rPr>
              <a:t>16.402 frasi lette</a:t>
            </a:r>
            <a:endParaRPr lang="en-US" sz="1400"/>
          </a:p>
        </p:txBody>
      </p:sp>
      <p:sp>
        <p:nvSpPr>
          <p:cNvPr id="7" name="Shape 5"/>
          <p:cNvSpPr/>
          <p:nvPr/>
        </p:nvSpPr>
        <p:spPr>
          <a:xfrm>
            <a:off x="2953512" y="2674620"/>
            <a:ext cx="356616" cy="0"/>
          </a:xfrm>
          <a:prstGeom prst="line">
            <a:avLst/>
          </a:prstGeom>
          <a:noFill/>
          <a:ln w="19050">
            <a:solidFill>
              <a:srgbClr val="C9D3DD"/>
            </a:solidFill>
            <a:prstDash val="solid"/>
            <a:tailEnd type="triangle" w="med" len="med"/>
          </a:ln>
        </p:spPr>
      </p:sp>
      <p:sp>
        <p:nvSpPr>
          <p:cNvPr id="8" name="Card"/>
          <p:cNvSpPr/>
          <p:nvPr/>
        </p:nvSpPr>
        <p:spPr>
          <a:xfrm>
            <a:off x="3383280" y="2194560"/>
            <a:ext cx="2331720" cy="960120"/>
          </a:xfrm>
          <a:prstGeom prst="roundRect">
            <a:avLst>
              <a:gd name="adj" fmla="val 7619"/>
            </a:avLst>
          </a:prstGeom>
          <a:solidFill>
            <a:schemeClr val="accent6"/>
          </a:solidFill>
          <a:ln w="12700">
            <a:solidFill>
              <a:srgbClr val="4A5A70"/>
            </a:solidFill>
            <a:prstDash val="solid"/>
          </a:ln>
        </p:spPr>
      </p:sp>
      <p:sp>
        <p:nvSpPr>
          <p:cNvPr id="9" name="Text 7"/>
          <p:cNvSpPr txBox="1"/>
          <p:nvPr/>
        </p:nvSpPr>
        <p:spPr>
          <a:xfrm>
            <a:off x="3474720" y="219456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Fase 2 · extract</a:t>
            </a:r>
            <a:endParaRPr lang="en-US" sz="1400"/>
          </a:p>
          <a:p>
            <a:pPr marL="0" indent="0" algn="ctr">
              <a:buNone/>
            </a:pPr>
            <a:r>
              <a:rPr lang="en-US" sz="1300">
                <a:solidFill>
                  <a:srgbClr val="C9D3DD"/>
                </a:solidFill>
              </a:rPr>
              <a:t>clip di parole con Whisper</a:t>
            </a:r>
            <a:endParaRPr lang="en-US" sz="1400"/>
          </a:p>
        </p:txBody>
      </p:sp>
      <p:sp>
        <p:nvSpPr>
          <p:cNvPr id="10" name="Shape 8"/>
          <p:cNvSpPr/>
          <p:nvPr/>
        </p:nvSpPr>
        <p:spPr>
          <a:xfrm>
            <a:off x="5788152" y="2674620"/>
            <a:ext cx="356616" cy="0"/>
          </a:xfrm>
          <a:prstGeom prst="line">
            <a:avLst/>
          </a:prstGeom>
          <a:noFill/>
          <a:ln w="19050">
            <a:solidFill>
              <a:srgbClr val="C9D3DD"/>
            </a:solidFill>
            <a:prstDash val="solid"/>
            <a:tailEnd type="triangle" w="med" len="med"/>
          </a:ln>
        </p:spPr>
      </p:sp>
      <p:sp>
        <p:nvSpPr>
          <p:cNvPr id="11" name="Card"/>
          <p:cNvSpPr/>
          <p:nvPr/>
        </p:nvSpPr>
        <p:spPr>
          <a:xfrm>
            <a:off x="6217920" y="2194560"/>
            <a:ext cx="2331720" cy="960120"/>
          </a:xfrm>
          <a:prstGeom prst="roundRect">
            <a:avLst>
              <a:gd name="adj" fmla="val 7619"/>
            </a:avLst>
          </a:prstGeom>
          <a:solidFill>
            <a:schemeClr val="accent6"/>
          </a:solidFill>
          <a:ln w="12700">
            <a:solidFill>
              <a:srgbClr val="4A5A70"/>
            </a:solidFill>
            <a:prstDash val="solid"/>
          </a:ln>
        </p:spPr>
      </p:sp>
      <p:sp>
        <p:nvSpPr>
          <p:cNvPr id="12" name="Text 10"/>
          <p:cNvSpPr txBox="1"/>
          <p:nvPr/>
        </p:nvSpPr>
        <p:spPr>
          <a:xfrm>
            <a:off x="6309360" y="219456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Fase 3 · train</a:t>
            </a:r>
            <a:endParaRPr lang="en-US" sz="1400"/>
          </a:p>
          <a:p>
            <a:pPr marL="0" indent="0" algn="ctr">
              <a:buNone/>
            </a:pPr>
            <a:r>
              <a:rPr lang="en-US" sz="1300">
                <a:solidFill>
                  <a:srgbClr val="C9D3DD"/>
                </a:solidFill>
              </a:rPr>
              <a:t>PureScribe impara</a:t>
            </a:r>
            <a:endParaRPr lang="en-US" sz="1400"/>
          </a:p>
        </p:txBody>
      </p:sp>
      <p:sp>
        <p:nvSpPr>
          <p:cNvPr id="13" name="Shape 11"/>
          <p:cNvSpPr/>
          <p:nvPr/>
        </p:nvSpPr>
        <p:spPr>
          <a:xfrm>
            <a:off x="8622792" y="2674620"/>
            <a:ext cx="356616" cy="0"/>
          </a:xfrm>
          <a:prstGeom prst="line">
            <a:avLst/>
          </a:prstGeom>
          <a:noFill/>
          <a:ln w="19050">
            <a:solidFill>
              <a:srgbClr val="C9D3DD"/>
            </a:solidFill>
            <a:prstDash val="solid"/>
            <a:tailEnd type="triangle" w="med" len="med"/>
          </a:ln>
        </p:spPr>
      </p:sp>
      <p:sp>
        <p:nvSpPr>
          <p:cNvPr id="14" name="Card"/>
          <p:cNvSpPr/>
          <p:nvPr/>
        </p:nvSpPr>
        <p:spPr>
          <a:xfrm>
            <a:off x="9052560" y="2194560"/>
            <a:ext cx="2331720" cy="960120"/>
          </a:xfrm>
          <a:prstGeom prst="roundRect">
            <a:avLst>
              <a:gd name="adj" fmla="val 7619"/>
            </a:avLst>
          </a:prstGeom>
          <a:solidFill>
            <a:schemeClr val="accent1"/>
          </a:solidFill>
          <a:ln w="12700">
            <a:solidFill>
              <a:srgbClr val="4A5A70"/>
            </a:solidFill>
            <a:prstDash val="solid"/>
          </a:ln>
        </p:spPr>
      </p:sp>
      <p:sp>
        <p:nvSpPr>
          <p:cNvPr id="15" name="Text 13"/>
          <p:cNvSpPr txBox="1"/>
          <p:nvPr/>
        </p:nvSpPr>
        <p:spPr>
          <a:xfrm>
            <a:off x="9144000" y="219456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Modello .psm</a:t>
            </a:r>
            <a:endParaRPr lang="en-US" sz="1400"/>
          </a:p>
          <a:p>
            <a:pPr marL="0" indent="0" algn="ctr">
              <a:buNone/>
            </a:pPr>
            <a:r>
              <a:rPr lang="en-US" sz="1300">
                <a:solidFill>
                  <a:srgbClr val="C9D3DD"/>
                </a:solidFill>
              </a:rPr>
              <a:t>purescribe_cv.psm</a:t>
            </a:r>
            <a:endParaRPr lang="en-US" sz="1400"/>
          </a:p>
        </p:txBody>
      </p:sp>
      <p:sp>
        <p:nvSpPr>
          <p:cNvPr id="16" name="Text 14"/>
          <p:cNvSpPr txBox="1"/>
          <p:nvPr/>
        </p:nvSpPr>
        <p:spPr>
          <a:xfrm>
            <a:off x="548640" y="3547872"/>
            <a:ext cx="7315200" cy="274320"/>
          </a:xfrm>
          <a:prstGeom prst="rect">
            <a:avLst/>
          </a:prstGeom>
          <a:noFill/>
          <a:ln/>
        </p:spPr>
        <p:txBody>
          <a:bodyPr wrap="square" lIns="0" tIns="0" rIns="0" bIns="0" rtlCol="0" anchor="t"/>
          <a:lstStyle/>
          <a:p>
            <a:pPr marL="0" indent="0">
              <a:buNone/>
            </a:pPr>
            <a:r>
              <a:rPr lang="en-US" sz="1100" b="1" kern="0" spc="100">
                <a:solidFill>
                  <a:schemeClr val="accent5"/>
                </a:solidFill>
              </a:rPr>
              <a:t>VALUTAZIONE · sui video DeepSpeak, senza Whisper</a:t>
            </a:r>
            <a:endParaRPr lang="en-US" sz="1100"/>
          </a:p>
        </p:txBody>
      </p:sp>
      <p:sp>
        <p:nvSpPr>
          <p:cNvPr id="17" name="Card"/>
          <p:cNvSpPr/>
          <p:nvPr/>
        </p:nvSpPr>
        <p:spPr>
          <a:xfrm>
            <a:off x="548640" y="3931920"/>
            <a:ext cx="2331720" cy="960120"/>
          </a:xfrm>
          <a:prstGeom prst="roundRect">
            <a:avLst>
              <a:gd name="adj" fmla="val 7619"/>
            </a:avLst>
          </a:prstGeom>
          <a:solidFill>
            <a:schemeClr val="accent6"/>
          </a:solidFill>
          <a:ln w="12700">
            <a:solidFill>
              <a:srgbClr val="4A5A70"/>
            </a:solidFill>
            <a:prstDash val="solid"/>
          </a:ln>
        </p:spPr>
      </p:sp>
      <p:sp>
        <p:nvSpPr>
          <p:cNvPr id="18" name="Text 16"/>
          <p:cNvSpPr txBox="1"/>
          <p:nvPr/>
        </p:nvSpPr>
        <p:spPr>
          <a:xfrm>
            <a:off x="640080" y="393192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Video DeepSpeak</a:t>
            </a:r>
            <a:endParaRPr lang="en-US" sz="1400"/>
          </a:p>
          <a:p>
            <a:pPr marL="0" indent="0" algn="ctr">
              <a:buNone/>
            </a:pPr>
            <a:r>
              <a:rPr lang="en-US" sz="1300">
                <a:solidFill>
                  <a:srgbClr val="C9D3DD"/>
                </a:solidFill>
              </a:rPr>
              <a:t>sottoinsieme test</a:t>
            </a:r>
            <a:endParaRPr lang="en-US" sz="1400"/>
          </a:p>
        </p:txBody>
      </p:sp>
      <p:sp>
        <p:nvSpPr>
          <p:cNvPr id="19" name="Shape 17"/>
          <p:cNvSpPr/>
          <p:nvPr/>
        </p:nvSpPr>
        <p:spPr>
          <a:xfrm>
            <a:off x="2953512" y="4411980"/>
            <a:ext cx="356616" cy="0"/>
          </a:xfrm>
          <a:prstGeom prst="line">
            <a:avLst/>
          </a:prstGeom>
          <a:noFill/>
          <a:ln w="19050">
            <a:solidFill>
              <a:srgbClr val="C9D3DD"/>
            </a:solidFill>
            <a:prstDash val="solid"/>
            <a:tailEnd type="triangle" w="med" len="med"/>
          </a:ln>
        </p:spPr>
      </p:sp>
      <p:sp>
        <p:nvSpPr>
          <p:cNvPr id="20" name="Card"/>
          <p:cNvSpPr/>
          <p:nvPr/>
        </p:nvSpPr>
        <p:spPr>
          <a:xfrm>
            <a:off x="3383280" y="3931920"/>
            <a:ext cx="2331720" cy="960120"/>
          </a:xfrm>
          <a:prstGeom prst="roundRect">
            <a:avLst>
              <a:gd name="adj" fmla="val 7619"/>
            </a:avLst>
          </a:prstGeom>
          <a:solidFill>
            <a:schemeClr val="accent6"/>
          </a:solidFill>
          <a:ln w="12700">
            <a:solidFill>
              <a:srgbClr val="4A5A70"/>
            </a:solidFill>
            <a:prstDash val="solid"/>
          </a:ln>
        </p:spPr>
      </p:sp>
      <p:sp>
        <p:nvSpPr>
          <p:cNvPr id="21" name="Text 19"/>
          <p:cNvSpPr txBox="1"/>
          <p:nvPr/>
        </p:nvSpPr>
        <p:spPr>
          <a:xfrm>
            <a:off x="3474720" y="393192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Fase 5 · transcribe</a:t>
            </a:r>
            <a:endParaRPr lang="en-US" sz="1400"/>
          </a:p>
          <a:p>
            <a:pPr marL="0" indent="0" algn="ctr">
              <a:buNone/>
            </a:pPr>
            <a:r>
              <a:rPr lang="en-US" sz="1300">
                <a:solidFill>
                  <a:srgbClr val="C9D3DD"/>
                </a:solidFill>
              </a:rPr>
              <a:t>PureScribe → testo audio</a:t>
            </a:r>
            <a:endParaRPr lang="en-US" sz="1400"/>
          </a:p>
        </p:txBody>
      </p:sp>
      <p:sp>
        <p:nvSpPr>
          <p:cNvPr id="22" name="Shape 20"/>
          <p:cNvSpPr/>
          <p:nvPr/>
        </p:nvSpPr>
        <p:spPr>
          <a:xfrm>
            <a:off x="5788152" y="4411980"/>
            <a:ext cx="356616" cy="0"/>
          </a:xfrm>
          <a:prstGeom prst="line">
            <a:avLst/>
          </a:prstGeom>
          <a:noFill/>
          <a:ln w="19050">
            <a:solidFill>
              <a:srgbClr val="C9D3DD"/>
            </a:solidFill>
            <a:prstDash val="solid"/>
            <a:tailEnd type="triangle" w="med" len="med"/>
          </a:ln>
        </p:spPr>
      </p:sp>
      <p:sp>
        <p:nvSpPr>
          <p:cNvPr id="23" name="Card"/>
          <p:cNvSpPr/>
          <p:nvPr/>
        </p:nvSpPr>
        <p:spPr>
          <a:xfrm>
            <a:off x="6217920" y="3931920"/>
            <a:ext cx="2331720" cy="960120"/>
          </a:xfrm>
          <a:prstGeom prst="roundRect">
            <a:avLst>
              <a:gd name="adj" fmla="val 7619"/>
            </a:avLst>
          </a:prstGeom>
          <a:solidFill>
            <a:schemeClr val="accent6"/>
          </a:solidFill>
          <a:ln w="12700">
            <a:solidFill>
              <a:srgbClr val="4A5A70"/>
            </a:solidFill>
            <a:prstDash val="solid"/>
          </a:ln>
        </p:spPr>
      </p:sp>
      <p:sp>
        <p:nvSpPr>
          <p:cNvPr id="24" name="Text 22"/>
          <p:cNvSpPr txBox="1"/>
          <p:nvPr/>
        </p:nvSpPr>
        <p:spPr>
          <a:xfrm>
            <a:off x="6309360" y="393192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Fase 6 · compare</a:t>
            </a:r>
            <a:endParaRPr lang="en-US" sz="1400"/>
          </a:p>
          <a:p>
            <a:pPr marL="0" indent="0" algn="ctr">
              <a:buNone/>
            </a:pPr>
            <a:r>
              <a:rPr lang="en-US" sz="1300">
                <a:solidFill>
                  <a:srgbClr val="C9D3DD"/>
                </a:solidFill>
              </a:rPr>
              <a:t>audio contro labiale</a:t>
            </a:r>
            <a:endParaRPr lang="en-US" sz="1400"/>
          </a:p>
        </p:txBody>
      </p:sp>
      <p:sp>
        <p:nvSpPr>
          <p:cNvPr id="25" name="Shape 23"/>
          <p:cNvSpPr/>
          <p:nvPr/>
        </p:nvSpPr>
        <p:spPr>
          <a:xfrm>
            <a:off x="8622792" y="4411980"/>
            <a:ext cx="356616" cy="0"/>
          </a:xfrm>
          <a:prstGeom prst="line">
            <a:avLst/>
          </a:prstGeom>
          <a:noFill/>
          <a:ln w="19050">
            <a:solidFill>
              <a:srgbClr val="C9D3DD"/>
            </a:solidFill>
            <a:prstDash val="solid"/>
            <a:tailEnd type="triangle" w="med" len="med"/>
          </a:ln>
        </p:spPr>
      </p:sp>
      <p:sp>
        <p:nvSpPr>
          <p:cNvPr id="26" name="Card"/>
          <p:cNvSpPr/>
          <p:nvPr/>
        </p:nvSpPr>
        <p:spPr>
          <a:xfrm>
            <a:off x="9052560" y="3931920"/>
            <a:ext cx="2331720" cy="960120"/>
          </a:xfrm>
          <a:prstGeom prst="roundRect">
            <a:avLst>
              <a:gd name="adj" fmla="val 7619"/>
            </a:avLst>
          </a:prstGeom>
          <a:solidFill>
            <a:schemeClr val="accent1"/>
          </a:solidFill>
          <a:ln w="12700">
            <a:solidFill>
              <a:srgbClr val="4A5A70"/>
            </a:solidFill>
            <a:prstDash val="solid"/>
          </a:ln>
        </p:spPr>
      </p:sp>
      <p:sp>
        <p:nvSpPr>
          <p:cNvPr id="27" name="Text 25"/>
          <p:cNvSpPr txBox="1"/>
          <p:nvPr/>
        </p:nvSpPr>
        <p:spPr>
          <a:xfrm>
            <a:off x="9144000" y="3931920"/>
            <a:ext cx="2148840" cy="960120"/>
          </a:xfrm>
          <a:prstGeom prst="rect">
            <a:avLst/>
          </a:prstGeom>
          <a:noFill/>
          <a:ln/>
        </p:spPr>
        <p:txBody>
          <a:bodyPr wrap="square" lIns="0" tIns="0" rIns="0" bIns="0" rtlCol="0" anchor="ctr"/>
          <a:lstStyle/>
          <a:p>
            <a:pPr marL="0" indent="0" algn="ctr">
              <a:buNone/>
            </a:pPr>
            <a:r>
              <a:rPr lang="en-US" sz="1600" b="1">
                <a:solidFill>
                  <a:srgbClr val="FFFFFF"/>
                </a:solidFill>
              </a:rPr>
              <a:t>Verdetto</a:t>
            </a:r>
            <a:endParaRPr lang="en-US" sz="1400"/>
          </a:p>
          <a:p>
            <a:pPr marL="0" indent="0" algn="ctr">
              <a:buNone/>
            </a:pPr>
            <a:r>
              <a:rPr lang="en-US" sz="1300">
                <a:solidFill>
                  <a:srgbClr val="C9D3DD"/>
                </a:solidFill>
              </a:rPr>
              <a:t>reale o deepfake</a:t>
            </a:r>
            <a:endParaRPr lang="en-US" sz="1400"/>
          </a:p>
        </p:txBody>
      </p:sp>
      <p:sp>
        <p:nvSpPr>
          <p:cNvPr id="28" name="Shape 26"/>
          <p:cNvSpPr/>
          <p:nvPr/>
        </p:nvSpPr>
        <p:spPr>
          <a:xfrm>
            <a:off x="10218420" y="3154680"/>
            <a:ext cx="0" cy="228600"/>
          </a:xfrm>
          <a:prstGeom prst="line">
            <a:avLst/>
          </a:prstGeom>
          <a:noFill/>
          <a:ln w="19050">
            <a:solidFill>
              <a:schemeClr val="accent5"/>
            </a:solidFill>
            <a:prstDash val="dash"/>
          </a:ln>
        </p:spPr>
      </p:sp>
      <p:sp>
        <p:nvSpPr>
          <p:cNvPr id="29" name="Shape 27"/>
          <p:cNvSpPr/>
          <p:nvPr/>
        </p:nvSpPr>
        <p:spPr>
          <a:xfrm>
            <a:off x="4549140" y="3383280"/>
            <a:ext cx="5669280" cy="0"/>
          </a:xfrm>
          <a:prstGeom prst="line">
            <a:avLst/>
          </a:prstGeom>
          <a:noFill/>
          <a:ln w="19050">
            <a:solidFill>
              <a:schemeClr val="accent5"/>
            </a:solidFill>
            <a:prstDash val="dash"/>
          </a:ln>
        </p:spPr>
      </p:sp>
      <p:sp>
        <p:nvSpPr>
          <p:cNvPr id="30" name="Shape 28"/>
          <p:cNvSpPr/>
          <p:nvPr/>
        </p:nvSpPr>
        <p:spPr>
          <a:xfrm>
            <a:off x="4549140" y="3383280"/>
            <a:ext cx="0" cy="502920"/>
          </a:xfrm>
          <a:prstGeom prst="line">
            <a:avLst/>
          </a:prstGeom>
          <a:noFill/>
          <a:ln w="19050">
            <a:solidFill>
              <a:schemeClr val="accent5"/>
            </a:solidFill>
            <a:prstDash val="solid"/>
            <a:tailEnd type="triangle" w="med" len="med"/>
          </a:ln>
        </p:spPr>
      </p:sp>
      <p:sp>
        <p:nvSpPr>
          <p:cNvPr id="31" name="Text 29"/>
          <p:cNvSpPr txBox="1"/>
          <p:nvPr/>
        </p:nvSpPr>
        <p:spPr>
          <a:xfrm>
            <a:off x="4658868" y="3447288"/>
            <a:ext cx="2194560" cy="274320"/>
          </a:xfrm>
          <a:prstGeom prst="rect">
            <a:avLst/>
          </a:prstGeom>
          <a:noFill/>
          <a:ln/>
        </p:spPr>
        <p:txBody>
          <a:bodyPr wrap="square" lIns="0" tIns="0" rIns="0" bIns="0" rtlCol="0" anchor="t"/>
          <a:lstStyle/>
          <a:p>
            <a:pPr marL="0" indent="0">
              <a:buNone/>
            </a:pPr>
            <a:r>
              <a:rPr lang="en-US" sz="1200" i="1">
                <a:solidFill>
                  <a:schemeClr val="accent5"/>
                </a:solidFill>
              </a:rPr>
              <a:t>il modello addestrato</a:t>
            </a:r>
            <a:endParaRPr lang="en-US" sz="1200"/>
          </a:p>
        </p:txBody>
      </p:sp>
      <p:sp>
        <p:nvSpPr>
          <p:cNvPr id="32" name="Card"/>
          <p:cNvSpPr/>
          <p:nvPr/>
        </p:nvSpPr>
        <p:spPr>
          <a:xfrm>
            <a:off x="548640" y="5303520"/>
            <a:ext cx="11094415" cy="822960"/>
          </a:xfrm>
          <a:prstGeom prst="roundRect">
            <a:avLst>
              <a:gd name="adj" fmla="val 8889"/>
            </a:avLst>
          </a:prstGeom>
          <a:solidFill>
            <a:schemeClr val="accent6"/>
          </a:solidFill>
          <a:ln w="12700">
            <a:solidFill>
              <a:schemeClr val="accent5"/>
            </a:solidFill>
            <a:prstDash val="solid"/>
          </a:ln>
        </p:spPr>
      </p:sp>
      <p:sp>
        <p:nvSpPr>
          <p:cNvPr id="33" name="Text 31"/>
          <p:cNvSpPr txBox="1"/>
          <p:nvPr/>
        </p:nvSpPr>
        <p:spPr>
          <a:xfrm>
            <a:off x="777240" y="5303520"/>
            <a:ext cx="10637215" cy="822960"/>
          </a:xfrm>
          <a:prstGeom prst="rect">
            <a:avLst/>
          </a:prstGeom>
          <a:noFill/>
          <a:ln/>
        </p:spPr>
        <p:txBody>
          <a:bodyPr wrap="square" lIns="0" tIns="0" rIns="0" bIns="0" rtlCol="0" anchor="ctr"/>
          <a:lstStyle/>
          <a:p>
            <a:pPr marL="0" indent="0">
              <a:buNone/>
            </a:pPr>
            <a:r>
              <a:rPr lang="en-US" sz="1600">
                <a:solidFill>
                  <a:srgbClr val="FFFFFF"/>
                </a:solidFill>
              </a:rPr>
              <a:t>Le fasi 1 e 4 (divisione e validazione su Common Voice) sono state tolte: tutto Common Voice serve ad addestrare, la prova si fa su DeepSpeak.</a:t>
            </a:r>
            <a:endParaRPr lang="en-US" sz="1600"/>
          </a:p>
        </p:txBody>
      </p:sp>
      <p:sp>
        <p:nvSpPr>
          <p:cNvPr id="52"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accent5"/>
                </a:solidFill>
              </a:defRPr>
            </a:lvl1pPr>
          </a:lstStyle>
          <a:p>
            <a:pPr algn="r"/>
            <a:fld id="{FD4E0D67-8901-4D8D-881D-3D861B2E5AE2}"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Il punto di partenza: Lost in Translation</a:t>
            </a:r>
            <a:endParaRPr lang="en-US" sz="3600"/>
          </a:p>
        </p:txBody>
      </p:sp>
      <p:sp>
        <p:nvSpPr>
          <p:cNvPr id="3" name="Text 1"/>
          <p:cNvSpPr txBox="1"/>
          <p:nvPr/>
        </p:nvSpPr>
        <p:spPr>
          <a:xfrm>
            <a:off x="548640" y="1344168"/>
            <a:ext cx="9144000" cy="274320"/>
          </a:xfrm>
          <a:prstGeom prst="rect">
            <a:avLst/>
          </a:prstGeom>
          <a:noFill/>
          <a:ln/>
        </p:spPr>
        <p:txBody>
          <a:bodyPr wrap="square" lIns="0" tIns="0" rIns="0" bIns="0" rtlCol="0" anchor="t"/>
          <a:lstStyle/>
          <a:p>
            <a:pPr marL="0" indent="0">
              <a:buNone/>
            </a:pPr>
            <a:r>
              <a:rPr lang="en-US" sz="1100" b="1" kern="0" spc="100">
                <a:solidFill>
                  <a:schemeClr val="tx2"/>
                </a:solidFill>
              </a:rPr>
              <a:t>IL METODO DELLA BASELINE · BOHACEK E FARID, CVPRW 2024</a:t>
            </a:r>
            <a:endParaRPr lang="en-US" sz="1100"/>
          </a:p>
        </p:txBody>
      </p:sp>
      <p:sp>
        <p:nvSpPr>
          <p:cNvPr id="4" name="Card"/>
          <p:cNvSpPr/>
          <p:nvPr/>
        </p:nvSpPr>
        <p:spPr>
          <a:xfrm>
            <a:off x="548640" y="1783080"/>
            <a:ext cx="6400800" cy="3246120"/>
          </a:xfrm>
          <a:prstGeom prst="roundRect">
            <a:avLst>
              <a:gd name="adj" fmla="val 2254"/>
            </a:avLst>
          </a:prstGeom>
          <a:solidFill>
            <a:schemeClr val="bg2"/>
          </a:solidFill>
          <a:ln/>
        </p:spPr>
      </p:sp>
      <p:sp>
        <p:nvSpPr>
          <p:cNvPr id="5" name="Card"/>
          <p:cNvSpPr/>
          <p:nvPr/>
        </p:nvSpPr>
        <p:spPr>
          <a:xfrm>
            <a:off x="777240" y="2971800"/>
            <a:ext cx="1051560" cy="868680"/>
          </a:xfrm>
          <a:prstGeom prst="roundRect">
            <a:avLst>
              <a:gd name="adj" fmla="val 8421"/>
            </a:avLst>
          </a:prstGeom>
          <a:solidFill>
            <a:schemeClr val="tx1"/>
          </a:solidFill>
          <a:ln/>
        </p:spPr>
      </p:sp>
      <p:sp>
        <p:nvSpPr>
          <p:cNvPr id="6" name="Text 4"/>
          <p:cNvSpPr txBox="1"/>
          <p:nvPr/>
        </p:nvSpPr>
        <p:spPr>
          <a:xfrm>
            <a:off x="777240" y="2971800"/>
            <a:ext cx="1051560" cy="868680"/>
          </a:xfrm>
          <a:prstGeom prst="rect">
            <a:avLst/>
          </a:prstGeom>
          <a:noFill/>
          <a:ln/>
        </p:spPr>
        <p:txBody>
          <a:bodyPr wrap="square" lIns="0" tIns="0" rIns="0" bIns="0" rtlCol="0" anchor="ctr"/>
          <a:lstStyle/>
          <a:p>
            <a:pPr marL="0" indent="0" algn="ctr">
              <a:buNone/>
            </a:pPr>
            <a:r>
              <a:rPr lang="en-US" sz="1500" b="1">
                <a:solidFill>
                  <a:srgbClr val="FFFFFF"/>
                </a:solidFill>
              </a:rPr>
              <a:t>Video</a:t>
            </a:r>
            <a:endParaRPr lang="en-US" sz="1500"/>
          </a:p>
        </p:txBody>
      </p:sp>
      <p:sp>
        <p:nvSpPr>
          <p:cNvPr id="7" name="Text 5"/>
          <p:cNvSpPr txBox="1"/>
          <p:nvPr/>
        </p:nvSpPr>
        <p:spPr>
          <a:xfrm>
            <a:off x="2194560" y="1874520"/>
            <a:ext cx="2011680" cy="182880"/>
          </a:xfrm>
          <a:prstGeom prst="rect">
            <a:avLst/>
          </a:prstGeom>
          <a:noFill/>
          <a:ln/>
        </p:spPr>
        <p:txBody>
          <a:bodyPr wrap="square" lIns="0" tIns="0" rIns="0" bIns="0" rtlCol="0" anchor="t"/>
          <a:lstStyle/>
          <a:p>
            <a:pPr marL="0" indent="0">
              <a:buNone/>
            </a:pPr>
            <a:endParaRPr lang="en-US" sz="1200" b="1">
              <a:solidFill>
                <a:schemeClr val="accent2"/>
              </a:solidFill>
            </a:endParaRPr>
          </a:p>
        </p:txBody>
      </p:sp>
      <p:sp>
        <p:nvSpPr>
          <p:cNvPr id="8" name="Card"/>
          <p:cNvSpPr/>
          <p:nvPr/>
        </p:nvSpPr>
        <p:spPr>
          <a:xfrm>
            <a:off x="2194560" y="2194560"/>
            <a:ext cx="1737360" cy="777240"/>
          </a:xfrm>
          <a:prstGeom prst="roundRect">
            <a:avLst>
              <a:gd name="adj" fmla="val 9412"/>
            </a:avLst>
          </a:prstGeom>
          <a:solidFill>
            <a:schemeClr val="accent1"/>
          </a:solidFill>
          <a:ln/>
        </p:spPr>
      </p:sp>
      <p:sp>
        <p:nvSpPr>
          <p:cNvPr id="9" name="Text 7"/>
          <p:cNvSpPr txBox="1"/>
          <p:nvPr/>
        </p:nvSpPr>
        <p:spPr>
          <a:xfrm>
            <a:off x="2194560" y="2194560"/>
            <a:ext cx="1737360" cy="777240"/>
          </a:xfrm>
          <a:prstGeom prst="rect">
            <a:avLst/>
          </a:prstGeom>
          <a:noFill/>
          <a:ln/>
        </p:spPr>
        <p:txBody>
          <a:bodyPr wrap="square" lIns="0" tIns="0" rIns="0" bIns="0" rtlCol="0" anchor="ctr"/>
          <a:lstStyle/>
          <a:p>
            <a:pPr marL="0" indent="0" algn="ctr">
              <a:buNone/>
            </a:pPr>
            <a:r>
              <a:rPr lang="en-US" sz="1500" b="1">
                <a:solidFill>
                  <a:srgbClr val="FFFFFF"/>
                </a:solidFill>
              </a:rPr>
              <a:t>PureScribe</a:t>
            </a:r>
            <a:endParaRPr lang="en-US" sz="1400"/>
          </a:p>
          <a:p>
            <a:pPr marL="0" indent="0" algn="ctr">
              <a:buNone/>
            </a:pPr>
            <a:r>
              <a:rPr lang="en-US" sz="1200">
                <a:solidFill>
                  <a:srgbClr val="FFFFFF"/>
                </a:solidFill>
              </a:rPr>
              <a:t>ascolta l’audio</a:t>
            </a:r>
            <a:endParaRPr lang="en-US" sz="1400"/>
          </a:p>
        </p:txBody>
      </p:sp>
      <p:sp>
        <p:nvSpPr>
          <p:cNvPr id="10" name="Shape 8"/>
          <p:cNvSpPr/>
          <p:nvPr/>
        </p:nvSpPr>
        <p:spPr>
          <a:xfrm>
            <a:off x="3959352" y="2583180"/>
            <a:ext cx="219456" cy="0"/>
          </a:xfrm>
          <a:prstGeom prst="line">
            <a:avLst/>
          </a:prstGeom>
          <a:noFill/>
          <a:ln w="19050">
            <a:solidFill>
              <a:schemeClr val="tx2"/>
            </a:solidFill>
            <a:prstDash val="solid"/>
            <a:tailEnd type="triangle" w="med" len="med"/>
          </a:ln>
        </p:spPr>
      </p:sp>
      <p:sp>
        <p:nvSpPr>
          <p:cNvPr id="11" name="Card"/>
          <p:cNvSpPr/>
          <p:nvPr/>
        </p:nvSpPr>
        <p:spPr>
          <a:xfrm>
            <a:off x="4206240" y="2286000"/>
            <a:ext cx="1188720" cy="594360"/>
          </a:xfrm>
          <a:prstGeom prst="roundRect">
            <a:avLst>
              <a:gd name="adj" fmla="val 12308"/>
            </a:avLst>
          </a:prstGeom>
          <a:solidFill>
            <a:srgbClr val="FFFFFF"/>
          </a:solidFill>
          <a:ln w="12700">
            <a:solidFill>
              <a:srgbClr val="C9D3DD"/>
            </a:solidFill>
            <a:prstDash val="solid"/>
          </a:ln>
        </p:spPr>
      </p:sp>
      <p:sp>
        <p:nvSpPr>
          <p:cNvPr id="12" name="Text 10"/>
          <p:cNvSpPr txBox="1"/>
          <p:nvPr/>
        </p:nvSpPr>
        <p:spPr>
          <a:xfrm>
            <a:off x="4206240" y="2286000"/>
            <a:ext cx="1188720" cy="594360"/>
          </a:xfrm>
          <a:prstGeom prst="rect">
            <a:avLst/>
          </a:prstGeom>
          <a:noFill/>
          <a:ln/>
        </p:spPr>
        <p:txBody>
          <a:bodyPr wrap="square" lIns="0" tIns="0" rIns="0" bIns="0" rtlCol="0" anchor="ctr"/>
          <a:lstStyle/>
          <a:p>
            <a:pPr marL="0" indent="0" algn="ctr">
              <a:buNone/>
            </a:pPr>
            <a:r>
              <a:rPr lang="en-US" sz="1300">
                <a:solidFill>
                  <a:schemeClr val="tx1"/>
                </a:solidFill>
              </a:rPr>
              <a:t>testo audio</a:t>
            </a:r>
            <a:endParaRPr lang="en-US" sz="1300"/>
          </a:p>
        </p:txBody>
      </p:sp>
      <p:sp>
        <p:nvSpPr>
          <p:cNvPr id="13" name="Card"/>
          <p:cNvSpPr/>
          <p:nvPr/>
        </p:nvSpPr>
        <p:spPr>
          <a:xfrm>
            <a:off x="2194560" y="3886200"/>
            <a:ext cx="1737360" cy="777240"/>
          </a:xfrm>
          <a:prstGeom prst="roundRect">
            <a:avLst>
              <a:gd name="adj" fmla="val 9412"/>
            </a:avLst>
          </a:prstGeom>
          <a:solidFill>
            <a:srgbClr val="FFFFFF"/>
          </a:solidFill>
          <a:ln w="12700">
            <a:solidFill>
              <a:srgbClr val="C9D3DD"/>
            </a:solidFill>
            <a:prstDash val="solid"/>
          </a:ln>
        </p:spPr>
      </p:sp>
      <p:sp>
        <p:nvSpPr>
          <p:cNvPr id="14" name="Text 12"/>
          <p:cNvSpPr txBox="1"/>
          <p:nvPr/>
        </p:nvSpPr>
        <p:spPr>
          <a:xfrm>
            <a:off x="2194560" y="3886200"/>
            <a:ext cx="1737360" cy="777240"/>
          </a:xfrm>
          <a:prstGeom prst="rect">
            <a:avLst/>
          </a:prstGeom>
          <a:noFill/>
          <a:ln/>
        </p:spPr>
        <p:txBody>
          <a:bodyPr wrap="square" lIns="0" tIns="0" rIns="0" bIns="0" rtlCol="0" anchor="ctr"/>
          <a:lstStyle/>
          <a:p>
            <a:pPr marL="0" indent="0" algn="ctr">
              <a:buNone/>
            </a:pPr>
            <a:r>
              <a:rPr lang="en-US" sz="1500" b="1">
                <a:solidFill>
                  <a:schemeClr val="tx1"/>
                </a:solidFill>
              </a:rPr>
              <a:t>Auto-AVSR</a:t>
            </a:r>
            <a:endParaRPr lang="en-US" sz="1400"/>
          </a:p>
          <a:p>
            <a:pPr marL="0" indent="0" algn="ctr">
              <a:buNone/>
            </a:pPr>
            <a:r>
              <a:rPr lang="en-US" sz="1200">
                <a:solidFill>
                  <a:schemeClr val="tx2"/>
                </a:solidFill>
              </a:rPr>
              <a:t>legge le labbra</a:t>
            </a:r>
            <a:endParaRPr lang="en-US" sz="1400"/>
          </a:p>
        </p:txBody>
      </p:sp>
      <p:sp>
        <p:nvSpPr>
          <p:cNvPr id="15" name="Shape 13"/>
          <p:cNvSpPr/>
          <p:nvPr/>
        </p:nvSpPr>
        <p:spPr>
          <a:xfrm>
            <a:off x="3959352" y="4274820"/>
            <a:ext cx="219456" cy="0"/>
          </a:xfrm>
          <a:prstGeom prst="line">
            <a:avLst/>
          </a:prstGeom>
          <a:noFill/>
          <a:ln w="19050">
            <a:solidFill>
              <a:schemeClr val="tx2"/>
            </a:solidFill>
            <a:prstDash val="solid"/>
            <a:tailEnd type="triangle" w="med" len="med"/>
          </a:ln>
        </p:spPr>
      </p:sp>
      <p:sp>
        <p:nvSpPr>
          <p:cNvPr id="16" name="Card"/>
          <p:cNvSpPr/>
          <p:nvPr/>
        </p:nvSpPr>
        <p:spPr>
          <a:xfrm>
            <a:off x="4206240" y="3977640"/>
            <a:ext cx="1188720" cy="594360"/>
          </a:xfrm>
          <a:prstGeom prst="roundRect">
            <a:avLst>
              <a:gd name="adj" fmla="val 12308"/>
            </a:avLst>
          </a:prstGeom>
          <a:solidFill>
            <a:srgbClr val="FFFFFF"/>
          </a:solidFill>
          <a:ln w="12700">
            <a:solidFill>
              <a:srgbClr val="C9D3DD"/>
            </a:solidFill>
            <a:prstDash val="solid"/>
          </a:ln>
        </p:spPr>
      </p:sp>
      <p:sp>
        <p:nvSpPr>
          <p:cNvPr id="17" name="Text 15"/>
          <p:cNvSpPr txBox="1"/>
          <p:nvPr/>
        </p:nvSpPr>
        <p:spPr>
          <a:xfrm>
            <a:off x="4206240" y="3977640"/>
            <a:ext cx="1188720" cy="594360"/>
          </a:xfrm>
          <a:prstGeom prst="rect">
            <a:avLst/>
          </a:prstGeom>
          <a:noFill/>
          <a:ln/>
        </p:spPr>
        <p:txBody>
          <a:bodyPr wrap="square" lIns="0" tIns="0" rIns="0" bIns="0" rtlCol="0" anchor="ctr"/>
          <a:lstStyle/>
          <a:p>
            <a:pPr marL="0" indent="0" algn="ctr">
              <a:buNone/>
            </a:pPr>
            <a:r>
              <a:rPr lang="en-US" sz="1300">
                <a:solidFill>
                  <a:schemeClr val="tx1"/>
                </a:solidFill>
              </a:rPr>
              <a:t>testo labiale</a:t>
            </a:r>
            <a:endParaRPr lang="en-US" sz="1300"/>
          </a:p>
        </p:txBody>
      </p:sp>
      <p:sp>
        <p:nvSpPr>
          <p:cNvPr id="18" name="Shape 16"/>
          <p:cNvSpPr/>
          <p:nvPr/>
        </p:nvSpPr>
        <p:spPr>
          <a:xfrm flipV="1">
            <a:off x="1828800" y="2583180"/>
            <a:ext cx="365760" cy="822960"/>
          </a:xfrm>
          <a:prstGeom prst="line">
            <a:avLst/>
          </a:prstGeom>
          <a:noFill/>
          <a:ln w="15875">
            <a:solidFill>
              <a:schemeClr val="tx2"/>
            </a:solidFill>
            <a:prstDash val="solid"/>
            <a:tailEnd type="triangle" w="med" len="med"/>
          </a:ln>
        </p:spPr>
      </p:sp>
      <p:sp>
        <p:nvSpPr>
          <p:cNvPr id="19" name="Shape 17"/>
          <p:cNvSpPr/>
          <p:nvPr/>
        </p:nvSpPr>
        <p:spPr>
          <a:xfrm>
            <a:off x="1828800" y="3406140"/>
            <a:ext cx="365760" cy="868680"/>
          </a:xfrm>
          <a:prstGeom prst="line">
            <a:avLst/>
          </a:prstGeom>
          <a:noFill/>
          <a:ln w="15875">
            <a:solidFill>
              <a:schemeClr val="tx2"/>
            </a:solidFill>
            <a:prstDash val="solid"/>
            <a:tailEnd type="triangle" w="med" len="med"/>
          </a:ln>
        </p:spPr>
      </p:sp>
      <p:sp>
        <p:nvSpPr>
          <p:cNvPr id="20" name="Shape 18"/>
          <p:cNvSpPr/>
          <p:nvPr/>
        </p:nvSpPr>
        <p:spPr>
          <a:xfrm>
            <a:off x="5394960" y="2674620"/>
            <a:ext cx="182880" cy="525780"/>
          </a:xfrm>
          <a:prstGeom prst="line">
            <a:avLst/>
          </a:prstGeom>
          <a:noFill/>
          <a:ln w="15875">
            <a:solidFill>
              <a:schemeClr val="tx2"/>
            </a:solidFill>
            <a:prstDash val="solid"/>
            <a:tailEnd type="triangle" w="med" len="med"/>
          </a:ln>
        </p:spPr>
      </p:sp>
      <p:sp>
        <p:nvSpPr>
          <p:cNvPr id="21" name="Shape 19"/>
          <p:cNvSpPr/>
          <p:nvPr/>
        </p:nvSpPr>
        <p:spPr>
          <a:xfrm flipV="1">
            <a:off x="5394960" y="3611880"/>
            <a:ext cx="182880" cy="571500"/>
          </a:xfrm>
          <a:prstGeom prst="line">
            <a:avLst/>
          </a:prstGeom>
          <a:noFill/>
          <a:ln w="15875">
            <a:solidFill>
              <a:schemeClr val="tx2"/>
            </a:solidFill>
            <a:prstDash val="solid"/>
            <a:tailEnd type="triangle" w="med" len="med"/>
          </a:ln>
        </p:spPr>
      </p:sp>
      <p:sp>
        <p:nvSpPr>
          <p:cNvPr id="22" name="Card"/>
          <p:cNvSpPr/>
          <p:nvPr/>
        </p:nvSpPr>
        <p:spPr>
          <a:xfrm>
            <a:off x="5577840" y="2834640"/>
            <a:ext cx="1188720" cy="1143000"/>
          </a:xfrm>
          <a:prstGeom prst="roundRect">
            <a:avLst>
              <a:gd name="adj" fmla="val 6400"/>
            </a:avLst>
          </a:prstGeom>
          <a:solidFill>
            <a:schemeClr val="accent2"/>
          </a:solidFill>
          <a:ln/>
        </p:spPr>
      </p:sp>
      <p:sp>
        <p:nvSpPr>
          <p:cNvPr id="23" name="Text 21"/>
          <p:cNvSpPr txBox="1"/>
          <p:nvPr/>
        </p:nvSpPr>
        <p:spPr>
          <a:xfrm>
            <a:off x="5577840" y="2834640"/>
            <a:ext cx="1188720" cy="1143000"/>
          </a:xfrm>
          <a:prstGeom prst="rect">
            <a:avLst/>
          </a:prstGeom>
          <a:noFill/>
          <a:ln/>
        </p:spPr>
        <p:txBody>
          <a:bodyPr wrap="square" lIns="0" tIns="0" rIns="0" bIns="0" rtlCol="0" anchor="ctr"/>
          <a:lstStyle/>
          <a:p>
            <a:pPr marL="0" indent="0" algn="ctr">
              <a:buNone/>
            </a:pPr>
            <a:r>
              <a:rPr lang="en-US" sz="1300" b="1">
                <a:solidFill>
                  <a:srgbClr val="FFFFFF"/>
                </a:solidFill>
              </a:rPr>
              <a:t>distanza &gt; 0,5</a:t>
            </a:r>
            <a:endParaRPr lang="en-US" sz="1400"/>
          </a:p>
          <a:p>
            <a:pPr marL="0" indent="0" algn="ctr">
              <a:buNone/>
            </a:pPr>
            <a:r>
              <a:rPr lang="en-US" sz="1300">
                <a:solidFill>
                  <a:srgbClr val="FFFFFF"/>
                </a:solidFill>
              </a:rPr>
              <a:t>→ deepfake</a:t>
            </a:r>
            <a:endParaRPr lang="en-US" sz="1400"/>
          </a:p>
        </p:txBody>
      </p:sp>
      <p:sp>
        <p:nvSpPr>
          <p:cNvPr id="24" name="Text 22"/>
          <p:cNvSpPr txBox="1"/>
          <p:nvPr/>
        </p:nvSpPr>
        <p:spPr>
          <a:xfrm>
            <a:off x="7269480" y="1828800"/>
            <a:ext cx="4370832" cy="3200400"/>
          </a:xfrm>
          <a:prstGeom prst="rect">
            <a:avLst/>
          </a:prstGeom>
          <a:noFill/>
          <a:ln/>
        </p:spPr>
        <p:txBody>
          <a:bodyPr wrap="square" lIns="0" tIns="0" rIns="0" bIns="0" rtlCol="0" anchor="t"/>
          <a:lstStyle/>
          <a:p>
            <a:pPr marL="0" indent="0">
              <a:spcAft>
                <a:spcPts val="800"/>
              </a:spcAft>
              <a:buNone/>
            </a:pPr>
            <a:r>
              <a:rPr lang="en-US" sz="1500" b="1">
                <a:solidFill>
                  <a:schemeClr val="tx1"/>
                </a:solidFill>
              </a:rPr>
              <a:t>Un video vero dice quello che si sente. </a:t>
            </a:r>
            <a:r>
              <a:rPr lang="en-US" sz="1500">
                <a:solidFill>
                  <a:schemeClr val="tx1"/>
                </a:solidFill>
              </a:rPr>
              <a:t>Il metodo trascrive due volte lo stesso video: dall’audio e leggendo le labbra. In un video autentico i due testi si somigliano; in un lip-sync deepfake la bocca non segue le parole dell’audio.</a:t>
            </a:r>
            <a:endParaRPr lang="en-US" sz="1500"/>
          </a:p>
          <a:p>
            <a:pPr marL="0" indent="0">
              <a:spcAft>
                <a:spcPts val="800"/>
              </a:spcAft>
              <a:buNone/>
            </a:pPr>
            <a:r>
              <a:rPr lang="en-US" sz="1500" b="1">
                <a:solidFill>
                  <a:schemeClr val="tx1"/>
                </a:solidFill>
              </a:rPr>
              <a:t>Nella tesi cambia solo chi ascolta. </a:t>
            </a:r>
            <a:r>
              <a:rPr lang="en-US" sz="1500">
                <a:solidFill>
                  <a:schemeClr val="tx1"/>
                </a:solidFill>
              </a:rPr>
              <a:t>Al posto di Whisper c’è PureScribe; video, testi del labiale, pulizia dei testi, distanza e soglia restano quelli della baseline.</a:t>
            </a:r>
            <a:endParaRPr lang="en-US" sz="1500"/>
          </a:p>
        </p:txBody>
      </p:sp>
      <p:sp>
        <p:nvSpPr>
          <p:cNvPr id="25" name="Card"/>
          <p:cNvSpPr/>
          <p:nvPr/>
        </p:nvSpPr>
        <p:spPr>
          <a:xfrm>
            <a:off x="548640" y="5257800"/>
            <a:ext cx="11094415" cy="868680"/>
          </a:xfrm>
          <a:prstGeom prst="roundRect">
            <a:avLst>
              <a:gd name="adj" fmla="val 8421"/>
            </a:avLst>
          </a:prstGeom>
          <a:solidFill>
            <a:srgbClr val="FFFFFF"/>
          </a:solidFill>
          <a:ln w="19050">
            <a:solidFill>
              <a:schemeClr val="accent1"/>
            </a:solidFill>
            <a:prstDash val="solid"/>
          </a:ln>
        </p:spPr>
      </p:sp>
      <p:sp>
        <p:nvSpPr>
          <p:cNvPr id="26" name="Text 24"/>
          <p:cNvSpPr txBox="1"/>
          <p:nvPr/>
        </p:nvSpPr>
        <p:spPr>
          <a:xfrm>
            <a:off x="777240" y="5257800"/>
            <a:ext cx="10637215" cy="868680"/>
          </a:xfrm>
          <a:prstGeom prst="rect">
            <a:avLst/>
          </a:prstGeom>
          <a:noFill/>
          <a:ln/>
        </p:spPr>
        <p:txBody>
          <a:bodyPr wrap="square" lIns="0" tIns="0" rIns="0" bIns="0" rtlCol="0" anchor="ctr"/>
          <a:lstStyle/>
          <a:p>
            <a:pPr marL="0" indent="0">
              <a:buNone/>
            </a:pPr>
            <a:r>
              <a:rPr lang="en-US" sz="1500" b="1">
                <a:solidFill>
                  <a:schemeClr val="accent1"/>
                </a:solidFill>
              </a:rPr>
              <a:t>Cosa viene riusato. </a:t>
            </a:r>
            <a:r>
              <a:rPr lang="en-US" sz="1500">
                <a:solidFill>
                  <a:schemeClr val="tx1"/>
                </a:solidFill>
              </a:rPr>
              <a:t>Le trascrizioni del labiale e quelle Whisper della baseline, prodotte il 20/09/2026, vengono solo lette: sui video non si riesegue né Whisper né la lettura labiale.</a:t>
            </a:r>
            <a:endParaRPr lang="en-US" sz="1500"/>
          </a:p>
        </p:txBody>
      </p:sp>
      <p:sp>
        <p:nvSpPr>
          <p:cNvPr id="53"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00266782-2A85-475A-865E-BAD95958CDD5}"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Fase 2 · Ritagliare le parole da Common Voice</a:t>
            </a:r>
            <a:endParaRPr lang="en-US" sz="3600"/>
          </a:p>
        </p:txBody>
      </p:sp>
      <p:sp>
        <p:nvSpPr>
          <p:cNvPr id="3" name="Badge"/>
          <p:cNvSpPr/>
          <p:nvPr/>
        </p:nvSpPr>
        <p:spPr>
          <a:xfrm>
            <a:off x="548640" y="1280160"/>
            <a:ext cx="384048" cy="384048"/>
          </a:xfrm>
          <a:prstGeom prst="ellipse">
            <a:avLst/>
          </a:prstGeom>
          <a:solidFill>
            <a:schemeClr val="accent1"/>
          </a:solidFill>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marL="0" indent="0" algn="ctr">
              <a:buNone/>
            </a:pPr>
            <a:r>
              <a:rPr lang="en-US" sz="1400" b="1">
                <a:solidFill>
                  <a:srgbClr val="FFFFFF"/>
                </a:solidFill>
              </a:rPr>
              <a:t>2</a:t>
            </a:r>
            <a:endParaRPr lang="en-US" sz="1400"/>
          </a:p>
        </p:txBody>
      </p:sp>
      <p:sp>
        <p:nvSpPr>
          <p:cNvPr id="5" name="Text 3"/>
          <p:cNvSpPr txBox="1"/>
          <p:nvPr/>
        </p:nvSpPr>
        <p:spPr>
          <a:xfrm>
            <a:off x="1051560" y="1344168"/>
            <a:ext cx="10058400" cy="274320"/>
          </a:xfrm>
          <a:prstGeom prst="rect">
            <a:avLst/>
          </a:prstGeom>
          <a:noFill/>
          <a:ln/>
        </p:spPr>
        <p:txBody>
          <a:bodyPr wrap="square" lIns="0" tIns="0" rIns="0" bIns="0" rtlCol="0" anchor="t"/>
          <a:lstStyle/>
          <a:p>
            <a:pPr marL="0" indent="0">
              <a:buNone/>
            </a:pPr>
            <a:r>
              <a:rPr lang="en-US" sz="1100" b="1" kern="0" spc="100">
                <a:solidFill>
                  <a:schemeClr val="tx2"/>
                </a:solidFill>
              </a:rPr>
              <a:t>commonvoice_purescribe.py extract  ·  l’unico punto in cui gira Whisper</a:t>
            </a:r>
            <a:endParaRPr lang="en-US" sz="1100"/>
          </a:p>
        </p:txBody>
      </p:sp>
      <p:sp>
        <p:nvSpPr>
          <p:cNvPr id="6" name="Text 4"/>
          <p:cNvSpPr txBox="1"/>
          <p:nvPr/>
        </p:nvSpPr>
        <p:spPr>
          <a:xfrm>
            <a:off x="548640" y="1828800"/>
            <a:ext cx="5394960" cy="4297680"/>
          </a:xfrm>
          <a:prstGeom prst="rect">
            <a:avLst/>
          </a:prstGeom>
          <a:noFill/>
          <a:ln/>
        </p:spPr>
        <p:txBody>
          <a:bodyPr wrap="square" lIns="0" tIns="0" rIns="0" bIns="0" rtlCol="0" anchor="t"/>
          <a:lstStyle/>
          <a:p>
            <a:pPr marL="0" indent="0">
              <a:spcAft>
                <a:spcPts val="800"/>
              </a:spcAft>
              <a:buNone/>
            </a:pPr>
            <a:r>
              <a:rPr lang="en-US" sz="1500" b="1">
                <a:solidFill>
                  <a:schemeClr val="tx1"/>
                </a:solidFill>
              </a:rPr>
              <a:t>Il materiale di partenza. </a:t>
            </a:r>
            <a:r>
              <a:rPr lang="en-US" sz="1500">
                <a:solidFill>
                  <a:schemeClr val="tx1"/>
                </a:solidFill>
              </a:rPr>
              <a:t>Le 16.402 registrazioni di Common Voice in corpus\dev: persone che leggono una frase di cui conosciamo il testo ufficiale. PureScribe però impara da parole singole, quindi serve sapere dove inizia e finisce ogni parola.</a:t>
            </a:r>
            <a:endParaRPr lang="en-US" sz="1500"/>
          </a:p>
          <a:p>
            <a:pPr marL="0" indent="0">
              <a:spcAft>
                <a:spcPts val="800"/>
              </a:spcAft>
              <a:buNone/>
            </a:pPr>
            <a:r>
              <a:rPr lang="en-US" sz="1500" b="1">
                <a:solidFill>
                  <a:schemeClr val="tx1"/>
                </a:solidFill>
              </a:rPr>
              <a:t>Whisper ascolta, ma non decide l’etichetta. </a:t>
            </a:r>
            <a:r>
              <a:rPr lang="en-US" sz="1500">
                <a:solidFill>
                  <a:schemeClr val="tx1"/>
                </a:solidFill>
              </a:rPr>
              <a:t>Riceve solo l’audio e restituisce le parole che sente con i loro tempi. Si tengono solo le parole identiche al testo ufficiale, nello stesso ordine; il nome del clip è sempre la parola ufficiale.</a:t>
            </a:r>
            <a:endParaRPr lang="en-US" sz="1500"/>
          </a:p>
          <a:p>
            <a:pPr marL="0" indent="0">
              <a:spcAft>
                <a:spcPts val="800"/>
              </a:spcAft>
              <a:buNone/>
            </a:pPr>
            <a:r>
              <a:rPr lang="en-US" sz="1500" b="1">
                <a:solidFill>
                  <a:schemeClr val="tx1"/>
                </a:solidFill>
              </a:rPr>
              <a:t>Ogni parola trovata diventa un file. </a:t>
            </a:r>
            <a:r>
              <a:rPr lang="en-US" sz="1500">
                <a:solidFill>
                  <a:schemeClr val="tx1"/>
                </a:solidFill>
              </a:rPr>
              <a:t>Un ritaglio con un piccolo margine (50 ms prima, 120 ms dopo), salvato nella cartella che porta il nome della parola.</a:t>
            </a:r>
            <a:endParaRPr lang="en-US" sz="1500"/>
          </a:p>
        </p:txBody>
      </p:sp>
      <p:sp>
        <p:nvSpPr>
          <p:cNvPr id="7" name="Card"/>
          <p:cNvSpPr/>
          <p:nvPr/>
        </p:nvSpPr>
        <p:spPr>
          <a:xfrm>
            <a:off x="6355080" y="1783080"/>
            <a:ext cx="5285232" cy="2194560"/>
          </a:xfrm>
          <a:prstGeom prst="roundRect">
            <a:avLst>
              <a:gd name="adj" fmla="val 3333"/>
            </a:avLst>
          </a:prstGeom>
          <a:solidFill>
            <a:schemeClr val="bg2"/>
          </a:solidFill>
          <a:ln/>
        </p:spPr>
      </p:sp>
      <p:sp>
        <p:nvSpPr>
          <p:cNvPr id="8" name="Text 6"/>
          <p:cNvSpPr txBox="1"/>
          <p:nvPr/>
        </p:nvSpPr>
        <p:spPr>
          <a:xfrm>
            <a:off x="6537960" y="2011680"/>
            <a:ext cx="1188720" cy="411480"/>
          </a:xfrm>
          <a:prstGeom prst="rect">
            <a:avLst/>
          </a:prstGeom>
          <a:noFill/>
          <a:ln/>
        </p:spPr>
        <p:txBody>
          <a:bodyPr wrap="square" lIns="0" tIns="0" rIns="0" bIns="0" rtlCol="0" anchor="ctr"/>
          <a:lstStyle/>
          <a:p>
            <a:pPr marL="0" indent="0">
              <a:buNone/>
            </a:pPr>
            <a:r>
              <a:rPr lang="en-US" sz="1300" b="1">
                <a:solidFill>
                  <a:schemeClr val="tx2"/>
                </a:solidFill>
              </a:rPr>
              <a:t>ufficiale</a:t>
            </a:r>
            <a:endParaRPr lang="en-US" sz="1300"/>
          </a:p>
        </p:txBody>
      </p:sp>
      <p:sp>
        <p:nvSpPr>
          <p:cNvPr id="9" name="Text 7"/>
          <p:cNvSpPr txBox="1"/>
          <p:nvPr/>
        </p:nvSpPr>
        <p:spPr>
          <a:xfrm>
            <a:off x="6537960" y="2852928"/>
            <a:ext cx="1188720" cy="411480"/>
          </a:xfrm>
          <a:prstGeom prst="rect">
            <a:avLst/>
          </a:prstGeom>
          <a:noFill/>
          <a:ln/>
        </p:spPr>
        <p:txBody>
          <a:bodyPr wrap="square" lIns="0" tIns="0" rIns="0" bIns="0" rtlCol="0" anchor="ctr"/>
          <a:lstStyle/>
          <a:p>
            <a:pPr marL="0" indent="0">
              <a:buNone/>
            </a:pPr>
            <a:r>
              <a:rPr lang="en-US" sz="1300" b="1">
                <a:solidFill>
                  <a:schemeClr val="tx2"/>
                </a:solidFill>
              </a:rPr>
              <a:t>Whisper</a:t>
            </a:r>
            <a:endParaRPr lang="en-US" sz="1300"/>
          </a:p>
        </p:txBody>
      </p:sp>
      <p:sp>
        <p:nvSpPr>
          <p:cNvPr id="10" name="Card"/>
          <p:cNvSpPr/>
          <p:nvPr/>
        </p:nvSpPr>
        <p:spPr>
          <a:xfrm>
            <a:off x="7818120" y="2011680"/>
            <a:ext cx="777240" cy="411480"/>
          </a:xfrm>
          <a:prstGeom prst="roundRect">
            <a:avLst>
              <a:gd name="adj" fmla="val 17778"/>
            </a:avLst>
          </a:prstGeom>
          <a:solidFill>
            <a:schemeClr val="accent1"/>
          </a:solidFill>
          <a:ln/>
        </p:spPr>
      </p:sp>
      <p:sp>
        <p:nvSpPr>
          <p:cNvPr id="11" name="Text 9"/>
          <p:cNvSpPr txBox="1"/>
          <p:nvPr/>
        </p:nvSpPr>
        <p:spPr>
          <a:xfrm>
            <a:off x="7818120" y="2011680"/>
            <a:ext cx="777240" cy="411480"/>
          </a:xfrm>
          <a:prstGeom prst="rect">
            <a:avLst/>
          </a:prstGeom>
          <a:noFill/>
          <a:ln/>
        </p:spPr>
        <p:txBody>
          <a:bodyPr wrap="square" lIns="0" tIns="0" rIns="0" bIns="0" rtlCol="0" anchor="ctr"/>
          <a:lstStyle/>
          <a:p>
            <a:pPr marL="0" indent="0" algn="ctr">
              <a:buNone/>
            </a:pPr>
            <a:r>
              <a:rPr lang="en-US" sz="1400" b="1">
                <a:solidFill>
                  <a:srgbClr val="FFFFFF"/>
                </a:solidFill>
              </a:rPr>
              <a:t>the</a:t>
            </a:r>
            <a:endParaRPr lang="en-US" sz="1400"/>
          </a:p>
        </p:txBody>
      </p:sp>
      <p:sp>
        <p:nvSpPr>
          <p:cNvPr id="12" name="Card"/>
          <p:cNvSpPr/>
          <p:nvPr/>
        </p:nvSpPr>
        <p:spPr>
          <a:xfrm>
            <a:off x="8705088" y="2011680"/>
            <a:ext cx="777240" cy="411480"/>
          </a:xfrm>
          <a:prstGeom prst="roundRect">
            <a:avLst>
              <a:gd name="adj" fmla="val 17778"/>
            </a:avLst>
          </a:prstGeom>
          <a:solidFill>
            <a:schemeClr val="accent1"/>
          </a:solidFill>
          <a:ln/>
        </p:spPr>
      </p:sp>
      <p:sp>
        <p:nvSpPr>
          <p:cNvPr id="13" name="Text 11"/>
          <p:cNvSpPr txBox="1"/>
          <p:nvPr/>
        </p:nvSpPr>
        <p:spPr>
          <a:xfrm>
            <a:off x="8705088" y="2011680"/>
            <a:ext cx="777240" cy="411480"/>
          </a:xfrm>
          <a:prstGeom prst="rect">
            <a:avLst/>
          </a:prstGeom>
          <a:noFill/>
          <a:ln/>
        </p:spPr>
        <p:txBody>
          <a:bodyPr wrap="square" lIns="0" tIns="0" rIns="0" bIns="0" rtlCol="0" anchor="ctr"/>
          <a:lstStyle/>
          <a:p>
            <a:pPr marL="0" indent="0" algn="ctr">
              <a:buNone/>
            </a:pPr>
            <a:r>
              <a:rPr lang="en-US" sz="1400" b="1">
                <a:solidFill>
                  <a:srgbClr val="FFFFFF"/>
                </a:solidFill>
              </a:rPr>
              <a:t>quick</a:t>
            </a:r>
            <a:endParaRPr lang="en-US" sz="1400"/>
          </a:p>
        </p:txBody>
      </p:sp>
      <p:sp>
        <p:nvSpPr>
          <p:cNvPr id="14" name="Card"/>
          <p:cNvSpPr/>
          <p:nvPr/>
        </p:nvSpPr>
        <p:spPr>
          <a:xfrm>
            <a:off x="9592056" y="2011680"/>
            <a:ext cx="777240" cy="411480"/>
          </a:xfrm>
          <a:prstGeom prst="roundRect">
            <a:avLst>
              <a:gd name="adj" fmla="val 17778"/>
            </a:avLst>
          </a:prstGeom>
          <a:solidFill>
            <a:srgbClr val="D5DDE3"/>
          </a:solidFill>
          <a:ln/>
        </p:spPr>
      </p:sp>
      <p:sp>
        <p:nvSpPr>
          <p:cNvPr id="15" name="Text 13"/>
          <p:cNvSpPr txBox="1"/>
          <p:nvPr/>
        </p:nvSpPr>
        <p:spPr>
          <a:xfrm>
            <a:off x="9592056" y="2011680"/>
            <a:ext cx="777240" cy="411480"/>
          </a:xfrm>
          <a:prstGeom prst="rect">
            <a:avLst/>
          </a:prstGeom>
          <a:noFill/>
          <a:ln/>
        </p:spPr>
        <p:txBody>
          <a:bodyPr wrap="square" lIns="0" tIns="0" rIns="0" bIns="0" rtlCol="0" anchor="ctr"/>
          <a:lstStyle/>
          <a:p>
            <a:pPr marL="0" indent="0" algn="ctr">
              <a:buNone/>
            </a:pPr>
            <a:r>
              <a:rPr lang="en-US" sz="1400" b="1">
                <a:solidFill>
                  <a:schemeClr val="tx2"/>
                </a:solidFill>
              </a:rPr>
              <a:t>brown</a:t>
            </a:r>
            <a:endParaRPr lang="en-US" sz="1400"/>
          </a:p>
        </p:txBody>
      </p:sp>
      <p:sp>
        <p:nvSpPr>
          <p:cNvPr id="16" name="Card"/>
          <p:cNvSpPr/>
          <p:nvPr/>
        </p:nvSpPr>
        <p:spPr>
          <a:xfrm>
            <a:off x="10479024" y="2011680"/>
            <a:ext cx="777240" cy="411480"/>
          </a:xfrm>
          <a:prstGeom prst="roundRect">
            <a:avLst>
              <a:gd name="adj" fmla="val 17778"/>
            </a:avLst>
          </a:prstGeom>
          <a:solidFill>
            <a:schemeClr val="accent1"/>
          </a:solidFill>
          <a:ln/>
        </p:spPr>
      </p:sp>
      <p:sp>
        <p:nvSpPr>
          <p:cNvPr id="17" name="Text 15"/>
          <p:cNvSpPr txBox="1"/>
          <p:nvPr/>
        </p:nvSpPr>
        <p:spPr>
          <a:xfrm>
            <a:off x="10479024" y="2011680"/>
            <a:ext cx="777240" cy="411480"/>
          </a:xfrm>
          <a:prstGeom prst="rect">
            <a:avLst/>
          </a:prstGeom>
          <a:noFill/>
          <a:ln/>
        </p:spPr>
        <p:txBody>
          <a:bodyPr wrap="square" lIns="0" tIns="0" rIns="0" bIns="0" rtlCol="0" anchor="ctr"/>
          <a:lstStyle/>
          <a:p>
            <a:pPr marL="0" indent="0" algn="ctr">
              <a:buNone/>
            </a:pPr>
            <a:r>
              <a:rPr lang="en-US" sz="1400" b="1">
                <a:solidFill>
                  <a:srgbClr val="FFFFFF"/>
                </a:solidFill>
              </a:rPr>
              <a:t>fox</a:t>
            </a:r>
            <a:endParaRPr lang="en-US" sz="1400"/>
          </a:p>
        </p:txBody>
      </p:sp>
      <p:sp>
        <p:nvSpPr>
          <p:cNvPr id="18" name="Card"/>
          <p:cNvSpPr/>
          <p:nvPr/>
        </p:nvSpPr>
        <p:spPr>
          <a:xfrm>
            <a:off x="7818120" y="2852928"/>
            <a:ext cx="777240" cy="411480"/>
          </a:xfrm>
          <a:prstGeom prst="roundRect">
            <a:avLst>
              <a:gd name="adj" fmla="val 17778"/>
            </a:avLst>
          </a:prstGeom>
          <a:solidFill>
            <a:schemeClr val="accent1"/>
          </a:solidFill>
          <a:ln/>
        </p:spPr>
      </p:sp>
      <p:sp>
        <p:nvSpPr>
          <p:cNvPr id="19" name="Text 17"/>
          <p:cNvSpPr txBox="1"/>
          <p:nvPr/>
        </p:nvSpPr>
        <p:spPr>
          <a:xfrm>
            <a:off x="7818120" y="2852928"/>
            <a:ext cx="777240" cy="411480"/>
          </a:xfrm>
          <a:prstGeom prst="rect">
            <a:avLst/>
          </a:prstGeom>
          <a:noFill/>
          <a:ln/>
        </p:spPr>
        <p:txBody>
          <a:bodyPr wrap="square" lIns="0" tIns="0" rIns="0" bIns="0" rtlCol="0" anchor="ctr"/>
          <a:lstStyle/>
          <a:p>
            <a:pPr marL="0" indent="0" algn="ctr">
              <a:buNone/>
            </a:pPr>
            <a:r>
              <a:rPr lang="en-US" sz="1400" b="1">
                <a:solidFill>
                  <a:srgbClr val="FFFFFF"/>
                </a:solidFill>
              </a:rPr>
              <a:t>the</a:t>
            </a:r>
            <a:endParaRPr lang="en-US" sz="1400"/>
          </a:p>
        </p:txBody>
      </p:sp>
      <p:sp>
        <p:nvSpPr>
          <p:cNvPr id="20" name="Shape 18"/>
          <p:cNvSpPr/>
          <p:nvPr/>
        </p:nvSpPr>
        <p:spPr>
          <a:xfrm>
            <a:off x="8206740" y="2450592"/>
            <a:ext cx="0" cy="374904"/>
          </a:xfrm>
          <a:prstGeom prst="line">
            <a:avLst/>
          </a:prstGeom>
          <a:noFill/>
          <a:ln w="19050">
            <a:solidFill>
              <a:schemeClr val="accent1"/>
            </a:solidFill>
            <a:prstDash val="solid"/>
          </a:ln>
        </p:spPr>
      </p:sp>
      <p:sp>
        <p:nvSpPr>
          <p:cNvPr id="21" name="Card"/>
          <p:cNvSpPr/>
          <p:nvPr/>
        </p:nvSpPr>
        <p:spPr>
          <a:xfrm>
            <a:off x="8705088" y="2852928"/>
            <a:ext cx="777240" cy="411480"/>
          </a:xfrm>
          <a:prstGeom prst="roundRect">
            <a:avLst>
              <a:gd name="adj" fmla="val 17778"/>
            </a:avLst>
          </a:prstGeom>
          <a:solidFill>
            <a:schemeClr val="accent1"/>
          </a:solidFill>
          <a:ln/>
        </p:spPr>
      </p:sp>
      <p:sp>
        <p:nvSpPr>
          <p:cNvPr id="22" name="Text 20"/>
          <p:cNvSpPr txBox="1"/>
          <p:nvPr/>
        </p:nvSpPr>
        <p:spPr>
          <a:xfrm>
            <a:off x="8705088" y="2852928"/>
            <a:ext cx="777240" cy="411480"/>
          </a:xfrm>
          <a:prstGeom prst="rect">
            <a:avLst/>
          </a:prstGeom>
          <a:noFill/>
          <a:ln/>
        </p:spPr>
        <p:txBody>
          <a:bodyPr wrap="square" lIns="0" tIns="0" rIns="0" bIns="0" rtlCol="0" anchor="ctr"/>
          <a:lstStyle/>
          <a:p>
            <a:pPr marL="0" indent="0" algn="ctr">
              <a:buNone/>
            </a:pPr>
            <a:r>
              <a:rPr lang="en-US" sz="1400" b="1">
                <a:solidFill>
                  <a:srgbClr val="FFFFFF"/>
                </a:solidFill>
              </a:rPr>
              <a:t>quick</a:t>
            </a:r>
            <a:endParaRPr lang="en-US" sz="1400"/>
          </a:p>
        </p:txBody>
      </p:sp>
      <p:sp>
        <p:nvSpPr>
          <p:cNvPr id="23" name="Shape 21"/>
          <p:cNvSpPr/>
          <p:nvPr/>
        </p:nvSpPr>
        <p:spPr>
          <a:xfrm>
            <a:off x="9093708" y="2450592"/>
            <a:ext cx="0" cy="374904"/>
          </a:xfrm>
          <a:prstGeom prst="line">
            <a:avLst/>
          </a:prstGeom>
          <a:noFill/>
          <a:ln w="19050">
            <a:solidFill>
              <a:schemeClr val="accent1"/>
            </a:solidFill>
            <a:prstDash val="solid"/>
          </a:ln>
        </p:spPr>
      </p:sp>
      <p:sp>
        <p:nvSpPr>
          <p:cNvPr id="24" name="Card"/>
          <p:cNvSpPr/>
          <p:nvPr/>
        </p:nvSpPr>
        <p:spPr>
          <a:xfrm>
            <a:off x="10479024" y="2852928"/>
            <a:ext cx="777240" cy="411480"/>
          </a:xfrm>
          <a:prstGeom prst="roundRect">
            <a:avLst>
              <a:gd name="adj" fmla="val 17778"/>
            </a:avLst>
          </a:prstGeom>
          <a:solidFill>
            <a:schemeClr val="accent1"/>
          </a:solidFill>
          <a:ln/>
        </p:spPr>
      </p:sp>
      <p:sp>
        <p:nvSpPr>
          <p:cNvPr id="25" name="Text 23"/>
          <p:cNvSpPr txBox="1"/>
          <p:nvPr/>
        </p:nvSpPr>
        <p:spPr>
          <a:xfrm>
            <a:off x="10479024" y="2852928"/>
            <a:ext cx="777240" cy="411480"/>
          </a:xfrm>
          <a:prstGeom prst="rect">
            <a:avLst/>
          </a:prstGeom>
          <a:noFill/>
          <a:ln/>
        </p:spPr>
        <p:txBody>
          <a:bodyPr wrap="square" lIns="0" tIns="0" rIns="0" bIns="0" rtlCol="0" anchor="ctr"/>
          <a:lstStyle/>
          <a:p>
            <a:pPr marL="0" indent="0" algn="ctr">
              <a:buNone/>
            </a:pPr>
            <a:r>
              <a:rPr lang="en-US" sz="1400" b="1">
                <a:solidFill>
                  <a:srgbClr val="FFFFFF"/>
                </a:solidFill>
              </a:rPr>
              <a:t>fox</a:t>
            </a:r>
            <a:endParaRPr lang="en-US" sz="1400"/>
          </a:p>
        </p:txBody>
      </p:sp>
      <p:sp>
        <p:nvSpPr>
          <p:cNvPr id="26" name="Shape 24"/>
          <p:cNvSpPr/>
          <p:nvPr/>
        </p:nvSpPr>
        <p:spPr>
          <a:xfrm>
            <a:off x="10867644" y="2450592"/>
            <a:ext cx="0" cy="374904"/>
          </a:xfrm>
          <a:prstGeom prst="line">
            <a:avLst/>
          </a:prstGeom>
          <a:noFill/>
          <a:ln w="19050">
            <a:solidFill>
              <a:schemeClr val="accent1"/>
            </a:solidFill>
            <a:prstDash val="solid"/>
          </a:ln>
        </p:spPr>
      </p:sp>
      <p:sp>
        <p:nvSpPr>
          <p:cNvPr id="27" name="Text 25"/>
          <p:cNvSpPr txBox="1"/>
          <p:nvPr/>
        </p:nvSpPr>
        <p:spPr>
          <a:xfrm>
            <a:off x="6537960" y="3429000"/>
            <a:ext cx="4937760" cy="320040"/>
          </a:xfrm>
          <a:prstGeom prst="rect">
            <a:avLst/>
          </a:prstGeom>
          <a:noFill/>
          <a:ln/>
        </p:spPr>
        <p:txBody>
          <a:bodyPr wrap="square" lIns="0" tIns="0" rIns="0" bIns="0" rtlCol="0" anchor="t"/>
          <a:lstStyle/>
          <a:p>
            <a:pPr marL="0" indent="0">
              <a:buNone/>
            </a:pPr>
            <a:r>
              <a:rPr lang="en-US" sz="1300" b="1">
                <a:solidFill>
                  <a:schemeClr val="accent1"/>
                </a:solidFill>
              </a:rPr>
              <a:t>→ clip salvati: the, quick, fox   ·   brown viene ignorata</a:t>
            </a:r>
            <a:endParaRPr lang="en-US" sz="1300"/>
          </a:p>
        </p:txBody>
      </p:sp>
      <p:sp>
        <p:nvSpPr>
          <p:cNvPr id="28" name="Codice"/>
          <p:cNvSpPr/>
          <p:nvPr/>
        </p:nvSpPr>
        <p:spPr>
          <a:xfrm>
            <a:off x="6355080" y="4160520"/>
            <a:ext cx="5285232" cy="1965960"/>
          </a:xfrm>
          <a:prstGeom prst="roundRect">
            <a:avLst>
              <a:gd name="adj" fmla="val 3721"/>
            </a:avLst>
          </a:prstGeom>
          <a:solidFill>
            <a:schemeClr val="tx1"/>
          </a:solidFill>
          <a:ln/>
        </p:spPr>
      </p:sp>
      <p:sp>
        <p:nvSpPr>
          <p:cNvPr id="29" name="Text 27"/>
          <p:cNvSpPr txBox="1"/>
          <p:nvPr/>
        </p:nvSpPr>
        <p:spPr>
          <a:xfrm>
            <a:off x="6556248" y="4325112"/>
            <a:ext cx="4882896" cy="1636776"/>
          </a:xfrm>
          <a:prstGeom prst="rect">
            <a:avLst/>
          </a:prstGeom>
          <a:noFill/>
          <a:ln/>
        </p:spPr>
        <p:txBody>
          <a:bodyPr wrap="square" lIns="0" tIns="0" rIns="0" bIns="0" rtlCol="0" anchor="ctr"/>
          <a:lstStyle/>
          <a:p>
            <a:pPr marL="0" indent="0">
              <a:buNone/>
            </a:pPr>
            <a:r>
              <a:rPr lang="en-US" sz="1000">
                <a:solidFill>
                  <a:schemeClr val="accent5"/>
                </a:solidFill>
                <a:latin typeface="Courier New"/>
                <a:ea typeface="Courier New"/>
                <a:cs typeface="Courier New"/>
              </a:rPr>
              <a:t># commonvoice_purescribe.py · extract()</a:t>
            </a:r>
            <a:endParaRPr lang="en-US" sz="1000"/>
          </a:p>
          <a:p>
            <a:pPr marL="0" indent="0">
              <a:buNone/>
            </a:pPr>
            <a:r>
              <a:rPr lang="en-US" sz="1000">
                <a:solidFill>
                  <a:srgbClr val="E6EDF3"/>
                </a:solidFill>
                <a:latin typeface="Courier New"/>
                <a:ea typeface="Courier New"/>
                <a:cs typeface="Courier New"/>
              </a:rPr>
              <a:t>result = model.transcribe(audio, language="en",</a:t>
            </a:r>
            <a:endParaRPr lang="en-US" sz="1000"/>
          </a:p>
          <a:p>
            <a:pPr marL="0" indent="0">
              <a:buNone/>
            </a:pPr>
            <a:r>
              <a:rPr lang="en-US" sz="1000">
                <a:solidFill>
                  <a:srgbClr val="E6EDF3"/>
                </a:solidFill>
                <a:latin typeface="Courier New"/>
                <a:ea typeface="Courier New"/>
                <a:cs typeface="Courier New"/>
              </a:rPr>
              <a:t>                          word_timestamps=True)</a:t>
            </a:r>
            <a:endParaRPr lang="en-US" sz="1000"/>
          </a:p>
          <a:p>
            <a:pPr marL="0" indent="0">
              <a:buNone/>
            </a:pPr>
            <a:r>
              <a:rPr lang="en-US" sz="1000">
                <a:solidFill>
                  <a:srgbClr val="E6EDF3"/>
                </a:solidFill>
                <a:latin typeface="Courier New"/>
                <a:ea typeface="Courier New"/>
                <a:cs typeface="Courier New"/>
              </a:rPr>
              <a:t>matches = dict(match_word_indices(</a:t>
            </a:r>
            <a:endParaRPr lang="en-US" sz="1000"/>
          </a:p>
          <a:p>
            <a:pPr marL="0" indent="0">
              <a:buNone/>
            </a:pPr>
            <a:r>
              <a:rPr lang="en-US" sz="1000">
                <a:solidFill>
                  <a:srgbClr val="E6EDF3"/>
                </a:solidFill>
                <a:latin typeface="Courier New"/>
                <a:ea typeface="Courier New"/>
                <a:cs typeface="Courier New"/>
              </a:rPr>
              <a:t>    [token for token, _ in words],        </a:t>
            </a:r>
            <a:r>
              <a:rPr lang="en-US" sz="1000">
                <a:solidFill>
                  <a:schemeClr val="accent5"/>
                </a:solidFill>
                <a:latin typeface="Courier New"/>
                <a:ea typeface="Courier New"/>
                <a:cs typeface="Courier New"/>
              </a:rPr>
              <a:t>  # testo ufficiale</a:t>
            </a:r>
            <a:endParaRPr lang="en-US" sz="1000"/>
          </a:p>
          <a:p>
            <a:pPr marL="0" indent="0">
              <a:buNone/>
            </a:pPr>
            <a:r>
              <a:rPr lang="en-US" sz="1000">
                <a:solidFill>
                  <a:srgbClr val="E6EDF3"/>
                </a:solidFill>
                <a:latin typeface="Courier New"/>
                <a:ea typeface="Courier New"/>
                <a:cs typeface="Courier New"/>
              </a:rPr>
              <a:t>    [word["word"] for word in recognized]))</a:t>
            </a:r>
            <a:r>
              <a:rPr lang="en-US" sz="1000">
                <a:solidFill>
                  <a:schemeClr val="accent5"/>
                </a:solidFill>
                <a:latin typeface="Courier New"/>
                <a:ea typeface="Courier New"/>
                <a:cs typeface="Courier New"/>
              </a:rPr>
              <a:t>  # parole Whisper</a:t>
            </a:r>
            <a:endParaRPr lang="en-US" sz="1000"/>
          </a:p>
          <a:p>
            <a:pPr marL="0" indent="0">
              <a:buNone/>
            </a:pPr>
            <a:r>
              <a:rPr lang="en-US" sz="1000">
                <a:solidFill>
                  <a:srgbClr val="E6EDF3"/>
                </a:solidFill>
                <a:latin typeface="Courier New"/>
                <a:ea typeface="Courier New"/>
                <a:cs typeface="Courier New"/>
              </a:rPr>
              <a:t>wav = output / label / f"{Path(name).stem}_w{index:02d}.wav"</a:t>
            </a:r>
            <a:endParaRPr lang="en-US" sz="1000"/>
          </a:p>
          <a:p>
            <a:pPr marL="0" indent="0">
              <a:buNone/>
            </a:pPr>
            <a:r>
              <a:rPr lang="en-US" sz="1000">
                <a:solidFill>
                  <a:srgbClr val="E6EDF3"/>
                </a:solidFill>
                <a:latin typeface="Courier New"/>
                <a:ea typeface="Courier New"/>
                <a:cs typeface="Courier New"/>
              </a:rPr>
              <a:t>save_wav(wav, audio[first:last], TARGET_SR)</a:t>
            </a:r>
            <a:endParaRPr lang="en-US" sz="1000"/>
          </a:p>
        </p:txBody>
      </p:sp>
      <p:sp>
        <p:nvSpPr>
          <p:cNvPr id="54"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10D219E0-3C5E-43C7-87F2-6F36B66D5D50}"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Fase 2 · Le regole del corpus</a:t>
            </a:r>
            <a:endParaRPr lang="en-US" sz="3600"/>
          </a:p>
        </p:txBody>
      </p:sp>
      <p:sp>
        <p:nvSpPr>
          <p:cNvPr id="3" name="Badge"/>
          <p:cNvSpPr/>
          <p:nvPr/>
        </p:nvSpPr>
        <p:spPr>
          <a:xfrm>
            <a:off x="548640" y="1280160"/>
            <a:ext cx="384048" cy="384048"/>
          </a:xfrm>
          <a:prstGeom prst="ellipse">
            <a:avLst/>
          </a:prstGeom>
          <a:solidFill>
            <a:schemeClr val="accent1"/>
          </a:solidFill>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marL="0" indent="0" algn="ctr">
              <a:buNone/>
            </a:pPr>
            <a:r>
              <a:rPr lang="en-US" sz="1400" b="1">
                <a:solidFill>
                  <a:srgbClr val="FFFFFF"/>
                </a:solidFill>
              </a:rPr>
              <a:t>2</a:t>
            </a:r>
            <a:endParaRPr lang="en-US" sz="1400"/>
          </a:p>
        </p:txBody>
      </p:sp>
      <p:sp>
        <p:nvSpPr>
          <p:cNvPr id="5" name="Text 3"/>
          <p:cNvSpPr txBox="1"/>
          <p:nvPr/>
        </p:nvSpPr>
        <p:spPr>
          <a:xfrm>
            <a:off x="1051560" y="1344168"/>
            <a:ext cx="10058400" cy="274320"/>
          </a:xfrm>
          <a:prstGeom prst="rect">
            <a:avLst/>
          </a:prstGeom>
          <a:noFill/>
          <a:ln/>
        </p:spPr>
        <p:txBody>
          <a:bodyPr wrap="square" lIns="0" tIns="0" rIns="0" bIns="0" rtlCol="0" anchor="t"/>
          <a:lstStyle/>
          <a:p>
            <a:pPr marL="0" indent="0">
              <a:buNone/>
            </a:pPr>
            <a:r>
              <a:rPr lang="en-US" sz="1100" b="1" kern="0" spc="100">
                <a:solidFill>
                  <a:schemeClr val="tx2"/>
                </a:solidFill>
              </a:rPr>
              <a:t>commonvoice_purescribe.py extract  ·  regole e tracciabilità</a:t>
            </a:r>
            <a:endParaRPr lang="en-US" sz="1100"/>
          </a:p>
        </p:txBody>
      </p:sp>
      <p:sp>
        <p:nvSpPr>
          <p:cNvPr id="6" name="Card"/>
          <p:cNvSpPr/>
          <p:nvPr/>
        </p:nvSpPr>
        <p:spPr>
          <a:xfrm>
            <a:off x="548640" y="1783080"/>
            <a:ext cx="3557016" cy="2103120"/>
          </a:xfrm>
          <a:prstGeom prst="roundRect">
            <a:avLst>
              <a:gd name="adj" fmla="val 3478"/>
            </a:avLst>
          </a:prstGeom>
          <a:solidFill>
            <a:schemeClr val="bg2"/>
          </a:solidFill>
          <a:ln/>
        </p:spPr>
      </p:sp>
      <p:sp>
        <p:nvSpPr>
          <p:cNvPr id="7" name="Text 5"/>
          <p:cNvSpPr txBox="1"/>
          <p:nvPr/>
        </p:nvSpPr>
        <p:spPr>
          <a:xfrm>
            <a:off x="731520" y="1965960"/>
            <a:ext cx="3191256" cy="1737360"/>
          </a:xfrm>
          <a:prstGeom prst="rect">
            <a:avLst/>
          </a:prstGeom>
          <a:noFill/>
          <a:ln/>
        </p:spPr>
        <p:txBody>
          <a:bodyPr wrap="square" lIns="0" tIns="0" rIns="0" bIns="0" rtlCol="0" anchor="t"/>
          <a:lstStyle/>
          <a:p>
            <a:pPr marL="0" indent="0">
              <a:spcAft>
                <a:spcPts val="400"/>
              </a:spcAft>
              <a:buNone/>
            </a:pPr>
            <a:r>
              <a:rPr lang="en-US" sz="1700" b="1">
                <a:solidFill>
                  <a:schemeClr val="tx1"/>
                </a:solidFill>
              </a:rPr>
              <a:t>Il vocabolario nasce dai dati</a:t>
            </a:r>
            <a:endParaRPr lang="en-US" sz="1400"/>
          </a:p>
          <a:p>
            <a:pPr marL="0" indent="0">
              <a:spcAft>
                <a:spcPts val="400"/>
              </a:spcAft>
              <a:buNone/>
            </a:pPr>
            <a:r>
              <a:rPr lang="en-US" sz="1600">
                <a:solidFill>
                  <a:schemeClr val="tx2"/>
                </a:solidFill>
              </a:rPr>
              <a:t>Nessuna lista decisa prima: entra ogni parola fatta di lettere, con ' o - solo in mezzo, così we’re resta diversa da were.</a:t>
            </a:r>
            <a:endParaRPr lang="en-US" sz="1400"/>
          </a:p>
        </p:txBody>
      </p:sp>
      <p:sp>
        <p:nvSpPr>
          <p:cNvPr id="8" name="Card"/>
          <p:cNvSpPr/>
          <p:nvPr/>
        </p:nvSpPr>
        <p:spPr>
          <a:xfrm>
            <a:off x="4306824" y="1783080"/>
            <a:ext cx="3557016" cy="2103120"/>
          </a:xfrm>
          <a:prstGeom prst="roundRect">
            <a:avLst>
              <a:gd name="adj" fmla="val 3478"/>
            </a:avLst>
          </a:prstGeom>
          <a:solidFill>
            <a:schemeClr val="bg2"/>
          </a:solidFill>
          <a:ln/>
        </p:spPr>
      </p:sp>
      <p:sp>
        <p:nvSpPr>
          <p:cNvPr id="9" name="Text 7"/>
          <p:cNvSpPr txBox="1"/>
          <p:nvPr/>
        </p:nvSpPr>
        <p:spPr>
          <a:xfrm>
            <a:off x="4489704" y="1965960"/>
            <a:ext cx="3191256" cy="1737360"/>
          </a:xfrm>
          <a:prstGeom prst="rect">
            <a:avLst/>
          </a:prstGeom>
          <a:noFill/>
          <a:ln/>
        </p:spPr>
        <p:txBody>
          <a:bodyPr wrap="square" lIns="0" tIns="0" rIns="0" bIns="0" rtlCol="0" anchor="t"/>
          <a:lstStyle/>
          <a:p>
            <a:pPr marL="0" indent="0">
              <a:spcAft>
                <a:spcPts val="400"/>
              </a:spcAft>
              <a:buNone/>
            </a:pPr>
            <a:r>
              <a:rPr lang="en-US" sz="1700" b="1">
                <a:solidFill>
                  <a:schemeClr val="tx1"/>
                </a:solidFill>
              </a:rPr>
              <a:t>Né troppi né troppo pochi</a:t>
            </a:r>
            <a:endParaRPr lang="en-US" sz="1400"/>
          </a:p>
          <a:p>
            <a:pPr marL="0" indent="0">
              <a:spcAft>
                <a:spcPts val="400"/>
              </a:spcAft>
              <a:buNone/>
            </a:pPr>
            <a:r>
              <a:rPr lang="en-US" sz="1600">
                <a:solidFill>
                  <a:schemeClr val="tx2"/>
                </a:solidFill>
              </a:rPr>
              <a:t>Al massimo 23 clip per parola, così the e and non dominano; alla fine le parole con meno di 12 clip vengono tolte.</a:t>
            </a:r>
            <a:endParaRPr lang="en-US" sz="1400"/>
          </a:p>
        </p:txBody>
      </p:sp>
      <p:sp>
        <p:nvSpPr>
          <p:cNvPr id="10" name="Card"/>
          <p:cNvSpPr/>
          <p:nvPr/>
        </p:nvSpPr>
        <p:spPr>
          <a:xfrm>
            <a:off x="8065008" y="1783080"/>
            <a:ext cx="3557016" cy="2103120"/>
          </a:xfrm>
          <a:prstGeom prst="roundRect">
            <a:avLst>
              <a:gd name="adj" fmla="val 3478"/>
            </a:avLst>
          </a:prstGeom>
          <a:solidFill>
            <a:schemeClr val="bg2"/>
          </a:solidFill>
          <a:ln/>
        </p:spPr>
      </p:sp>
      <p:sp>
        <p:nvSpPr>
          <p:cNvPr id="11" name="Text 9"/>
          <p:cNvSpPr txBox="1"/>
          <p:nvPr/>
        </p:nvSpPr>
        <p:spPr>
          <a:xfrm>
            <a:off x="8247888" y="1965960"/>
            <a:ext cx="3191256" cy="1737360"/>
          </a:xfrm>
          <a:prstGeom prst="rect">
            <a:avLst/>
          </a:prstGeom>
          <a:noFill/>
          <a:ln/>
        </p:spPr>
        <p:txBody>
          <a:bodyPr wrap="square" lIns="0" tIns="0" rIns="0" bIns="0" rtlCol="0" anchor="t"/>
          <a:lstStyle/>
          <a:p>
            <a:pPr marL="0" indent="0">
              <a:spcAft>
                <a:spcPts val="400"/>
              </a:spcAft>
              <a:buNone/>
            </a:pPr>
            <a:r>
              <a:rPr lang="en-US" sz="1700" b="1">
                <a:solidFill>
                  <a:schemeClr val="tx1"/>
                </a:solidFill>
              </a:rPr>
              <a:t>Tante voci diverse</a:t>
            </a:r>
            <a:endParaRPr lang="en-US" sz="1400"/>
          </a:p>
          <a:p>
            <a:pPr marL="0" indent="0">
              <a:spcAft>
                <a:spcPts val="400"/>
              </a:spcAft>
              <a:buNone/>
            </a:pPr>
            <a:r>
              <a:rPr lang="en-US" sz="1600">
                <a:solidFill>
                  <a:schemeClr val="tx2"/>
                </a:solidFill>
              </a:rPr>
              <a:t>Le registrazioni sono lette in un ordine mescolato con un seme fisso (20261014): i clip di una parola non vengono da un solo lettore.</a:t>
            </a:r>
            <a:endParaRPr lang="en-US" sz="1400"/>
          </a:p>
        </p:txBody>
      </p:sp>
      <p:sp>
        <p:nvSpPr>
          <p:cNvPr id="12" name="Card"/>
          <p:cNvSpPr/>
          <p:nvPr/>
        </p:nvSpPr>
        <p:spPr>
          <a:xfrm>
            <a:off x="548640" y="4069080"/>
            <a:ext cx="5440680" cy="2057400"/>
          </a:xfrm>
          <a:prstGeom prst="roundRect">
            <a:avLst>
              <a:gd name="adj" fmla="val 3556"/>
            </a:avLst>
          </a:prstGeom>
          <a:solidFill>
            <a:srgbClr val="FFFFFF"/>
          </a:solidFill>
          <a:ln w="19050">
            <a:solidFill>
              <a:schemeClr val="accent2"/>
            </a:solidFill>
            <a:prstDash val="solid"/>
          </a:ln>
        </p:spPr>
      </p:sp>
      <p:sp>
        <p:nvSpPr>
          <p:cNvPr id="13" name="Text 11"/>
          <p:cNvSpPr txBox="1"/>
          <p:nvPr/>
        </p:nvSpPr>
        <p:spPr>
          <a:xfrm>
            <a:off x="731520" y="4251960"/>
            <a:ext cx="5074920" cy="1691640"/>
          </a:xfrm>
          <a:prstGeom prst="rect">
            <a:avLst/>
          </a:prstGeom>
          <a:noFill/>
          <a:ln/>
        </p:spPr>
        <p:txBody>
          <a:bodyPr wrap="square" lIns="0" tIns="0" rIns="0" bIns="0" rtlCol="0" anchor="t"/>
          <a:lstStyle/>
          <a:p>
            <a:pPr marL="0" indent="0">
              <a:spcAft>
                <a:spcPts val="400"/>
              </a:spcAft>
              <a:buNone/>
            </a:pPr>
            <a:r>
              <a:rPr lang="en-US" sz="1600" b="1">
                <a:solidFill>
                  <a:schemeClr val="accent2"/>
                </a:solidFill>
              </a:rPr>
              <a:t>Quando una parola viene scartata</a:t>
            </a:r>
            <a:endParaRPr lang="en-US" sz="1400"/>
          </a:p>
          <a:p>
            <a:pPr marL="0" indent="0">
              <a:spcAft>
                <a:spcPts val="400"/>
              </a:spcAft>
              <a:buNone/>
            </a:pPr>
            <a:r>
              <a:rPr lang="en-US" sz="1400">
                <a:solidFill>
                  <a:schemeClr val="tx2"/>
                </a:solidFill>
              </a:rPr>
              <a:t>Whisper non l’ha sentita uguale al testo, i suoi tempi mancano o sono impossibili, il ritaglio dura meno di 100 ms, oppure la parola ha già 23 clip. I tempi non vengono mai corretti né inventati: la parola si salta.</a:t>
            </a:r>
            <a:endParaRPr lang="en-US" sz="1400"/>
          </a:p>
        </p:txBody>
      </p:sp>
      <p:sp>
        <p:nvSpPr>
          <p:cNvPr id="14" name="Codice"/>
          <p:cNvSpPr/>
          <p:nvPr/>
        </p:nvSpPr>
        <p:spPr>
          <a:xfrm>
            <a:off x="6355080" y="4069080"/>
            <a:ext cx="5285232" cy="2057400"/>
          </a:xfrm>
          <a:prstGeom prst="roundRect">
            <a:avLst>
              <a:gd name="adj" fmla="val 3556"/>
            </a:avLst>
          </a:prstGeom>
          <a:solidFill>
            <a:schemeClr val="tx1"/>
          </a:solidFill>
          <a:ln/>
        </p:spPr>
      </p:sp>
      <p:sp>
        <p:nvSpPr>
          <p:cNvPr id="15" name="Text 13"/>
          <p:cNvSpPr txBox="1"/>
          <p:nvPr/>
        </p:nvSpPr>
        <p:spPr>
          <a:xfrm>
            <a:off x="6556248" y="4233672"/>
            <a:ext cx="4882896" cy="1728216"/>
          </a:xfrm>
          <a:prstGeom prst="rect">
            <a:avLst/>
          </a:prstGeom>
          <a:noFill/>
          <a:ln/>
        </p:spPr>
        <p:txBody>
          <a:bodyPr wrap="square" lIns="0" tIns="0" rIns="0" bIns="0" rtlCol="0" anchor="ctr"/>
          <a:lstStyle/>
          <a:p>
            <a:pPr marL="0" indent="0">
              <a:buNone/>
            </a:pPr>
            <a:r>
              <a:rPr lang="en-US" sz="1000">
                <a:solidFill>
                  <a:schemeClr val="accent5"/>
                </a:solidFill>
                <a:latin typeface="Courier New"/>
                <a:ea typeface="Courier New"/>
                <a:cs typeface="Courier New"/>
              </a:rPr>
              <a:t># cosa scrive la fase 2 nella cartella di output</a:t>
            </a:r>
            <a:endParaRPr lang="en-US" sz="1000"/>
          </a:p>
          <a:p>
            <a:pPr marL="0" indent="0">
              <a:buNone/>
            </a:pPr>
            <a:r>
              <a:rPr lang="en-US" sz="1000">
                <a:solidFill>
                  <a:srgbClr val="E6EDF3"/>
                </a:solidFill>
                <a:latin typeface="Courier New"/>
                <a:ea typeface="Courier New"/>
                <a:cs typeface="Courier New"/>
              </a:rPr>
              <a:t>&lt;parola&gt;\&lt;audio&gt;_w&lt;indice&gt;.wav </a:t>
            </a:r>
            <a:r>
              <a:rPr lang="en-US" sz="1000">
                <a:solidFill>
                  <a:schemeClr val="accent5"/>
                </a:solidFill>
                <a:latin typeface="Courier New"/>
                <a:ea typeface="Courier New"/>
                <a:cs typeface="Courier New"/>
              </a:rPr>
              <a:t>  # mono, 16 kHz</a:t>
            </a:r>
            <a:endParaRPr lang="en-US" sz="1000"/>
          </a:p>
          <a:p>
            <a:pPr marL="0" indent="0">
              <a:buNone/>
            </a:pPr>
            <a:r>
              <a:rPr lang="en-US" sz="1000">
                <a:solidFill>
                  <a:srgbClr val="E6EDF3"/>
                </a:solidFill>
                <a:latin typeface="Courier New"/>
                <a:ea typeface="Courier New"/>
                <a:cs typeface="Courier New"/>
              </a:rPr>
              <a:t>clips.jsonl     </a:t>
            </a:r>
            <a:r>
              <a:rPr lang="en-US" sz="1000">
                <a:solidFill>
                  <a:schemeClr val="accent5"/>
                </a:solidFill>
                <a:latin typeface="Courier New"/>
                <a:ea typeface="Courier New"/>
                <a:cs typeface="Courier New"/>
              </a:rPr>
              <a:t>  # una riga per ogni parola vista</a:t>
            </a:r>
            <a:endParaRPr lang="en-US" sz="1000"/>
          </a:p>
          <a:p>
            <a:pPr marL="0" indent="0">
              <a:buNone/>
            </a:pPr>
            <a:r>
              <a:rPr lang="en-US" sz="1000">
                <a:solidFill>
                  <a:srgbClr val="E6EDF3"/>
                </a:solidFill>
                <a:latin typeface="Courier New"/>
                <a:ea typeface="Courier New"/>
                <a:cs typeface="Courier New"/>
              </a:rPr>
              <a:t>extraction.json </a:t>
            </a:r>
            <a:r>
              <a:rPr lang="en-US" sz="1000">
                <a:solidFill>
                  <a:schemeClr val="accent5"/>
                </a:solidFill>
                <a:latin typeface="Courier New"/>
                <a:ea typeface="Courier New"/>
                <a:cs typeface="Courier New"/>
              </a:rPr>
              <a:t>  # parametri, vocabolario, conteggi</a:t>
            </a:r>
            <a:endParaRPr lang="en-US" sz="1000"/>
          </a:p>
          <a:p>
            <a:pPr marL="0" indent="0">
              <a:buNone/>
            </a:pPr>
            <a:r>
              <a:rPr lang="en-US" sz="1000">
                <a:solidFill>
                  <a:schemeClr val="accent5"/>
                </a:solidFill>
                <a:latin typeface="Courier New"/>
                <a:ea typeface="Courier New"/>
                <a:cs typeface="Courier New"/>
              </a:rPr>
              <a:t># una riga reale di clips.jsonl</a:t>
            </a:r>
            <a:endParaRPr lang="en-US" sz="1000"/>
          </a:p>
          <a:p>
            <a:pPr marL="0" indent="0">
              <a:buNone/>
            </a:pPr>
            <a:r>
              <a:rPr lang="en-US" sz="1000">
                <a:solidFill>
                  <a:srgbClr val="E6EDF3"/>
                </a:solidFill>
                <a:latin typeface="Courier New"/>
                <a:ea typeface="Courier New"/>
                <a:cs typeface="Courier New"/>
              </a:rPr>
              <a:t>{"audio": "common_voice_en_28123723.mp3",</a:t>
            </a:r>
            <a:endParaRPr lang="en-US" sz="1000"/>
          </a:p>
          <a:p>
            <a:pPr marL="0" indent="0">
              <a:buNone/>
            </a:pPr>
            <a:r>
              <a:rPr lang="en-US" sz="1000">
                <a:solidFill>
                  <a:srgbClr val="E6EDF3"/>
                </a:solidFill>
                <a:latin typeface="Courier New"/>
                <a:ea typeface="Courier New"/>
                <a:cs typeface="Courier New"/>
              </a:rPr>
              <a:t> "word_index": 12, "official_word": "back.",</a:t>
            </a:r>
            <a:endParaRPr lang="en-US" sz="1000"/>
          </a:p>
          <a:p>
            <a:pPr marL="0" indent="0">
              <a:buNone/>
            </a:pPr>
            <a:r>
              <a:rPr lang="en-US" sz="1000">
                <a:solidFill>
                  <a:srgbClr val="E6EDF3"/>
                </a:solidFill>
                <a:latin typeface="Courier New"/>
                <a:ea typeface="Courier New"/>
                <a:cs typeface="Courier New"/>
              </a:rPr>
              <a:t> "label": "back", "status": "quota_reached"}</a:t>
            </a:r>
            <a:endParaRPr lang="en-US" sz="1000"/>
          </a:p>
        </p:txBody>
      </p:sp>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9D1DB54B-4FC6-4944-8106-E43DA6D7893B}"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Fase 3 · Dai clip ai numeri</a:t>
            </a:r>
            <a:endParaRPr lang="en-US" sz="3600"/>
          </a:p>
        </p:txBody>
      </p:sp>
      <p:sp>
        <p:nvSpPr>
          <p:cNvPr id="3" name="Badge"/>
          <p:cNvSpPr/>
          <p:nvPr/>
        </p:nvSpPr>
        <p:spPr>
          <a:xfrm>
            <a:off x="548640" y="1280160"/>
            <a:ext cx="384048" cy="384048"/>
          </a:xfrm>
          <a:prstGeom prst="ellipse">
            <a:avLst/>
          </a:prstGeom>
          <a:solidFill>
            <a:schemeClr val="accent1"/>
          </a:solidFill>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marL="0" indent="0" algn="ctr">
              <a:buNone/>
            </a:pPr>
            <a:r>
              <a:rPr lang="en-US" sz="1400" b="1">
                <a:solidFill>
                  <a:srgbClr val="FFFFFF"/>
                </a:solidFill>
              </a:rPr>
              <a:t>3</a:t>
            </a:r>
            <a:endParaRPr lang="en-US" sz="1400"/>
          </a:p>
        </p:txBody>
      </p:sp>
      <p:sp>
        <p:nvSpPr>
          <p:cNvPr id="5" name="Text 3"/>
          <p:cNvSpPr txBox="1"/>
          <p:nvPr/>
        </p:nvSpPr>
        <p:spPr>
          <a:xfrm>
            <a:off x="1051560" y="1344168"/>
            <a:ext cx="10058400" cy="274320"/>
          </a:xfrm>
          <a:prstGeom prst="rect">
            <a:avLst/>
          </a:prstGeom>
          <a:noFill/>
          <a:ln/>
        </p:spPr>
        <p:txBody>
          <a:bodyPr wrap="square" lIns="0" tIns="0" rIns="0" bIns="0" rtlCol="0" anchor="t"/>
          <a:lstStyle/>
          <a:p>
            <a:pPr marL="0" indent="0">
              <a:buNone/>
            </a:pPr>
            <a:r>
              <a:rPr lang="en-US" sz="1100" b="1" kern="0" spc="100">
                <a:solidFill>
                  <a:schemeClr val="tx2"/>
                </a:solidFill>
              </a:rPr>
              <a:t>python -m purescribe.cli train &lt;cartella della fase 2&gt; -o &lt;modello&gt;.psm</a:t>
            </a:r>
            <a:endParaRPr lang="en-US" sz="1100"/>
          </a:p>
        </p:txBody>
      </p:sp>
      <p:sp>
        <p:nvSpPr>
          <p:cNvPr id="6" name="Text 4"/>
          <p:cNvSpPr txBox="1"/>
          <p:nvPr/>
        </p:nvSpPr>
        <p:spPr>
          <a:xfrm>
            <a:off x="548640" y="1828800"/>
            <a:ext cx="5394960" cy="4297680"/>
          </a:xfrm>
          <a:prstGeom prst="rect">
            <a:avLst/>
          </a:prstGeom>
          <a:noFill/>
          <a:ln/>
        </p:spPr>
        <p:txBody>
          <a:bodyPr wrap="square" lIns="0" tIns="0" rIns="0" bIns="0" rtlCol="0" anchor="t"/>
          <a:lstStyle/>
          <a:p>
            <a:pPr marL="0" indent="0">
              <a:spcAft>
                <a:spcPts val="800"/>
              </a:spcAft>
              <a:buNone/>
            </a:pPr>
            <a:r>
              <a:rPr lang="en-US" sz="1500" b="1">
                <a:solidFill>
                  <a:schemeClr val="tx1"/>
                </a:solidFill>
              </a:rPr>
              <a:t>Il comando legge una cartella per parola. </a:t>
            </a:r>
            <a:r>
              <a:rPr lang="en-US" sz="1500">
                <a:solidFill>
                  <a:schemeClr val="tx1"/>
                </a:solidFill>
              </a:rPr>
              <a:t>Il nome della cartella è l’etichetta: l’addestramento non sa nulla di Whisper o di Common Voice, vede solo i file prodotti dalla fase 2.</a:t>
            </a:r>
            <a:endParaRPr lang="en-US" sz="1500"/>
          </a:p>
          <a:p>
            <a:pPr marL="0" indent="0">
              <a:spcAft>
                <a:spcPts val="800"/>
              </a:spcAft>
              <a:buNone/>
            </a:pPr>
            <a:r>
              <a:rPr lang="en-US" sz="1500" b="1">
                <a:solidFill>
                  <a:schemeClr val="tx1"/>
                </a:solidFill>
              </a:rPr>
              <a:t>Ogni clip viene ripulito. </a:t>
            </a:r>
            <a:r>
              <a:rPr lang="en-US" sz="1500">
                <a:solidFill>
                  <a:schemeClr val="tx1"/>
                </a:solidFill>
              </a:rPr>
              <a:t>Ogni file è portato a una sola traccia a 16 kHz con volume uniformato; il rilevatore di voce toglie il silenzio rimasto ai bordi. Un po’ di silenzio viene messo da parte per insegnare al modello com’è lo sfondo.</a:t>
            </a:r>
            <a:endParaRPr lang="en-US" sz="1500"/>
          </a:p>
          <a:p>
            <a:pPr marL="0" indent="0">
              <a:spcAft>
                <a:spcPts val="800"/>
              </a:spcAft>
              <a:buNone/>
            </a:pPr>
            <a:r>
              <a:rPr lang="en-US" sz="1500" b="1">
                <a:solidFill>
                  <a:schemeClr val="tx1"/>
                </a:solidFill>
              </a:rPr>
              <a:t>Poi diventa numeri. </a:t>
            </a:r>
            <a:r>
              <a:rPr lang="en-US" sz="1500">
                <a:solidFill>
                  <a:schemeClr val="tx1"/>
                </a:solidFill>
              </a:rPr>
              <a:t>Ogni 10 ms un pezzetto di 25 ms è descritto da 39 numeri sul timbro e su come cambia. La loro taratura è calcolata una volta su tutti i clip e salvata nel modello.</a:t>
            </a:r>
            <a:endParaRPr lang="en-US" sz="1500"/>
          </a:p>
        </p:txBody>
      </p:sp>
      <p:sp>
        <p:nvSpPr>
          <p:cNvPr id="7" name="Codice"/>
          <p:cNvSpPr/>
          <p:nvPr/>
        </p:nvSpPr>
        <p:spPr>
          <a:xfrm>
            <a:off x="6355080" y="1783080"/>
            <a:ext cx="5285232" cy="4343400"/>
          </a:xfrm>
          <a:prstGeom prst="roundRect">
            <a:avLst>
              <a:gd name="adj" fmla="val 1684"/>
            </a:avLst>
          </a:prstGeom>
          <a:solidFill>
            <a:schemeClr val="tx1"/>
          </a:solidFill>
          <a:ln/>
        </p:spPr>
      </p:sp>
      <p:sp>
        <p:nvSpPr>
          <p:cNvPr id="8" name="Text 6"/>
          <p:cNvSpPr txBox="1"/>
          <p:nvPr/>
        </p:nvSpPr>
        <p:spPr>
          <a:xfrm>
            <a:off x="6556248" y="1947672"/>
            <a:ext cx="4882896" cy="4014216"/>
          </a:xfrm>
          <a:prstGeom prst="rect">
            <a:avLst/>
          </a:prstGeom>
          <a:noFill/>
          <a:ln/>
        </p:spPr>
        <p:txBody>
          <a:bodyPr wrap="square" lIns="0" tIns="0" rIns="0" bIns="0" rtlCol="0" anchor="ctr"/>
          <a:lstStyle/>
          <a:p>
            <a:pPr marL="0" indent="0">
              <a:buNone/>
            </a:pPr>
            <a:r>
              <a:rPr lang="en-US" sz="1000">
                <a:solidFill>
                  <a:schemeClr val="accent5"/>
                </a:solidFill>
                <a:latin typeface="Courier New"/>
                <a:ea typeface="Courier New"/>
                <a:cs typeface="Courier New"/>
              </a:rPr>
              <a:t># train.py · load_word_corpus(): una cartella = una parola</a:t>
            </a:r>
            <a:endParaRPr lang="en-US" sz="1000"/>
          </a:p>
          <a:p>
            <a:pPr marL="0" indent="0">
              <a:buNone/>
            </a:pPr>
            <a:r>
              <a:rPr lang="en-US" sz="1000">
                <a:solidFill>
                  <a:srgbClr val="E6EDF3"/>
                </a:solidFill>
                <a:latin typeface="Courier New"/>
                <a:ea typeface="Courier New"/>
                <a:cs typeface="Courier New"/>
              </a:rPr>
              <a:t>for word_dir in sorted(...):</a:t>
            </a:r>
            <a:endParaRPr lang="en-US" sz="1000"/>
          </a:p>
          <a:p>
            <a:pPr marL="0" indent="0">
              <a:buNone/>
            </a:pPr>
            <a:r>
              <a:rPr lang="en-US" sz="1000">
                <a:solidFill>
                  <a:srgbClr val="E6EDF3"/>
                </a:solidFill>
                <a:latin typeface="Courier New"/>
                <a:ea typeface="Courier New"/>
                <a:cs typeface="Courier New"/>
              </a:rPr>
              <a:t>    for clip in clips:</a:t>
            </a:r>
            <a:endParaRPr lang="en-US" sz="1000"/>
          </a:p>
          <a:p>
            <a:pPr marL="0" indent="0">
              <a:buNone/>
            </a:pPr>
            <a:r>
              <a:rPr lang="en-US" sz="1000">
                <a:solidFill>
                  <a:srgbClr val="E6EDF3"/>
                </a:solidFill>
                <a:latin typeface="Courier New"/>
                <a:ea typeface="Courier New"/>
                <a:cs typeface="Courier New"/>
              </a:rPr>
              <a:t>        wave = load_audio(clip, rate=feature_config.rate)</a:t>
            </a:r>
            <a:endParaRPr lang="en-US" sz="1000"/>
          </a:p>
          <a:p>
            <a:pPr marL="0" indent="0">
              <a:buNone/>
            </a:pPr>
            <a:r>
              <a:rPr lang="en-US" sz="1000">
                <a:solidFill>
                  <a:srgbClr val="E6EDF3"/>
                </a:solidFill>
                <a:latin typeface="Courier New"/>
                <a:ea typeface="Courier New"/>
                <a:cs typeface="Courier New"/>
              </a:rPr>
              <a:t>        samples = trim_silence(wave.samples, wave.rate)</a:t>
            </a:r>
            <a:endParaRPr lang="en-US" sz="1000"/>
          </a:p>
          <a:p>
            <a:pPr marL="0" indent="0">
              <a:buNone/>
            </a:pPr>
            <a:r>
              <a:rPr lang="en-US" sz="1000">
                <a:solidFill>
                  <a:srgbClr val="E6EDF3"/>
                </a:solidFill>
                <a:latin typeface="Courier New"/>
                <a:ea typeface="Courier New"/>
                <a:cs typeface="Courier New"/>
              </a:rPr>
              <a:t>        f = mfcc(samples, feature_config)</a:t>
            </a:r>
            <a:endParaRPr lang="en-US" sz="1000"/>
          </a:p>
          <a:p>
            <a:pPr marL="0" indent="0">
              <a:buNone/>
            </a:pPr>
            <a:r>
              <a:rPr lang="en-US" sz="1000">
                <a:solidFill>
                  <a:srgbClr val="E6EDF3"/>
                </a:solidFill>
                <a:latin typeface="Courier New"/>
                <a:ea typeface="Courier New"/>
                <a:cs typeface="Courier New"/>
              </a:rPr>
              <a:t>    corpus[word_dir.name] = feats</a:t>
            </a:r>
            <a:endParaRPr lang="en-US" sz="1000"/>
          </a:p>
          <a:p>
            <a:pPr marL="0" indent="0">
              <a:buNone/>
            </a:pPr>
            <a:r>
              <a:rPr lang="en-US" sz="1000">
                <a:solidFill>
                  <a:srgbClr val="E6EDF3"/>
                </a:solidFill>
                <a:latin typeface="Courier New"/>
                <a:ea typeface="Courier New"/>
                <a:cs typeface="Courier New"/>
              </a:rPr>
              <a:t> </a:t>
            </a:r>
            <a:endParaRPr lang="en-US" sz="1000"/>
          </a:p>
          <a:p>
            <a:pPr marL="0" indent="0">
              <a:buNone/>
            </a:pPr>
            <a:r>
              <a:rPr lang="en-US" sz="1000">
                <a:solidFill>
                  <a:schemeClr val="accent5"/>
                </a:solidFill>
                <a:latin typeface="Courier New"/>
                <a:ea typeface="Courier New"/>
                <a:cs typeface="Courier New"/>
              </a:rPr>
              <a:t># train.py · train(): una taratura per tutti i clip</a:t>
            </a:r>
            <a:endParaRPr lang="en-US" sz="1000"/>
          </a:p>
          <a:p>
            <a:pPr marL="0" indent="0">
              <a:buNone/>
            </a:pPr>
            <a:r>
              <a:rPr lang="en-US" sz="1000">
                <a:solidFill>
                  <a:srgbClr val="E6EDF3"/>
                </a:solidFill>
                <a:latin typeface="Courier New"/>
                <a:ea typeface="Courier New"/>
                <a:cs typeface="Courier New"/>
              </a:rPr>
              <a:t>stats = estimate_stats([...])</a:t>
            </a:r>
            <a:endParaRPr lang="en-US" sz="1000"/>
          </a:p>
          <a:p>
            <a:pPr marL="0" indent="0">
              <a:buNone/>
            </a:pPr>
            <a:r>
              <a:rPr lang="en-US" sz="1000">
                <a:solidFill>
                  <a:srgbClr val="E6EDF3"/>
                </a:solidFill>
                <a:latin typeface="Courier New"/>
                <a:ea typeface="Courier New"/>
                <a:cs typeface="Courier New"/>
              </a:rPr>
              <a:t>corpus = {w: [apply_stats(f, stats) for f in feats] ...}</a:t>
            </a:r>
            <a:endParaRPr lang="en-US" sz="1000"/>
          </a:p>
          <a:p>
            <a:pPr marL="0" indent="0">
              <a:buNone/>
            </a:pPr>
            <a:r>
              <a:rPr lang="en-US" sz="1000">
                <a:solidFill>
                  <a:srgbClr val="E6EDF3"/>
                </a:solidFill>
                <a:latin typeface="Courier New"/>
                <a:ea typeface="Courier New"/>
                <a:cs typeface="Courier New"/>
              </a:rPr>
              <a:t> </a:t>
            </a:r>
            <a:endParaRPr lang="en-US" sz="1000"/>
          </a:p>
          <a:p>
            <a:pPr marL="0" indent="0">
              <a:buNone/>
            </a:pPr>
            <a:r>
              <a:rPr lang="en-US" sz="1000">
                <a:solidFill>
                  <a:schemeClr val="accent5"/>
                </a:solidFill>
                <a:latin typeface="Courier New"/>
                <a:ea typeface="Courier New"/>
                <a:cs typeface="Courier New"/>
              </a:rPr>
              <a:t># features.py · mfcc(): 25 ms ogni 10 ms -&gt; 39 numeri</a:t>
            </a:r>
            <a:endParaRPr lang="en-US" sz="1000"/>
          </a:p>
          <a:p>
            <a:pPr marL="0" indent="0">
              <a:buNone/>
            </a:pPr>
            <a:r>
              <a:rPr lang="en-US" sz="1000">
                <a:solidFill>
                  <a:srgbClr val="E6EDF3"/>
                </a:solidFill>
                <a:latin typeface="Courier New"/>
                <a:ea typeface="Courier New"/>
                <a:cs typeface="Courier New"/>
              </a:rPr>
              <a:t>frames = frame_signal(preemphasis(x, cfg.preemph), ...)</a:t>
            </a:r>
            <a:endParaRPr lang="en-US" sz="1000"/>
          </a:p>
          <a:p>
            <a:pPr marL="0" indent="0">
              <a:buNone/>
            </a:pPr>
            <a:r>
              <a:rPr lang="en-US" sz="1000">
                <a:solidFill>
                  <a:srgbClr val="E6EDF3"/>
                </a:solidFill>
                <a:latin typeface="Courier New"/>
                <a:ea typeface="Courier New"/>
                <a:cs typeface="Courier New"/>
              </a:rPr>
              <a:t>log_mel = np.log(mel_energy)               </a:t>
            </a:r>
            <a:r>
              <a:rPr lang="en-US" sz="1000">
                <a:solidFill>
                  <a:schemeClr val="accent5"/>
                </a:solidFill>
                <a:latin typeface="Courier New"/>
                <a:ea typeface="Courier New"/>
                <a:cs typeface="Courier New"/>
              </a:rPr>
              <a:t>  # scala mel</a:t>
            </a:r>
            <a:endParaRPr lang="en-US" sz="1000"/>
          </a:p>
          <a:p>
            <a:pPr marL="0" indent="0">
              <a:buNone/>
            </a:pPr>
            <a:r>
              <a:rPr lang="en-US" sz="1000">
                <a:solidFill>
                  <a:srgbClr val="E6EDF3"/>
                </a:solidFill>
                <a:latin typeface="Courier New"/>
                <a:ea typeface="Courier New"/>
                <a:cs typeface="Courier New"/>
              </a:rPr>
              <a:t>cepstra = dct(log_mel, ...)[:, : cfg.n_cepstra]</a:t>
            </a:r>
            <a:endParaRPr lang="en-US" sz="1000"/>
          </a:p>
          <a:p>
            <a:pPr marL="0" indent="0">
              <a:buNone/>
            </a:pPr>
            <a:r>
              <a:rPr lang="en-US" sz="1000">
                <a:solidFill>
                  <a:srgbClr val="E6EDF3"/>
                </a:solidFill>
                <a:latin typeface="Courier New"/>
                <a:ea typeface="Courier New"/>
                <a:cs typeface="Courier New"/>
              </a:rPr>
              <a:t>d1 = delta(cepstra)                        </a:t>
            </a:r>
            <a:r>
              <a:rPr lang="en-US" sz="1000">
                <a:solidFill>
                  <a:schemeClr val="accent5"/>
                </a:solidFill>
                <a:latin typeface="Courier New"/>
                <a:ea typeface="Courier New"/>
                <a:cs typeface="Courier New"/>
              </a:rPr>
              <a:t>  # come cambia</a:t>
            </a:r>
            <a:endParaRPr lang="en-US" sz="1000"/>
          </a:p>
        </p:txBody>
      </p:sp>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5D374AA8-8310-4FC9-8E61-808E79049FCE}"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Fase 3 · Un modello per ogni parola</a:t>
            </a:r>
            <a:endParaRPr lang="en-US" sz="3600"/>
          </a:p>
        </p:txBody>
      </p:sp>
      <p:sp>
        <p:nvSpPr>
          <p:cNvPr id="3" name="Badge"/>
          <p:cNvSpPr/>
          <p:nvPr/>
        </p:nvSpPr>
        <p:spPr>
          <a:xfrm>
            <a:off x="548640" y="1280160"/>
            <a:ext cx="384048" cy="384048"/>
          </a:xfrm>
          <a:prstGeom prst="ellipse">
            <a:avLst/>
          </a:prstGeom>
          <a:solidFill>
            <a:schemeClr val="accent1"/>
          </a:solidFill>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marL="0" indent="0" algn="ctr">
              <a:buNone/>
            </a:pPr>
            <a:r>
              <a:rPr lang="en-US" sz="1400" b="1">
                <a:solidFill>
                  <a:srgbClr val="FFFFFF"/>
                </a:solidFill>
              </a:rPr>
              <a:t>3</a:t>
            </a:r>
            <a:endParaRPr lang="en-US" sz="1400"/>
          </a:p>
        </p:txBody>
      </p:sp>
      <p:sp>
        <p:nvSpPr>
          <p:cNvPr id="5" name="Text 3"/>
          <p:cNvSpPr txBox="1"/>
          <p:nvPr/>
        </p:nvSpPr>
        <p:spPr>
          <a:xfrm>
            <a:off x="1051560" y="1344168"/>
            <a:ext cx="10058400" cy="274320"/>
          </a:xfrm>
          <a:prstGeom prst="rect">
            <a:avLst/>
          </a:prstGeom>
          <a:noFill/>
          <a:ln/>
        </p:spPr>
        <p:txBody>
          <a:bodyPr wrap="square" lIns="0" tIns="0" rIns="0" bIns="0" rtlCol="0" anchor="t"/>
          <a:lstStyle/>
          <a:p>
            <a:pPr marL="0" indent="0">
              <a:buNone/>
            </a:pPr>
            <a:r>
              <a:rPr lang="en-US" sz="1100" b="1" kern="0" spc="100">
                <a:solidFill>
                  <a:schemeClr val="tx2"/>
                </a:solidFill>
              </a:rPr>
              <a:t>train.py · hmm.py  →  purescribe_cv.psm</a:t>
            </a:r>
            <a:endParaRPr lang="en-US" sz="1100"/>
          </a:p>
        </p:txBody>
      </p:sp>
      <p:sp>
        <p:nvSpPr>
          <p:cNvPr id="6" name="Card"/>
          <p:cNvSpPr/>
          <p:nvPr/>
        </p:nvSpPr>
        <p:spPr>
          <a:xfrm>
            <a:off x="548640" y="1783080"/>
            <a:ext cx="5394960" cy="1920240"/>
          </a:xfrm>
          <a:prstGeom prst="roundRect">
            <a:avLst>
              <a:gd name="adj" fmla="val 3810"/>
            </a:avLst>
          </a:prstGeom>
          <a:solidFill>
            <a:schemeClr val="bg2"/>
          </a:solidFill>
          <a:ln/>
        </p:spPr>
      </p:sp>
      <p:sp>
        <p:nvSpPr>
          <p:cNvPr id="7" name="Text 5"/>
          <p:cNvSpPr txBox="1"/>
          <p:nvPr/>
        </p:nvSpPr>
        <p:spPr>
          <a:xfrm>
            <a:off x="777240" y="1901952"/>
            <a:ext cx="2743200" cy="274320"/>
          </a:xfrm>
          <a:prstGeom prst="rect">
            <a:avLst/>
          </a:prstGeom>
          <a:noFill/>
          <a:ln/>
        </p:spPr>
        <p:txBody>
          <a:bodyPr wrap="square" lIns="0" tIns="0" rIns="0" bIns="0" rtlCol="0" anchor="t"/>
          <a:lstStyle/>
          <a:p>
            <a:pPr marL="0" indent="0">
              <a:buNone/>
            </a:pPr>
            <a:r>
              <a:rPr lang="en-US" sz="1300" b="1">
                <a:solidFill>
                  <a:schemeClr val="tx2"/>
                </a:solidFill>
              </a:rPr>
              <a:t>una parola</a:t>
            </a:r>
            <a:endParaRPr lang="en-US" sz="1300"/>
          </a:p>
        </p:txBody>
      </p:sp>
      <p:sp>
        <p:nvSpPr>
          <p:cNvPr id="8" name="Shape 6"/>
          <p:cNvSpPr/>
          <p:nvPr/>
        </p:nvSpPr>
        <p:spPr>
          <a:xfrm>
            <a:off x="777240" y="2752344"/>
            <a:ext cx="429768" cy="0"/>
          </a:xfrm>
          <a:prstGeom prst="line">
            <a:avLst/>
          </a:prstGeom>
          <a:noFill/>
          <a:ln w="19050">
            <a:solidFill>
              <a:schemeClr val="tx2"/>
            </a:solidFill>
            <a:prstDash val="solid"/>
            <a:tailEnd type="triangle" w="med" len="med"/>
          </a:ln>
        </p:spPr>
      </p:sp>
      <p:sp>
        <p:nvSpPr>
          <p:cNvPr id="9" name="Tratto"/>
          <p:cNvSpPr/>
          <p:nvPr/>
        </p:nvSpPr>
        <p:spPr>
          <a:xfrm>
            <a:off x="1280160" y="2468880"/>
            <a:ext cx="566928" cy="566928"/>
          </a:xfrm>
          <a:prstGeom prst="ellipse">
            <a:avLst/>
          </a:prstGeom>
          <a:solidFill>
            <a:schemeClr val="accent1"/>
          </a:solidFill>
          <a:ln/>
        </p:spPr>
      </p:sp>
      <p:sp>
        <p:nvSpPr>
          <p:cNvPr id="10" name="Text 8"/>
          <p:cNvSpPr txBox="1"/>
          <p:nvPr/>
        </p:nvSpPr>
        <p:spPr>
          <a:xfrm>
            <a:off x="1280160" y="2468880"/>
            <a:ext cx="566928" cy="566928"/>
          </a:xfrm>
          <a:prstGeom prst="rect">
            <a:avLst/>
          </a:prstGeom>
          <a:noFill/>
          <a:ln/>
        </p:spPr>
        <p:txBody>
          <a:bodyPr wrap="square" lIns="0" tIns="0" rIns="0" bIns="0" rtlCol="0" anchor="ctr"/>
          <a:lstStyle/>
          <a:p>
            <a:pPr marL="0" indent="0" algn="ctr">
              <a:buNone/>
            </a:pPr>
            <a:r>
              <a:rPr lang="en-US" sz="1500" b="1">
                <a:solidFill>
                  <a:srgbClr val="FFFFFF"/>
                </a:solidFill>
              </a:rPr>
              <a:t>1</a:t>
            </a:r>
            <a:endParaRPr lang="en-US" sz="1500"/>
          </a:p>
        </p:txBody>
      </p:sp>
      <p:sp>
        <p:nvSpPr>
          <p:cNvPr id="11" name="Text 9"/>
          <p:cNvSpPr txBox="1"/>
          <p:nvPr/>
        </p:nvSpPr>
        <p:spPr>
          <a:xfrm>
            <a:off x="1097280" y="2139696"/>
            <a:ext cx="932688" cy="274320"/>
          </a:xfrm>
          <a:prstGeom prst="rect">
            <a:avLst/>
          </a:prstGeom>
          <a:noFill/>
          <a:ln/>
        </p:spPr>
        <p:txBody>
          <a:bodyPr wrap="square" lIns="0" tIns="0" rIns="0" bIns="0" rtlCol="0" anchor="t"/>
          <a:lstStyle/>
          <a:p>
            <a:pPr marL="0" indent="0" algn="ctr">
              <a:buNone/>
            </a:pPr>
            <a:r>
              <a:rPr lang="en-US" sz="1200">
                <a:solidFill>
                  <a:schemeClr val="tx2"/>
                </a:solidFill>
              </a:rPr>
              <a:t>↻ resta</a:t>
            </a:r>
            <a:endParaRPr lang="en-US" sz="1200"/>
          </a:p>
        </p:txBody>
      </p:sp>
      <p:sp>
        <p:nvSpPr>
          <p:cNvPr id="12" name="Shape 10"/>
          <p:cNvSpPr/>
          <p:nvPr/>
        </p:nvSpPr>
        <p:spPr>
          <a:xfrm>
            <a:off x="1892808" y="2752344"/>
            <a:ext cx="237744" cy="0"/>
          </a:xfrm>
          <a:prstGeom prst="line">
            <a:avLst/>
          </a:prstGeom>
          <a:noFill/>
          <a:ln w="19050">
            <a:solidFill>
              <a:schemeClr val="tx2"/>
            </a:solidFill>
            <a:prstDash val="solid"/>
            <a:tailEnd type="triangle" w="med" len="med"/>
          </a:ln>
        </p:spPr>
      </p:sp>
      <p:sp>
        <p:nvSpPr>
          <p:cNvPr id="13" name="Tratto"/>
          <p:cNvSpPr/>
          <p:nvPr/>
        </p:nvSpPr>
        <p:spPr>
          <a:xfrm>
            <a:off x="2176272" y="2468880"/>
            <a:ext cx="566928" cy="566928"/>
          </a:xfrm>
          <a:prstGeom prst="ellipse">
            <a:avLst/>
          </a:prstGeom>
          <a:solidFill>
            <a:schemeClr val="accent1"/>
          </a:solidFill>
          <a:ln/>
        </p:spPr>
      </p:sp>
      <p:sp>
        <p:nvSpPr>
          <p:cNvPr id="14" name="Text 12"/>
          <p:cNvSpPr txBox="1"/>
          <p:nvPr/>
        </p:nvSpPr>
        <p:spPr>
          <a:xfrm>
            <a:off x="2176272" y="2468880"/>
            <a:ext cx="566928" cy="566928"/>
          </a:xfrm>
          <a:prstGeom prst="rect">
            <a:avLst/>
          </a:prstGeom>
          <a:noFill/>
          <a:ln/>
        </p:spPr>
        <p:txBody>
          <a:bodyPr wrap="square" lIns="0" tIns="0" rIns="0" bIns="0" rtlCol="0" anchor="ctr"/>
          <a:lstStyle/>
          <a:p>
            <a:pPr marL="0" indent="0" algn="ctr">
              <a:buNone/>
            </a:pPr>
            <a:r>
              <a:rPr lang="en-US" sz="1500" b="1">
                <a:solidFill>
                  <a:srgbClr val="FFFFFF"/>
                </a:solidFill>
              </a:rPr>
              <a:t>2</a:t>
            </a:r>
            <a:endParaRPr lang="en-US" sz="1500"/>
          </a:p>
        </p:txBody>
      </p:sp>
      <p:sp>
        <p:nvSpPr>
          <p:cNvPr id="15" name="Text 13"/>
          <p:cNvSpPr txBox="1"/>
          <p:nvPr/>
        </p:nvSpPr>
        <p:spPr>
          <a:xfrm>
            <a:off x="1993392" y="2139696"/>
            <a:ext cx="932688" cy="274320"/>
          </a:xfrm>
          <a:prstGeom prst="rect">
            <a:avLst/>
          </a:prstGeom>
          <a:noFill/>
          <a:ln/>
        </p:spPr>
        <p:txBody>
          <a:bodyPr wrap="square" lIns="0" tIns="0" rIns="0" bIns="0" rtlCol="0" anchor="t"/>
          <a:lstStyle/>
          <a:p>
            <a:pPr marL="0" indent="0" algn="ctr">
              <a:buNone/>
            </a:pPr>
            <a:r>
              <a:rPr lang="en-US" sz="1200">
                <a:solidFill>
                  <a:schemeClr val="tx2"/>
                </a:solidFill>
              </a:rPr>
              <a:t>↻ resta</a:t>
            </a:r>
            <a:endParaRPr lang="en-US" sz="1200"/>
          </a:p>
        </p:txBody>
      </p:sp>
      <p:sp>
        <p:nvSpPr>
          <p:cNvPr id="16" name="Shape 14"/>
          <p:cNvSpPr/>
          <p:nvPr/>
        </p:nvSpPr>
        <p:spPr>
          <a:xfrm>
            <a:off x="2788920" y="2752344"/>
            <a:ext cx="237744" cy="0"/>
          </a:xfrm>
          <a:prstGeom prst="line">
            <a:avLst/>
          </a:prstGeom>
          <a:noFill/>
          <a:ln w="19050">
            <a:solidFill>
              <a:schemeClr val="tx2"/>
            </a:solidFill>
            <a:prstDash val="solid"/>
            <a:tailEnd type="triangle" w="med" len="med"/>
          </a:ln>
        </p:spPr>
      </p:sp>
      <p:sp>
        <p:nvSpPr>
          <p:cNvPr id="17" name="Tratto"/>
          <p:cNvSpPr/>
          <p:nvPr/>
        </p:nvSpPr>
        <p:spPr>
          <a:xfrm>
            <a:off x="3072384" y="2468880"/>
            <a:ext cx="566928" cy="566928"/>
          </a:xfrm>
          <a:prstGeom prst="ellipse">
            <a:avLst/>
          </a:prstGeom>
          <a:solidFill>
            <a:schemeClr val="accent1"/>
          </a:solidFill>
          <a:ln/>
        </p:spPr>
      </p:sp>
      <p:sp>
        <p:nvSpPr>
          <p:cNvPr id="18" name="Text 16"/>
          <p:cNvSpPr txBox="1"/>
          <p:nvPr/>
        </p:nvSpPr>
        <p:spPr>
          <a:xfrm>
            <a:off x="3072384" y="2468880"/>
            <a:ext cx="566928" cy="566928"/>
          </a:xfrm>
          <a:prstGeom prst="rect">
            <a:avLst/>
          </a:prstGeom>
          <a:noFill/>
          <a:ln/>
        </p:spPr>
        <p:txBody>
          <a:bodyPr wrap="square" lIns="0" tIns="0" rIns="0" bIns="0" rtlCol="0" anchor="ctr"/>
          <a:lstStyle/>
          <a:p>
            <a:pPr marL="0" indent="0" algn="ctr">
              <a:buNone/>
            </a:pPr>
            <a:r>
              <a:rPr lang="en-US" sz="1500" b="1">
                <a:solidFill>
                  <a:srgbClr val="FFFFFF"/>
                </a:solidFill>
              </a:rPr>
              <a:t>3</a:t>
            </a:r>
            <a:endParaRPr lang="en-US" sz="1500"/>
          </a:p>
        </p:txBody>
      </p:sp>
      <p:sp>
        <p:nvSpPr>
          <p:cNvPr id="19" name="Text 17"/>
          <p:cNvSpPr txBox="1"/>
          <p:nvPr/>
        </p:nvSpPr>
        <p:spPr>
          <a:xfrm>
            <a:off x="2889504" y="2139696"/>
            <a:ext cx="932688" cy="274320"/>
          </a:xfrm>
          <a:prstGeom prst="rect">
            <a:avLst/>
          </a:prstGeom>
          <a:noFill/>
          <a:ln/>
        </p:spPr>
        <p:txBody>
          <a:bodyPr wrap="square" lIns="0" tIns="0" rIns="0" bIns="0" rtlCol="0" anchor="t"/>
          <a:lstStyle/>
          <a:p>
            <a:pPr marL="0" indent="0" algn="ctr">
              <a:buNone/>
            </a:pPr>
            <a:r>
              <a:rPr lang="en-US" sz="1200">
                <a:solidFill>
                  <a:schemeClr val="tx2"/>
                </a:solidFill>
              </a:rPr>
              <a:t>↻ resta</a:t>
            </a:r>
            <a:endParaRPr lang="en-US" sz="1200"/>
          </a:p>
        </p:txBody>
      </p:sp>
      <p:sp>
        <p:nvSpPr>
          <p:cNvPr id="20" name="Shape 18"/>
          <p:cNvSpPr/>
          <p:nvPr/>
        </p:nvSpPr>
        <p:spPr>
          <a:xfrm>
            <a:off x="3685032" y="2752344"/>
            <a:ext cx="237744" cy="0"/>
          </a:xfrm>
          <a:prstGeom prst="line">
            <a:avLst/>
          </a:prstGeom>
          <a:noFill/>
          <a:ln w="19050">
            <a:solidFill>
              <a:schemeClr val="tx2"/>
            </a:solidFill>
            <a:prstDash val="solid"/>
            <a:tailEnd type="triangle" w="med" len="med"/>
          </a:ln>
        </p:spPr>
      </p:sp>
      <p:sp>
        <p:nvSpPr>
          <p:cNvPr id="21" name="Tratto"/>
          <p:cNvSpPr/>
          <p:nvPr/>
        </p:nvSpPr>
        <p:spPr>
          <a:xfrm>
            <a:off x="3968496" y="2468880"/>
            <a:ext cx="566928" cy="566928"/>
          </a:xfrm>
          <a:prstGeom prst="ellipse">
            <a:avLst/>
          </a:prstGeom>
          <a:solidFill>
            <a:schemeClr val="accent1"/>
          </a:solidFill>
          <a:ln/>
        </p:spPr>
      </p:sp>
      <p:sp>
        <p:nvSpPr>
          <p:cNvPr id="22" name="Text 20"/>
          <p:cNvSpPr txBox="1"/>
          <p:nvPr/>
        </p:nvSpPr>
        <p:spPr>
          <a:xfrm>
            <a:off x="3968496" y="2468880"/>
            <a:ext cx="566928" cy="566928"/>
          </a:xfrm>
          <a:prstGeom prst="rect">
            <a:avLst/>
          </a:prstGeom>
          <a:noFill/>
          <a:ln/>
        </p:spPr>
        <p:txBody>
          <a:bodyPr wrap="square" lIns="0" tIns="0" rIns="0" bIns="0" rtlCol="0" anchor="ctr"/>
          <a:lstStyle/>
          <a:p>
            <a:pPr marL="0" indent="0" algn="ctr">
              <a:buNone/>
            </a:pPr>
            <a:r>
              <a:rPr lang="en-US" sz="1500" b="1">
                <a:solidFill>
                  <a:srgbClr val="FFFFFF"/>
                </a:solidFill>
              </a:rPr>
              <a:t>4</a:t>
            </a:r>
            <a:endParaRPr lang="en-US" sz="1500"/>
          </a:p>
        </p:txBody>
      </p:sp>
      <p:sp>
        <p:nvSpPr>
          <p:cNvPr id="23" name="Text 21"/>
          <p:cNvSpPr txBox="1"/>
          <p:nvPr/>
        </p:nvSpPr>
        <p:spPr>
          <a:xfrm>
            <a:off x="3785616" y="2139696"/>
            <a:ext cx="932688" cy="274320"/>
          </a:xfrm>
          <a:prstGeom prst="rect">
            <a:avLst/>
          </a:prstGeom>
          <a:noFill/>
          <a:ln/>
        </p:spPr>
        <p:txBody>
          <a:bodyPr wrap="square" lIns="0" tIns="0" rIns="0" bIns="0" rtlCol="0" anchor="t"/>
          <a:lstStyle/>
          <a:p>
            <a:pPr marL="0" indent="0" algn="ctr">
              <a:buNone/>
            </a:pPr>
            <a:r>
              <a:rPr lang="en-US" sz="1200">
                <a:solidFill>
                  <a:schemeClr val="tx2"/>
                </a:solidFill>
              </a:rPr>
              <a:t>↻ resta</a:t>
            </a:r>
            <a:endParaRPr lang="en-US" sz="1200"/>
          </a:p>
        </p:txBody>
      </p:sp>
      <p:sp>
        <p:nvSpPr>
          <p:cNvPr id="24" name="Shape 22"/>
          <p:cNvSpPr/>
          <p:nvPr/>
        </p:nvSpPr>
        <p:spPr>
          <a:xfrm>
            <a:off x="4581144" y="2752344"/>
            <a:ext cx="237744" cy="0"/>
          </a:xfrm>
          <a:prstGeom prst="line">
            <a:avLst/>
          </a:prstGeom>
          <a:noFill/>
          <a:ln w="19050">
            <a:solidFill>
              <a:schemeClr val="tx2"/>
            </a:solidFill>
            <a:prstDash val="solid"/>
            <a:tailEnd type="triangle" w="med" len="med"/>
          </a:ln>
        </p:spPr>
      </p:sp>
      <p:sp>
        <p:nvSpPr>
          <p:cNvPr id="25" name="Tratto"/>
          <p:cNvSpPr/>
          <p:nvPr/>
        </p:nvSpPr>
        <p:spPr>
          <a:xfrm>
            <a:off x="4864608" y="2468880"/>
            <a:ext cx="566928" cy="566928"/>
          </a:xfrm>
          <a:prstGeom prst="ellipse">
            <a:avLst/>
          </a:prstGeom>
          <a:solidFill>
            <a:schemeClr val="accent1"/>
          </a:solidFill>
          <a:ln/>
        </p:spPr>
      </p:sp>
      <p:sp>
        <p:nvSpPr>
          <p:cNvPr id="26" name="Text 24"/>
          <p:cNvSpPr txBox="1"/>
          <p:nvPr/>
        </p:nvSpPr>
        <p:spPr>
          <a:xfrm>
            <a:off x="4864608" y="2468880"/>
            <a:ext cx="566928" cy="566928"/>
          </a:xfrm>
          <a:prstGeom prst="rect">
            <a:avLst/>
          </a:prstGeom>
          <a:noFill/>
          <a:ln/>
        </p:spPr>
        <p:txBody>
          <a:bodyPr wrap="square" lIns="0" tIns="0" rIns="0" bIns="0" rtlCol="0" anchor="ctr"/>
          <a:lstStyle/>
          <a:p>
            <a:pPr marL="0" indent="0" algn="ctr">
              <a:buNone/>
            </a:pPr>
            <a:r>
              <a:rPr lang="en-US" sz="1500" b="1">
                <a:solidFill>
                  <a:srgbClr val="FFFFFF"/>
                </a:solidFill>
              </a:rPr>
              <a:t>5</a:t>
            </a:r>
            <a:endParaRPr lang="en-US" sz="1500"/>
          </a:p>
        </p:txBody>
      </p:sp>
      <p:sp>
        <p:nvSpPr>
          <p:cNvPr id="27" name="Text 25"/>
          <p:cNvSpPr txBox="1"/>
          <p:nvPr/>
        </p:nvSpPr>
        <p:spPr>
          <a:xfrm>
            <a:off x="4681728" y="2139696"/>
            <a:ext cx="932688" cy="274320"/>
          </a:xfrm>
          <a:prstGeom prst="rect">
            <a:avLst/>
          </a:prstGeom>
          <a:noFill/>
          <a:ln/>
        </p:spPr>
        <p:txBody>
          <a:bodyPr wrap="square" lIns="0" tIns="0" rIns="0" bIns="0" rtlCol="0" anchor="t"/>
          <a:lstStyle/>
          <a:p>
            <a:pPr marL="0" indent="0" algn="ctr">
              <a:buNone/>
            </a:pPr>
            <a:r>
              <a:rPr lang="en-US" sz="1200">
                <a:solidFill>
                  <a:schemeClr val="tx2"/>
                </a:solidFill>
              </a:rPr>
              <a:t>↻ resta</a:t>
            </a:r>
            <a:endParaRPr lang="en-US" sz="1200"/>
          </a:p>
        </p:txBody>
      </p:sp>
      <p:sp>
        <p:nvSpPr>
          <p:cNvPr id="28" name="Shape 26"/>
          <p:cNvSpPr/>
          <p:nvPr/>
        </p:nvSpPr>
        <p:spPr>
          <a:xfrm>
            <a:off x="5477256" y="2752344"/>
            <a:ext cx="320040" cy="0"/>
          </a:xfrm>
          <a:prstGeom prst="line">
            <a:avLst/>
          </a:prstGeom>
          <a:noFill/>
          <a:ln w="19050">
            <a:solidFill>
              <a:schemeClr val="tx2"/>
            </a:solidFill>
            <a:prstDash val="solid"/>
            <a:tailEnd type="triangle" w="med" len="med"/>
          </a:ln>
        </p:spPr>
      </p:sp>
      <p:sp>
        <p:nvSpPr>
          <p:cNvPr id="29" name="Text 27"/>
          <p:cNvSpPr txBox="1"/>
          <p:nvPr/>
        </p:nvSpPr>
        <p:spPr>
          <a:xfrm>
            <a:off x="777240" y="3246120"/>
            <a:ext cx="4937760" cy="274320"/>
          </a:xfrm>
          <a:prstGeom prst="rect">
            <a:avLst/>
          </a:prstGeom>
          <a:noFill/>
          <a:ln/>
        </p:spPr>
        <p:txBody>
          <a:bodyPr wrap="square" lIns="0" tIns="0" rIns="0" bIns="0" rtlCol="0" anchor="t"/>
          <a:lstStyle/>
          <a:p>
            <a:pPr marL="0" indent="0">
              <a:buNone/>
            </a:pPr>
            <a:r>
              <a:rPr lang="en-US" sz="1300" i="1">
                <a:solidFill>
                  <a:schemeClr val="tx2"/>
                </a:solidFill>
              </a:rPr>
              <a:t>i tratti si percorrono in ordine, senza tornare indietro</a:t>
            </a:r>
            <a:endParaRPr lang="en-US" sz="1300"/>
          </a:p>
        </p:txBody>
      </p:sp>
      <p:sp>
        <p:nvSpPr>
          <p:cNvPr id="30" name="Codice"/>
          <p:cNvSpPr/>
          <p:nvPr/>
        </p:nvSpPr>
        <p:spPr>
          <a:xfrm>
            <a:off x="6355080" y="1783080"/>
            <a:ext cx="5285232" cy="1920240"/>
          </a:xfrm>
          <a:prstGeom prst="roundRect">
            <a:avLst>
              <a:gd name="adj" fmla="val 3810"/>
            </a:avLst>
          </a:prstGeom>
          <a:solidFill>
            <a:schemeClr val="tx1"/>
          </a:solidFill>
          <a:ln/>
        </p:spPr>
      </p:sp>
      <p:sp>
        <p:nvSpPr>
          <p:cNvPr id="31" name="Text 29"/>
          <p:cNvSpPr txBox="1"/>
          <p:nvPr/>
        </p:nvSpPr>
        <p:spPr>
          <a:xfrm>
            <a:off x="6556248" y="1947672"/>
            <a:ext cx="4882896" cy="1591056"/>
          </a:xfrm>
          <a:prstGeom prst="rect">
            <a:avLst/>
          </a:prstGeom>
          <a:noFill/>
          <a:ln/>
        </p:spPr>
        <p:txBody>
          <a:bodyPr wrap="square" lIns="0" tIns="0" rIns="0" bIns="0" rtlCol="0" anchor="ctr"/>
          <a:lstStyle/>
          <a:p>
            <a:pPr marL="0" indent="0">
              <a:buNone/>
            </a:pPr>
            <a:r>
              <a:rPr lang="en-US" sz="950">
                <a:solidFill>
                  <a:schemeClr val="accent5"/>
                </a:solidFill>
                <a:latin typeface="Courier New"/>
                <a:ea typeface="Courier New"/>
                <a:cs typeface="Courier New"/>
              </a:rPr>
              <a:t># train.py · train()</a:t>
            </a:r>
            <a:endParaRPr lang="en-US" sz="950"/>
          </a:p>
          <a:p>
            <a:pPr marL="0" indent="0">
              <a:buNone/>
            </a:pPr>
            <a:r>
              <a:rPr lang="en-US" sz="950">
                <a:solidFill>
                  <a:srgbClr val="E6EDF3"/>
                </a:solidFill>
                <a:latin typeface="Courier New"/>
                <a:ea typeface="Courier New"/>
                <a:cs typeface="Courier New"/>
              </a:rPr>
              <a:t>for word in sorted(corpus):</a:t>
            </a:r>
            <a:endParaRPr lang="en-US" sz="950"/>
          </a:p>
          <a:p>
            <a:pPr marL="0" indent="0">
              <a:buNone/>
            </a:pPr>
            <a:r>
              <a:rPr lang="en-US" sz="950">
                <a:solidFill>
                  <a:srgbClr val="E6EDF3"/>
                </a:solidFill>
                <a:latin typeface="Courier New"/>
                <a:ea typeface="Courier New"/>
                <a:cs typeface="Courier New"/>
              </a:rPr>
              <a:t>    n_states = choose_n_states(feats, tcfg)</a:t>
            </a:r>
            <a:r>
              <a:rPr lang="en-US" sz="950">
                <a:solidFill>
                  <a:schemeClr val="accent5"/>
                </a:solidFill>
                <a:latin typeface="Courier New"/>
                <a:ea typeface="Courier New"/>
                <a:cs typeface="Courier New"/>
              </a:rPr>
              <a:t>  # tratti</a:t>
            </a:r>
            <a:endParaRPr lang="en-US" sz="950"/>
          </a:p>
          <a:p>
            <a:pPr marL="0" indent="0">
              <a:buNone/>
            </a:pPr>
            <a:r>
              <a:rPr lang="en-US" sz="950">
                <a:solidFill>
                  <a:srgbClr val="E6EDF3"/>
                </a:solidFill>
                <a:latin typeface="Courier New"/>
                <a:ea typeface="Courier New"/>
                <a:cs typeface="Courier New"/>
              </a:rPr>
              <a:t>    model = HMM(n_states, dim, tcfg.n_mixtures, name=word, ...)</a:t>
            </a:r>
            <a:endParaRPr lang="en-US" sz="950"/>
          </a:p>
          <a:p>
            <a:pPr marL="0" indent="0">
              <a:buNone/>
            </a:pPr>
            <a:r>
              <a:rPr lang="en-US" sz="950">
                <a:solidFill>
                  <a:srgbClr val="E6EDF3"/>
                </a:solidFill>
                <a:latin typeface="Courier New"/>
                <a:ea typeface="Courier New"/>
                <a:cs typeface="Courier New"/>
              </a:rPr>
              <a:t>    model.fit(feats, n_iter=tcfg.iterations, method=tcfg.method)</a:t>
            </a:r>
            <a:endParaRPr lang="en-US" sz="950"/>
          </a:p>
          <a:p>
            <a:pPr marL="0" indent="0">
              <a:buNone/>
            </a:pPr>
            <a:r>
              <a:rPr lang="en-US" sz="950">
                <a:solidFill>
                  <a:schemeClr val="accent5"/>
                </a:solidFill>
                <a:latin typeface="Courier New"/>
                <a:ea typeface="Courier New"/>
                <a:cs typeface="Courier New"/>
              </a:rPr>
              <a:t># cli.py: scrive in una cartella temporanea, poi rinomina</a:t>
            </a:r>
            <a:endParaRPr lang="en-US" sz="950"/>
          </a:p>
          <a:p>
            <a:pPr marL="0" indent="0">
              <a:buNone/>
            </a:pPr>
            <a:r>
              <a:rPr lang="en-US" sz="950">
                <a:solidFill>
                  <a:srgbClr val="E6EDF3"/>
                </a:solidFill>
                <a:latin typeface="Courier New"/>
                <a:ea typeface="Courier New"/>
                <a:cs typeface="Courier New"/>
              </a:rPr>
              <a:t>staged = rec.save(Path(staging) / "model.psm")</a:t>
            </a:r>
            <a:endParaRPr lang="en-US" sz="950"/>
          </a:p>
          <a:p>
            <a:pPr marL="0" indent="0">
              <a:buNone/>
            </a:pPr>
            <a:r>
              <a:rPr lang="en-US" sz="950">
                <a:solidFill>
                  <a:srgbClr val="E6EDF3"/>
                </a:solidFill>
                <a:latin typeface="Courier New"/>
                <a:ea typeface="Courier New"/>
                <a:cs typeface="Courier New"/>
              </a:rPr>
              <a:t>staged.rename(out)</a:t>
            </a:r>
            <a:endParaRPr lang="en-US" sz="950"/>
          </a:p>
        </p:txBody>
      </p:sp>
      <p:sp>
        <p:nvSpPr>
          <p:cNvPr id="32" name="Card"/>
          <p:cNvSpPr/>
          <p:nvPr/>
        </p:nvSpPr>
        <p:spPr>
          <a:xfrm>
            <a:off x="548640" y="3931920"/>
            <a:ext cx="3557016" cy="2194560"/>
          </a:xfrm>
          <a:prstGeom prst="roundRect">
            <a:avLst>
              <a:gd name="adj" fmla="val 3333"/>
            </a:avLst>
          </a:prstGeom>
          <a:solidFill>
            <a:schemeClr val="bg2"/>
          </a:solidFill>
          <a:ln/>
        </p:spPr>
      </p:sp>
      <p:sp>
        <p:nvSpPr>
          <p:cNvPr id="33" name="Text 31"/>
          <p:cNvSpPr txBox="1"/>
          <p:nvPr/>
        </p:nvSpPr>
        <p:spPr>
          <a:xfrm>
            <a:off x="731520" y="4114800"/>
            <a:ext cx="3191256" cy="1828800"/>
          </a:xfrm>
          <a:prstGeom prst="rect">
            <a:avLst/>
          </a:prstGeom>
          <a:noFill/>
          <a:ln/>
        </p:spPr>
        <p:txBody>
          <a:bodyPr wrap="square" lIns="0" tIns="0" rIns="0" bIns="0" rtlCol="0" anchor="t"/>
          <a:lstStyle/>
          <a:p>
            <a:pPr marL="0" indent="0">
              <a:spcAft>
                <a:spcPts val="400"/>
              </a:spcAft>
              <a:buNone/>
            </a:pPr>
            <a:r>
              <a:rPr lang="en-US" sz="1600" b="1">
                <a:solidFill>
                  <a:schemeClr val="tx1"/>
                </a:solidFill>
              </a:rPr>
              <a:t>Una catena di tratti</a:t>
            </a:r>
            <a:endParaRPr lang="en-US" sz="1400"/>
          </a:p>
          <a:p>
            <a:pPr marL="0" indent="0">
              <a:spcAft>
                <a:spcPts val="400"/>
              </a:spcAft>
              <a:buNone/>
            </a:pPr>
            <a:r>
              <a:rPr lang="en-US" sz="1400">
                <a:solidFill>
                  <a:schemeClr val="tx2"/>
                </a:solidFill>
              </a:rPr>
              <a:t>Ogni parola è una sequenza di tratti di suono; in ognuno si resta finché il suono dura, così va bene sia chi parla piano sia chi parla in fretta. Le parole lunghe hanno più tratti.</a:t>
            </a:r>
            <a:endParaRPr lang="en-US" sz="1400"/>
          </a:p>
        </p:txBody>
      </p:sp>
      <p:sp>
        <p:nvSpPr>
          <p:cNvPr id="34" name="Card"/>
          <p:cNvSpPr/>
          <p:nvPr/>
        </p:nvSpPr>
        <p:spPr>
          <a:xfrm>
            <a:off x="4306824" y="3931920"/>
            <a:ext cx="3557016" cy="2194560"/>
          </a:xfrm>
          <a:prstGeom prst="roundRect">
            <a:avLst>
              <a:gd name="adj" fmla="val 3333"/>
            </a:avLst>
          </a:prstGeom>
          <a:solidFill>
            <a:schemeClr val="bg2"/>
          </a:solidFill>
          <a:ln/>
        </p:spPr>
      </p:sp>
      <p:sp>
        <p:nvSpPr>
          <p:cNvPr id="35" name="Text 33"/>
          <p:cNvSpPr txBox="1"/>
          <p:nvPr/>
        </p:nvSpPr>
        <p:spPr>
          <a:xfrm>
            <a:off x="4489704" y="4114800"/>
            <a:ext cx="3191256" cy="1828800"/>
          </a:xfrm>
          <a:prstGeom prst="rect">
            <a:avLst/>
          </a:prstGeom>
          <a:noFill/>
          <a:ln/>
        </p:spPr>
        <p:txBody>
          <a:bodyPr wrap="square" lIns="0" tIns="0" rIns="0" bIns="0" rtlCol="0" anchor="t"/>
          <a:lstStyle/>
          <a:p>
            <a:pPr marL="0" indent="0">
              <a:spcAft>
                <a:spcPts val="400"/>
              </a:spcAft>
              <a:buNone/>
            </a:pPr>
            <a:r>
              <a:rPr lang="en-US" sz="1600" b="1">
                <a:solidFill>
                  <a:schemeClr val="tx1"/>
                </a:solidFill>
              </a:rPr>
              <a:t>Impara correggendosi</a:t>
            </a:r>
            <a:endParaRPr lang="en-US" sz="1400"/>
          </a:p>
          <a:p>
            <a:pPr marL="0" indent="0">
              <a:spcAft>
                <a:spcPts val="400"/>
              </a:spcAft>
              <a:buNone/>
            </a:pPr>
            <a:r>
              <a:rPr lang="en-US" sz="1400">
                <a:solidFill>
                  <a:schemeClr val="tx2"/>
                </a:solidFill>
              </a:rPr>
              <a:t>Prima divide ogni esempio in parti uguali, una per tratto; poi riallinea gli esempi, ricalcola come suona ogni tratto e ripete, al massimo 10 volte.</a:t>
            </a:r>
            <a:endParaRPr lang="en-US" sz="1400"/>
          </a:p>
        </p:txBody>
      </p:sp>
      <p:sp>
        <p:nvSpPr>
          <p:cNvPr id="36" name="Card"/>
          <p:cNvSpPr/>
          <p:nvPr/>
        </p:nvSpPr>
        <p:spPr>
          <a:xfrm>
            <a:off x="8065008" y="3931920"/>
            <a:ext cx="3557016" cy="2194560"/>
          </a:xfrm>
          <a:prstGeom prst="roundRect">
            <a:avLst>
              <a:gd name="adj" fmla="val 3333"/>
            </a:avLst>
          </a:prstGeom>
          <a:solidFill>
            <a:srgbClr val="FFFFFF"/>
          </a:solidFill>
          <a:ln w="19050">
            <a:solidFill>
              <a:schemeClr val="accent1"/>
            </a:solidFill>
            <a:prstDash val="solid"/>
          </a:ln>
        </p:spPr>
      </p:sp>
      <p:sp>
        <p:nvSpPr>
          <p:cNvPr id="37" name="Text 35"/>
          <p:cNvSpPr txBox="1"/>
          <p:nvPr/>
        </p:nvSpPr>
        <p:spPr>
          <a:xfrm>
            <a:off x="8247888" y="4114800"/>
            <a:ext cx="3191256" cy="1828800"/>
          </a:xfrm>
          <a:prstGeom prst="rect">
            <a:avLst/>
          </a:prstGeom>
          <a:noFill/>
          <a:ln/>
        </p:spPr>
        <p:txBody>
          <a:bodyPr wrap="square" lIns="0" tIns="0" rIns="0" bIns="0" rtlCol="0" anchor="t"/>
          <a:lstStyle/>
          <a:p>
            <a:pPr marL="0" indent="0">
              <a:spcAft>
                <a:spcPts val="400"/>
              </a:spcAft>
              <a:buNone/>
            </a:pPr>
            <a:r>
              <a:rPr lang="en-US" sz="1600" b="1">
                <a:solidFill>
                  <a:schemeClr val="accent1"/>
                </a:solidFill>
              </a:rPr>
              <a:t>Il risultato: purescribe_cv.psm</a:t>
            </a:r>
            <a:endParaRPr lang="en-US" sz="1400"/>
          </a:p>
          <a:p>
            <a:pPr marL="0" indent="0">
              <a:spcAft>
                <a:spcPts val="400"/>
              </a:spcAft>
              <a:buNone/>
            </a:pPr>
            <a:r>
              <a:rPr lang="en-US" sz="1400">
                <a:solidFill>
                  <a:schemeClr val="tx2"/>
                </a:solidFill>
              </a:rPr>
              <a:t>Il modello usato nella valutazione conosce 1676 parole più il silenzio. Il file contiene anche le impostazioni di ascolto e di ricerca.</a:t>
            </a:r>
            <a:endParaRPr lang="en-US" sz="1400"/>
          </a:p>
        </p:txBody>
      </p:sp>
      <p:sp>
        <p:nvSpPr>
          <p:cNvPr id="5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9FD5AD5D-00E4-4746-836B-F0EA3C4886F1}"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Fase 5 · Trascrivere i video DeepSpeak</a:t>
            </a:r>
            <a:endParaRPr lang="en-US" sz="3600"/>
          </a:p>
        </p:txBody>
      </p:sp>
      <p:sp>
        <p:nvSpPr>
          <p:cNvPr id="3" name="Badge"/>
          <p:cNvSpPr/>
          <p:nvPr/>
        </p:nvSpPr>
        <p:spPr>
          <a:xfrm>
            <a:off x="548640" y="1280160"/>
            <a:ext cx="384048" cy="384048"/>
          </a:xfrm>
          <a:prstGeom prst="ellipse">
            <a:avLst/>
          </a:prstGeom>
          <a:solidFill>
            <a:schemeClr val="accent1"/>
          </a:solidFill>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marL="0" indent="0" algn="ctr">
              <a:buNone/>
            </a:pPr>
            <a:r>
              <a:rPr lang="en-US" sz="1400" b="1">
                <a:solidFill>
                  <a:srgbClr val="FFFFFF"/>
                </a:solidFill>
              </a:rPr>
              <a:t>5</a:t>
            </a:r>
            <a:endParaRPr lang="en-US" sz="1400"/>
          </a:p>
        </p:txBody>
      </p:sp>
      <p:sp>
        <p:nvSpPr>
          <p:cNvPr id="5" name="Text 3"/>
          <p:cNvSpPr txBox="1"/>
          <p:nvPr/>
        </p:nvSpPr>
        <p:spPr>
          <a:xfrm>
            <a:off x="1051560" y="1344168"/>
            <a:ext cx="10058400" cy="274320"/>
          </a:xfrm>
          <a:prstGeom prst="rect">
            <a:avLst/>
          </a:prstGeom>
          <a:noFill/>
          <a:ln/>
        </p:spPr>
        <p:txBody>
          <a:bodyPr wrap="square" lIns="0" tIns="0" rIns="0" bIns="0" rtlCol="0" anchor="t"/>
          <a:lstStyle/>
          <a:p>
            <a:pPr marL="0" indent="0">
              <a:buNone/>
            </a:pPr>
            <a:r>
              <a:rPr lang="en-US" sz="1100" b="1" kern="0" spc="100">
                <a:solidFill>
                  <a:schemeClr val="tx2"/>
                </a:solidFill>
              </a:rPr>
              <a:t>lost_in_translation.py transcribe  ·  nessun Whisper</a:t>
            </a:r>
            <a:endParaRPr lang="en-US" sz="1100"/>
          </a:p>
        </p:txBody>
      </p:sp>
      <p:sp>
        <p:nvSpPr>
          <p:cNvPr id="6" name="Card"/>
          <p:cNvSpPr/>
          <p:nvPr/>
        </p:nvSpPr>
        <p:spPr>
          <a:xfrm>
            <a:off x="548640" y="1783080"/>
            <a:ext cx="5394960" cy="896112"/>
          </a:xfrm>
          <a:prstGeom prst="roundRect">
            <a:avLst>
              <a:gd name="adj" fmla="val 8163"/>
            </a:avLst>
          </a:prstGeom>
          <a:solidFill>
            <a:schemeClr val="bg2"/>
          </a:solidFill>
          <a:ln/>
        </p:spPr>
      </p:sp>
      <p:sp>
        <p:nvSpPr>
          <p:cNvPr id="7" name="Badge"/>
          <p:cNvSpPr/>
          <p:nvPr/>
        </p:nvSpPr>
        <p:spPr>
          <a:xfrm>
            <a:off x="731520" y="2020824"/>
            <a:ext cx="411480" cy="411480"/>
          </a:xfrm>
          <a:prstGeom prst="ellipse">
            <a:avLst/>
          </a:prstGeom>
          <a:solidFill>
            <a:schemeClr val="accent1"/>
          </a:solidFill>
          <a:ln/>
        </p:spPr>
      </p:sp>
      <p:sp>
        <p:nvSpPr>
          <p:cNvPr id="8" name="Text 6"/>
          <p:cNvSpPr txBox="1"/>
          <p:nvPr/>
        </p:nvSpPr>
        <p:spPr>
          <a:xfrm>
            <a:off x="731520" y="2020824"/>
            <a:ext cx="411480" cy="411480"/>
          </a:xfrm>
          <a:prstGeom prst="rect">
            <a:avLst/>
          </a:prstGeom>
          <a:noFill/>
          <a:ln/>
        </p:spPr>
        <p:txBody>
          <a:bodyPr wrap="square" lIns="0" tIns="0" rIns="0" bIns="0" rtlCol="0" anchor="ctr"/>
          <a:lstStyle/>
          <a:p>
            <a:pPr marL="0" indent="0" algn="ctr">
              <a:buNone/>
            </a:pPr>
            <a:r>
              <a:rPr lang="en-US" sz="1300" b="1">
                <a:solidFill>
                  <a:srgbClr val="FFFFFF"/>
                </a:solidFill>
              </a:rPr>
              <a:t>1</a:t>
            </a:r>
            <a:endParaRPr lang="en-US" sz="1300"/>
          </a:p>
        </p:txBody>
      </p:sp>
      <p:sp>
        <p:nvSpPr>
          <p:cNvPr id="9" name="Text 7"/>
          <p:cNvSpPr txBox="1"/>
          <p:nvPr/>
        </p:nvSpPr>
        <p:spPr>
          <a:xfrm>
            <a:off x="1325880" y="1783080"/>
            <a:ext cx="4480560" cy="896112"/>
          </a:xfrm>
          <a:prstGeom prst="rect">
            <a:avLst/>
          </a:prstGeom>
          <a:noFill/>
          <a:ln/>
        </p:spPr>
        <p:txBody>
          <a:bodyPr wrap="square" lIns="0" tIns="0" rIns="0" bIns="0" rtlCol="0" anchor="ctr"/>
          <a:lstStyle/>
          <a:p>
            <a:pPr marL="0" indent="0">
              <a:buNone/>
            </a:pPr>
            <a:r>
              <a:rPr lang="en-US" sz="1500" b="1">
                <a:solidFill>
                  <a:schemeClr val="tx1"/>
                </a:solidFill>
              </a:rPr>
              <a:t>Quali video</a:t>
            </a:r>
            <a:endParaRPr lang="en-US" sz="1400"/>
          </a:p>
          <a:p>
            <a:pPr marL="0" indent="0">
              <a:buNone/>
            </a:pPr>
            <a:r>
              <a:rPr lang="en-US" sz="1300">
                <a:solidFill>
                  <a:schemeClr val="tx2"/>
                </a:solidFill>
              </a:rPr>
              <a:t>Quelli che la baseline aveva trascritto in entrambi i rami: dai suoi file si leggono solo i nomi, cercati poi in D:\DeepSpeak\test.</a:t>
            </a:r>
            <a:endParaRPr lang="en-US" sz="1400"/>
          </a:p>
        </p:txBody>
      </p:sp>
      <p:sp>
        <p:nvSpPr>
          <p:cNvPr id="10" name="Card"/>
          <p:cNvSpPr/>
          <p:nvPr/>
        </p:nvSpPr>
        <p:spPr>
          <a:xfrm>
            <a:off x="548640" y="2816352"/>
            <a:ext cx="5394960" cy="896112"/>
          </a:xfrm>
          <a:prstGeom prst="roundRect">
            <a:avLst>
              <a:gd name="adj" fmla="val 8163"/>
            </a:avLst>
          </a:prstGeom>
          <a:solidFill>
            <a:schemeClr val="bg2"/>
          </a:solidFill>
          <a:ln/>
        </p:spPr>
      </p:sp>
      <p:sp>
        <p:nvSpPr>
          <p:cNvPr id="11" name="Badge"/>
          <p:cNvSpPr/>
          <p:nvPr/>
        </p:nvSpPr>
        <p:spPr>
          <a:xfrm>
            <a:off x="731520" y="3054096"/>
            <a:ext cx="411480" cy="411480"/>
          </a:xfrm>
          <a:prstGeom prst="ellipse">
            <a:avLst/>
          </a:prstGeom>
          <a:solidFill>
            <a:schemeClr val="accent1"/>
          </a:solidFill>
          <a:ln/>
        </p:spPr>
      </p:sp>
      <p:sp>
        <p:nvSpPr>
          <p:cNvPr id="12" name="Text 10"/>
          <p:cNvSpPr txBox="1"/>
          <p:nvPr/>
        </p:nvSpPr>
        <p:spPr>
          <a:xfrm>
            <a:off x="731520" y="3054096"/>
            <a:ext cx="411480" cy="411480"/>
          </a:xfrm>
          <a:prstGeom prst="rect">
            <a:avLst/>
          </a:prstGeom>
          <a:noFill/>
          <a:ln/>
        </p:spPr>
        <p:txBody>
          <a:bodyPr wrap="square" lIns="0" tIns="0" rIns="0" bIns="0" rtlCol="0" anchor="ctr"/>
          <a:lstStyle/>
          <a:p>
            <a:pPr marL="0" indent="0" algn="ctr">
              <a:buNone/>
            </a:pPr>
            <a:r>
              <a:rPr lang="en-US" sz="1300" b="1">
                <a:solidFill>
                  <a:srgbClr val="FFFFFF"/>
                </a:solidFill>
              </a:rPr>
              <a:t>2</a:t>
            </a:r>
            <a:endParaRPr lang="en-US" sz="1300"/>
          </a:p>
        </p:txBody>
      </p:sp>
      <p:sp>
        <p:nvSpPr>
          <p:cNvPr id="13" name="Text 11"/>
          <p:cNvSpPr txBox="1"/>
          <p:nvPr/>
        </p:nvSpPr>
        <p:spPr>
          <a:xfrm>
            <a:off x="1325880" y="2816352"/>
            <a:ext cx="4480560" cy="896112"/>
          </a:xfrm>
          <a:prstGeom prst="rect">
            <a:avLst/>
          </a:prstGeom>
          <a:noFill/>
          <a:ln/>
        </p:spPr>
        <p:txBody>
          <a:bodyPr wrap="square" lIns="0" tIns="0" rIns="0" bIns="0" rtlCol="0" anchor="ctr"/>
          <a:lstStyle/>
          <a:p>
            <a:pPr marL="0" indent="0">
              <a:buNone/>
            </a:pPr>
            <a:r>
              <a:rPr lang="en-US" sz="1500" b="1">
                <a:solidFill>
                  <a:schemeClr val="tx1"/>
                </a:solidFill>
              </a:rPr>
              <a:t>Estrarre l’audio</a:t>
            </a:r>
            <a:endParaRPr lang="en-US" sz="1400"/>
          </a:p>
          <a:p>
            <a:pPr marL="0" indent="0">
              <a:buNone/>
            </a:pPr>
            <a:r>
              <a:rPr lang="en-US" sz="1300">
                <a:solidFill>
                  <a:schemeClr val="tx2"/>
                </a:solidFill>
              </a:rPr>
              <a:t>ffmpeg tira fuori la traccia audio del video, a una sola traccia e 16 kHz, come per i clip di training.</a:t>
            </a:r>
            <a:endParaRPr lang="en-US" sz="1400"/>
          </a:p>
        </p:txBody>
      </p:sp>
      <p:sp>
        <p:nvSpPr>
          <p:cNvPr id="14" name="Card"/>
          <p:cNvSpPr/>
          <p:nvPr/>
        </p:nvSpPr>
        <p:spPr>
          <a:xfrm>
            <a:off x="548640" y="3849624"/>
            <a:ext cx="5394960" cy="896112"/>
          </a:xfrm>
          <a:prstGeom prst="roundRect">
            <a:avLst>
              <a:gd name="adj" fmla="val 8163"/>
            </a:avLst>
          </a:prstGeom>
          <a:solidFill>
            <a:schemeClr val="bg2"/>
          </a:solidFill>
          <a:ln/>
        </p:spPr>
      </p:sp>
      <p:sp>
        <p:nvSpPr>
          <p:cNvPr id="15" name="Badge"/>
          <p:cNvSpPr/>
          <p:nvPr/>
        </p:nvSpPr>
        <p:spPr>
          <a:xfrm>
            <a:off x="731520" y="4087368"/>
            <a:ext cx="411480" cy="411480"/>
          </a:xfrm>
          <a:prstGeom prst="ellipse">
            <a:avLst/>
          </a:prstGeom>
          <a:solidFill>
            <a:schemeClr val="accent1"/>
          </a:solidFill>
          <a:ln/>
        </p:spPr>
      </p:sp>
      <p:sp>
        <p:nvSpPr>
          <p:cNvPr id="16" name="Text 14"/>
          <p:cNvSpPr txBox="1"/>
          <p:nvPr/>
        </p:nvSpPr>
        <p:spPr>
          <a:xfrm>
            <a:off x="731520" y="4087368"/>
            <a:ext cx="411480" cy="411480"/>
          </a:xfrm>
          <a:prstGeom prst="rect">
            <a:avLst/>
          </a:prstGeom>
          <a:noFill/>
          <a:ln/>
        </p:spPr>
        <p:txBody>
          <a:bodyPr wrap="square" lIns="0" tIns="0" rIns="0" bIns="0" rtlCol="0" anchor="ctr"/>
          <a:lstStyle/>
          <a:p>
            <a:pPr marL="0" indent="0" algn="ctr">
              <a:buNone/>
            </a:pPr>
            <a:r>
              <a:rPr lang="en-US" sz="1300" b="1">
                <a:solidFill>
                  <a:srgbClr val="FFFFFF"/>
                </a:solidFill>
              </a:rPr>
              <a:t>3</a:t>
            </a:r>
            <a:endParaRPr lang="en-US" sz="1300"/>
          </a:p>
        </p:txBody>
      </p:sp>
      <p:sp>
        <p:nvSpPr>
          <p:cNvPr id="17" name="Text 15"/>
          <p:cNvSpPr txBox="1"/>
          <p:nvPr/>
        </p:nvSpPr>
        <p:spPr>
          <a:xfrm>
            <a:off x="1325880" y="3849624"/>
            <a:ext cx="4480560" cy="896112"/>
          </a:xfrm>
          <a:prstGeom prst="rect">
            <a:avLst/>
          </a:prstGeom>
          <a:noFill/>
          <a:ln/>
        </p:spPr>
        <p:txBody>
          <a:bodyPr wrap="square" lIns="0" tIns="0" rIns="0" bIns="0" rtlCol="0" anchor="ctr"/>
          <a:lstStyle/>
          <a:p>
            <a:pPr marL="0" indent="0">
              <a:buNone/>
            </a:pPr>
            <a:r>
              <a:rPr lang="en-US" sz="1500" b="1">
                <a:solidFill>
                  <a:schemeClr val="tx1"/>
                </a:solidFill>
              </a:rPr>
              <a:t>Trascrivere</a:t>
            </a:r>
            <a:endParaRPr lang="en-US" sz="1400"/>
          </a:p>
          <a:p>
            <a:pPr marL="0" indent="0">
              <a:buNone/>
            </a:pPr>
            <a:r>
              <a:rPr lang="en-US" sz="1300">
                <a:solidFill>
                  <a:schemeClr val="tx2"/>
                </a:solidFill>
              </a:rPr>
              <a:t>Il riconoscitore ascolta l’audio e restituisce il testo, fatto solo di parole del suo vocabolario.</a:t>
            </a:r>
            <a:endParaRPr lang="en-US" sz="1400"/>
          </a:p>
        </p:txBody>
      </p:sp>
      <p:sp>
        <p:nvSpPr>
          <p:cNvPr id="18" name="Card"/>
          <p:cNvSpPr/>
          <p:nvPr/>
        </p:nvSpPr>
        <p:spPr>
          <a:xfrm>
            <a:off x="548640" y="4882896"/>
            <a:ext cx="5394960" cy="896112"/>
          </a:xfrm>
          <a:prstGeom prst="roundRect">
            <a:avLst>
              <a:gd name="adj" fmla="val 8163"/>
            </a:avLst>
          </a:prstGeom>
          <a:solidFill>
            <a:schemeClr val="bg2"/>
          </a:solidFill>
          <a:ln/>
        </p:spPr>
      </p:sp>
      <p:sp>
        <p:nvSpPr>
          <p:cNvPr id="19" name="Badge"/>
          <p:cNvSpPr/>
          <p:nvPr/>
        </p:nvSpPr>
        <p:spPr>
          <a:xfrm>
            <a:off x="731520" y="5120640"/>
            <a:ext cx="411480" cy="411480"/>
          </a:xfrm>
          <a:prstGeom prst="ellipse">
            <a:avLst/>
          </a:prstGeom>
          <a:solidFill>
            <a:schemeClr val="accent1"/>
          </a:solidFill>
          <a:ln/>
        </p:spPr>
      </p:sp>
      <p:sp>
        <p:nvSpPr>
          <p:cNvPr id="20" name="Text 18"/>
          <p:cNvSpPr txBox="1"/>
          <p:nvPr/>
        </p:nvSpPr>
        <p:spPr>
          <a:xfrm>
            <a:off x="731520" y="5120640"/>
            <a:ext cx="411480" cy="411480"/>
          </a:xfrm>
          <a:prstGeom prst="rect">
            <a:avLst/>
          </a:prstGeom>
          <a:noFill/>
          <a:ln/>
        </p:spPr>
        <p:txBody>
          <a:bodyPr wrap="square" lIns="0" tIns="0" rIns="0" bIns="0" rtlCol="0" anchor="ctr"/>
          <a:lstStyle/>
          <a:p>
            <a:pPr marL="0" indent="0" algn="ctr">
              <a:buNone/>
            </a:pPr>
            <a:r>
              <a:rPr lang="en-US" sz="1300" b="1">
                <a:solidFill>
                  <a:srgbClr val="FFFFFF"/>
                </a:solidFill>
              </a:rPr>
              <a:t>4</a:t>
            </a:r>
            <a:endParaRPr lang="en-US" sz="1300"/>
          </a:p>
        </p:txBody>
      </p:sp>
      <p:sp>
        <p:nvSpPr>
          <p:cNvPr id="21" name="Text 19"/>
          <p:cNvSpPr txBox="1"/>
          <p:nvPr/>
        </p:nvSpPr>
        <p:spPr>
          <a:xfrm>
            <a:off x="1325880" y="4882896"/>
            <a:ext cx="4480560" cy="896112"/>
          </a:xfrm>
          <a:prstGeom prst="rect">
            <a:avLst/>
          </a:prstGeom>
          <a:noFill/>
          <a:ln/>
        </p:spPr>
        <p:txBody>
          <a:bodyPr wrap="square" lIns="0" tIns="0" rIns="0" bIns="0" rtlCol="0" anchor="ctr"/>
          <a:lstStyle/>
          <a:p>
            <a:pPr marL="0" indent="0">
              <a:buNone/>
            </a:pPr>
            <a:r>
              <a:rPr lang="en-US" sz="1500" b="1">
                <a:solidFill>
                  <a:schemeClr val="tx1"/>
                </a:solidFill>
              </a:rPr>
              <a:t>Scrivere una riga</a:t>
            </a:r>
            <a:endParaRPr lang="en-US" sz="1400"/>
          </a:p>
          <a:p>
            <a:pPr marL="0" indent="0">
              <a:buNone/>
            </a:pPr>
            <a:r>
              <a:rPr lang="en-US" sz="1300">
                <a:solidFill>
                  <a:schemeClr val="tx2"/>
                </a:solidFill>
              </a:rPr>
              <a:t>Video, esito, testo e impronta del modello finiscono in deepfake_purescribe.tsv, una riga per video.</a:t>
            </a:r>
            <a:endParaRPr lang="en-US" sz="1400"/>
          </a:p>
        </p:txBody>
      </p:sp>
      <p:sp>
        <p:nvSpPr>
          <p:cNvPr id="22" name="Codice"/>
          <p:cNvSpPr/>
          <p:nvPr/>
        </p:nvSpPr>
        <p:spPr>
          <a:xfrm>
            <a:off x="6355080" y="1783080"/>
            <a:ext cx="5285232" cy="2468880"/>
          </a:xfrm>
          <a:prstGeom prst="roundRect">
            <a:avLst>
              <a:gd name="adj" fmla="val 2963"/>
            </a:avLst>
          </a:prstGeom>
          <a:solidFill>
            <a:schemeClr val="tx1"/>
          </a:solidFill>
          <a:ln/>
        </p:spPr>
      </p:sp>
      <p:sp>
        <p:nvSpPr>
          <p:cNvPr id="23" name="Text 21"/>
          <p:cNvSpPr txBox="1"/>
          <p:nvPr/>
        </p:nvSpPr>
        <p:spPr>
          <a:xfrm>
            <a:off x="6556248" y="1947672"/>
            <a:ext cx="4882896" cy="2139696"/>
          </a:xfrm>
          <a:prstGeom prst="rect">
            <a:avLst/>
          </a:prstGeom>
          <a:noFill/>
          <a:ln/>
        </p:spPr>
        <p:txBody>
          <a:bodyPr wrap="square" lIns="0" tIns="0" rIns="0" bIns="0" rtlCol="0" anchor="ctr"/>
          <a:lstStyle/>
          <a:p>
            <a:pPr marL="0" indent="0">
              <a:buNone/>
            </a:pPr>
            <a:r>
              <a:rPr lang="en-US" sz="950">
                <a:solidFill>
                  <a:schemeClr val="accent5"/>
                </a:solidFill>
                <a:latin typeface="Courier New"/>
                <a:ea typeface="Courier New"/>
                <a:cs typeface="Courier New"/>
              </a:rPr>
              <a:t># lost_in_translation.py · transcribe()</a:t>
            </a:r>
            <a:endParaRPr lang="en-US" sz="950"/>
          </a:p>
          <a:p>
            <a:pPr marL="0" indent="0">
              <a:buNone/>
            </a:pPr>
            <a:r>
              <a:rPr lang="en-US" sz="950">
                <a:solidFill>
                  <a:srgbClr val="E6EDF3"/>
                </a:solidFill>
                <a:latin typeface="Courier New"/>
                <a:ea typeface="Courier New"/>
                <a:cs typeface="Courier New"/>
              </a:rPr>
              <a:t>videos = list(baseline_videos(args.baseline_transcripts,</a:t>
            </a:r>
            <a:endParaRPr lang="en-US" sz="950"/>
          </a:p>
          <a:p>
            <a:pPr marL="0" indent="0">
              <a:buNone/>
            </a:pPr>
            <a:r>
              <a:rPr lang="en-US" sz="950">
                <a:solidFill>
                  <a:srgbClr val="E6EDF3"/>
                </a:solidFill>
                <a:latin typeface="Courier New"/>
                <a:ea typeface="Courier New"/>
                <a:cs typeface="Courier New"/>
              </a:rPr>
              <a:t>                              args.subset)[0])</a:t>
            </a:r>
            <a:endParaRPr lang="en-US" sz="950"/>
          </a:p>
          <a:p>
            <a:pPr marL="0" indent="0">
              <a:buNone/>
            </a:pPr>
            <a:r>
              <a:rPr lang="en-US" sz="950">
                <a:solidFill>
                  <a:srgbClr val="E6EDF3"/>
                </a:solidFill>
                <a:latin typeface="Courier New"/>
                <a:ea typeface="Courier New"/>
                <a:cs typeface="Courier New"/>
              </a:rPr>
              <a:t>model_hash = sha256(model_path)</a:t>
            </a:r>
            <a:endParaRPr lang="en-US" sz="950"/>
          </a:p>
          <a:p>
            <a:pPr marL="0" indent="0">
              <a:buNone/>
            </a:pPr>
            <a:r>
              <a:rPr lang="en-US" sz="950">
                <a:solidFill>
                  <a:srgbClr val="E6EDF3"/>
                </a:solidFill>
                <a:latin typeface="Courier New"/>
                <a:ea typeface="Courier New"/>
                <a:cs typeface="Courier New"/>
              </a:rPr>
              <a:t>recognizer = Recognizer.load(model_path)</a:t>
            </a:r>
            <a:endParaRPr lang="en-US" sz="950"/>
          </a:p>
          <a:p>
            <a:pPr marL="0" indent="0">
              <a:buNone/>
            </a:pPr>
            <a:r>
              <a:rPr lang="en-US" sz="950">
                <a:solidFill>
                  <a:srgbClr val="E6EDF3"/>
                </a:solidFill>
                <a:latin typeface="Courier New"/>
                <a:ea typeface="Courier New"/>
                <a:cs typeface="Courier New"/>
              </a:rPr>
              <a:t>for position, video in enumerate(videos[len(done):], ...):</a:t>
            </a:r>
            <a:endParaRPr lang="en-US" sz="950"/>
          </a:p>
          <a:p>
            <a:pPr marL="0" indent="0">
              <a:buNone/>
            </a:pPr>
            <a:r>
              <a:rPr lang="en-US" sz="950">
                <a:solidFill>
                  <a:srgbClr val="E6EDF3"/>
                </a:solidFill>
                <a:latin typeface="Courier New"/>
                <a:ea typeface="Courier New"/>
                <a:cs typeface="Courier New"/>
              </a:rPr>
              <a:t>    wave = load_audio(path, rate=recognizer.feature_config.rate)</a:t>
            </a:r>
            <a:endParaRPr lang="en-US" sz="950"/>
          </a:p>
          <a:p>
            <a:pPr marL="0" indent="0">
              <a:buNone/>
            </a:pPr>
            <a:r>
              <a:rPr lang="en-US" sz="950">
                <a:solidFill>
                  <a:srgbClr val="E6EDF3"/>
                </a:solidFill>
                <a:latin typeface="Courier New"/>
                <a:ea typeface="Courier New"/>
                <a:cs typeface="Courier New"/>
              </a:rPr>
              <a:t>    text = recognizer.transcribe(wave).text</a:t>
            </a:r>
            <a:endParaRPr lang="en-US" sz="950"/>
          </a:p>
          <a:p>
            <a:pPr marL="0" indent="0">
              <a:buNone/>
            </a:pPr>
            <a:r>
              <a:rPr lang="en-US" sz="950">
                <a:solidFill>
                  <a:srgbClr val="E6EDF3"/>
                </a:solidFill>
                <a:latin typeface="Courier New"/>
                <a:ea typeface="Courier New"/>
                <a:cs typeface="Courier New"/>
              </a:rPr>
              <a:t>    writer.writerow([video, status, text, detail, model_hash])</a:t>
            </a:r>
            <a:endParaRPr lang="en-US" sz="950"/>
          </a:p>
        </p:txBody>
      </p:sp>
      <p:sp>
        <p:nvSpPr>
          <p:cNvPr id="24" name="Card"/>
          <p:cNvSpPr/>
          <p:nvPr/>
        </p:nvSpPr>
        <p:spPr>
          <a:xfrm>
            <a:off x="6355080" y="4434840"/>
            <a:ext cx="5285232" cy="1344168"/>
          </a:xfrm>
          <a:prstGeom prst="roundRect">
            <a:avLst>
              <a:gd name="adj" fmla="val 5442"/>
            </a:avLst>
          </a:prstGeom>
          <a:solidFill>
            <a:srgbClr val="FFFFFF"/>
          </a:solidFill>
          <a:ln w="19050">
            <a:solidFill>
              <a:schemeClr val="accent1"/>
            </a:solidFill>
            <a:prstDash val="solid"/>
          </a:ln>
        </p:spPr>
      </p:sp>
      <p:sp>
        <p:nvSpPr>
          <p:cNvPr id="25" name="Text 23"/>
          <p:cNvSpPr txBox="1"/>
          <p:nvPr/>
        </p:nvSpPr>
        <p:spPr>
          <a:xfrm>
            <a:off x="6583680" y="4434840"/>
            <a:ext cx="4846320" cy="1344168"/>
          </a:xfrm>
          <a:prstGeom prst="rect">
            <a:avLst/>
          </a:prstGeom>
          <a:noFill/>
          <a:ln/>
        </p:spPr>
        <p:txBody>
          <a:bodyPr wrap="square" lIns="0" tIns="0" rIns="0" bIns="0" rtlCol="0" anchor="ctr"/>
          <a:lstStyle/>
          <a:p>
            <a:pPr marL="0" indent="0">
              <a:spcAft>
                <a:spcPts val="200"/>
              </a:spcAft>
              <a:buNone/>
            </a:pPr>
            <a:r>
              <a:rPr lang="en-US" sz="1100" b="1" kern="0" spc="100">
                <a:solidFill>
                  <a:schemeClr val="accent1"/>
                </a:solidFill>
              </a:rPr>
              <a:t>UNA RIGA REALE DEL TSV</a:t>
            </a:r>
            <a:endParaRPr lang="en-US" sz="1400"/>
          </a:p>
          <a:p>
            <a:pPr marL="0" indent="0">
              <a:spcAft>
                <a:spcPts val="200"/>
              </a:spcAft>
              <a:buNone/>
            </a:pPr>
            <a:r>
              <a:rPr lang="en-US" sz="1400" b="1">
                <a:solidFill>
                  <a:schemeClr val="tx1"/>
                </a:solidFill>
              </a:rPr>
              <a:t>real/227-12476.mp4  ·  ok</a:t>
            </a:r>
            <a:endParaRPr lang="en-US" sz="1400"/>
          </a:p>
          <a:p>
            <a:pPr marL="0" indent="0">
              <a:spcAft>
                <a:spcPts val="200"/>
              </a:spcAft>
              <a:buNone/>
            </a:pPr>
            <a:r>
              <a:rPr lang="en-US" sz="1400" i="1">
                <a:solidFill>
                  <a:schemeClr val="tx2"/>
                </a:solidFill>
              </a:rPr>
              <a:t>“running company girl large there just could call america rock”</a:t>
            </a:r>
            <a:endParaRPr lang="en-US" sz="1400"/>
          </a:p>
        </p:txBody>
      </p:sp>
      <p:sp>
        <p:nvSpPr>
          <p:cNvPr id="26" name="Text 24"/>
          <p:cNvSpPr txBox="1"/>
          <p:nvPr/>
        </p:nvSpPr>
        <p:spPr>
          <a:xfrm>
            <a:off x="548640" y="5897880"/>
            <a:ext cx="11094415" cy="274320"/>
          </a:xfrm>
          <a:prstGeom prst="rect">
            <a:avLst/>
          </a:prstGeom>
          <a:noFill/>
          <a:ln/>
        </p:spPr>
        <p:txBody>
          <a:bodyPr wrap="square" lIns="0" tIns="0" rIns="0" bIns="0" rtlCol="0" anchor="t"/>
          <a:lstStyle/>
          <a:p>
            <a:pPr marL="0" indent="0">
              <a:buNone/>
            </a:pPr>
            <a:r>
              <a:rPr lang="en-US" sz="1300" i="1">
                <a:solidFill>
                  <a:schemeClr val="tx2"/>
                </a:solidFill>
              </a:rPr>
              <a:t>Nel file attuale: 120 video con esito ok e 4 non più presenti su disco, sui 124 trascritti dalla baseline.</a:t>
            </a:r>
            <a:endParaRPr lang="en-US" sz="1300"/>
          </a:p>
        </p:txBody>
      </p:sp>
      <p:sp>
        <p:nvSpPr>
          <p:cNvPr id="56"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B79A8C84-1846-4993-8C55-9E7286E57C4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Fase 5 · Come PureScribe trova la frase</a:t>
            </a:r>
            <a:endParaRPr lang="en-US" sz="3600"/>
          </a:p>
        </p:txBody>
      </p:sp>
      <p:sp>
        <p:nvSpPr>
          <p:cNvPr id="3" name="Badge"/>
          <p:cNvSpPr/>
          <p:nvPr/>
        </p:nvSpPr>
        <p:spPr>
          <a:xfrm>
            <a:off x="548640" y="1280160"/>
            <a:ext cx="384048" cy="384048"/>
          </a:xfrm>
          <a:prstGeom prst="ellipse">
            <a:avLst/>
          </a:prstGeom>
          <a:solidFill>
            <a:schemeClr val="accent1"/>
          </a:solidFill>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marL="0" indent="0" algn="ctr">
              <a:buNone/>
            </a:pPr>
            <a:r>
              <a:rPr lang="en-US" sz="1400" b="1">
                <a:solidFill>
                  <a:srgbClr val="FFFFFF"/>
                </a:solidFill>
              </a:rPr>
              <a:t>5</a:t>
            </a:r>
            <a:endParaRPr lang="en-US" sz="1400"/>
          </a:p>
        </p:txBody>
      </p:sp>
      <p:sp>
        <p:nvSpPr>
          <p:cNvPr id="5" name="Text 3"/>
          <p:cNvSpPr txBox="1"/>
          <p:nvPr/>
        </p:nvSpPr>
        <p:spPr>
          <a:xfrm>
            <a:off x="1051560" y="1344168"/>
            <a:ext cx="10058400" cy="274320"/>
          </a:xfrm>
          <a:prstGeom prst="rect">
            <a:avLst/>
          </a:prstGeom>
          <a:noFill/>
          <a:ln/>
        </p:spPr>
        <p:txBody>
          <a:bodyPr wrap="square" lIns="0" tIns="0" rIns="0" bIns="0" rtlCol="0" anchor="t"/>
          <a:lstStyle/>
          <a:p>
            <a:pPr marL="0" indent="0">
              <a:buNone/>
            </a:pPr>
            <a:r>
              <a:rPr lang="en-US" sz="1100" b="1" kern="0" spc="100">
                <a:solidFill>
                  <a:schemeClr val="tx2"/>
                </a:solidFill>
              </a:rPr>
              <a:t>recognizer.py · decoder.py  ·  dentro recognizer.transcribe()</a:t>
            </a:r>
            <a:endParaRPr lang="en-US" sz="1100"/>
          </a:p>
        </p:txBody>
      </p:sp>
      <p:sp>
        <p:nvSpPr>
          <p:cNvPr id="6" name="Codice"/>
          <p:cNvSpPr/>
          <p:nvPr/>
        </p:nvSpPr>
        <p:spPr>
          <a:xfrm>
            <a:off x="548640" y="1783080"/>
            <a:ext cx="5394960" cy="4343400"/>
          </a:xfrm>
          <a:prstGeom prst="roundRect">
            <a:avLst>
              <a:gd name="adj" fmla="val 1684"/>
            </a:avLst>
          </a:prstGeom>
          <a:solidFill>
            <a:schemeClr val="tx1"/>
          </a:solidFill>
          <a:ln/>
        </p:spPr>
      </p:sp>
      <p:sp>
        <p:nvSpPr>
          <p:cNvPr id="7" name="Text 5"/>
          <p:cNvSpPr txBox="1"/>
          <p:nvPr/>
        </p:nvSpPr>
        <p:spPr>
          <a:xfrm>
            <a:off x="749808" y="1947672"/>
            <a:ext cx="4992624" cy="4014216"/>
          </a:xfrm>
          <a:prstGeom prst="rect">
            <a:avLst/>
          </a:prstGeom>
          <a:noFill/>
          <a:ln/>
        </p:spPr>
        <p:txBody>
          <a:bodyPr wrap="square" lIns="0" tIns="0" rIns="0" bIns="0" rtlCol="0" anchor="ctr"/>
          <a:lstStyle/>
          <a:p>
            <a:pPr marL="0" indent="0">
              <a:buNone/>
            </a:pPr>
            <a:r>
              <a:rPr lang="en-US" sz="1050">
                <a:solidFill>
                  <a:schemeClr val="accent5"/>
                </a:solidFill>
                <a:latin typeface="Courier New"/>
                <a:ea typeface="Courier New"/>
                <a:cs typeface="Courier New"/>
              </a:rPr>
              <a:t># recognizer.py · transcribe()</a:t>
            </a:r>
            <a:endParaRPr lang="en-US" sz="1050"/>
          </a:p>
          <a:p>
            <a:pPr marL="0" indent="0">
              <a:buNone/>
            </a:pPr>
            <a:r>
              <a:rPr lang="en-US" sz="1050">
                <a:solidFill>
                  <a:srgbClr val="E6EDF3"/>
                </a:solidFill>
                <a:latin typeface="Courier New"/>
                <a:ea typeface="Courier New"/>
                <a:cs typeface="Courier New"/>
              </a:rPr>
              <a:t>use_vad = wave.duration &gt; self.vad_threshold_s </a:t>
            </a:r>
            <a:r>
              <a:rPr lang="en-US" sz="1050">
                <a:solidFill>
                  <a:schemeClr val="accent5"/>
                </a:solidFill>
                <a:latin typeface="Courier New"/>
                <a:ea typeface="Courier New"/>
                <a:cs typeface="Courier New"/>
              </a:rPr>
              <a:t>  # 30 s</a:t>
            </a:r>
            <a:endParaRPr lang="en-US" sz="1050"/>
          </a:p>
          <a:p>
            <a:pPr marL="0" indent="0">
              <a:buNone/>
            </a:pPr>
            <a:r>
              <a:rPr lang="en-US" sz="1050">
                <a:solidFill>
                  <a:srgbClr val="E6EDF3"/>
                </a:solidFill>
                <a:latin typeface="Courier New"/>
                <a:ea typeface="Courier New"/>
                <a:cs typeface="Courier New"/>
              </a:rPr>
              <a:t>result = self.decoder.decode(self.features(wave.samples))</a:t>
            </a:r>
            <a:endParaRPr lang="en-US" sz="1050"/>
          </a:p>
          <a:p>
            <a:pPr marL="0" indent="0">
              <a:buNone/>
            </a:pPr>
            <a:r>
              <a:rPr lang="en-US" sz="1050">
                <a:solidFill>
                  <a:srgbClr val="E6EDF3"/>
                </a:solidFill>
                <a:latin typeface="Courier New"/>
                <a:ea typeface="Courier New"/>
                <a:cs typeface="Courier New"/>
              </a:rPr>
              <a:t> </a:t>
            </a:r>
            <a:endParaRPr lang="en-US" sz="1050"/>
          </a:p>
          <a:p>
            <a:pPr marL="0" indent="0">
              <a:buNone/>
            </a:pPr>
            <a:r>
              <a:rPr lang="en-US" sz="1050">
                <a:solidFill>
                  <a:schemeClr val="accent5"/>
                </a:solidFill>
                <a:latin typeface="Courier New"/>
                <a:ea typeface="Courier New"/>
                <a:cs typeface="Courier New"/>
              </a:rPr>
              <a:t># decoder.py · decode(): un passo ogni 10 ms</a:t>
            </a:r>
            <a:endParaRPr lang="en-US" sz="1050"/>
          </a:p>
          <a:p>
            <a:pPr marL="0" indent="0">
              <a:buNone/>
            </a:pPr>
            <a:r>
              <a:rPr lang="en-US" sz="1050">
                <a:solidFill>
                  <a:srgbClr val="E6EDF3"/>
                </a:solidFill>
                <a:latin typeface="Courier New"/>
                <a:ea typeface="Courier New"/>
                <a:cs typeface="Courier New"/>
              </a:rPr>
              <a:t>for t in range(1, T):</a:t>
            </a:r>
            <a:endParaRPr lang="en-US" sz="1050"/>
          </a:p>
          <a:p>
            <a:pPr marL="0" indent="0">
              <a:buNone/>
            </a:pPr>
            <a:r>
              <a:rPr lang="en-US" sz="1050">
                <a:solidFill>
                  <a:srgbClr val="E6EDF3"/>
                </a:solidFill>
                <a:latin typeface="Courier New"/>
                <a:ea typeface="Courier New"/>
                <a:cs typeface="Courier New"/>
              </a:rPr>
              <a:t>    exit_score, exit_state = self._segment_max(</a:t>
            </a:r>
            <a:endParaRPr lang="en-US" sz="1050"/>
          </a:p>
          <a:p>
            <a:pPr marL="0" indent="0">
              <a:buNone/>
            </a:pPr>
            <a:r>
              <a:rPr lang="en-US" sz="1050">
                <a:solidFill>
                  <a:srgbClr val="E6EDF3"/>
                </a:solidFill>
                <a:latin typeface="Courier New"/>
                <a:ea typeface="Courier New"/>
                <a:cs typeface="Courier New"/>
              </a:rPr>
              <a:t>        delta + self._log_exit)   </a:t>
            </a:r>
            <a:r>
              <a:rPr lang="en-US" sz="1050">
                <a:solidFill>
                  <a:schemeClr val="accent5"/>
                </a:solidFill>
                <a:latin typeface="Courier New"/>
                <a:ea typeface="Courier New"/>
                <a:cs typeface="Courier New"/>
              </a:rPr>
              <a:t>  # chi finisce una parola</a:t>
            </a:r>
            <a:endParaRPr lang="en-US" sz="1050"/>
          </a:p>
          <a:p>
            <a:pPr marL="0" indent="0">
              <a:buNone/>
            </a:pPr>
            <a:r>
              <a:rPr lang="en-US" sz="1050">
                <a:solidFill>
                  <a:srgbClr val="E6EDF3"/>
                </a:solidFill>
                <a:latin typeface="Courier New"/>
                <a:ea typeface="Courier New"/>
                <a:cs typeface="Courier New"/>
              </a:rPr>
              <a:t>    logb = self._emissions_at(X[t], ...)</a:t>
            </a:r>
            <a:endParaRPr lang="en-US" sz="1050"/>
          </a:p>
          <a:p>
            <a:pPr marL="0" indent="0">
              <a:buNone/>
            </a:pPr>
            <a:r>
              <a:rPr lang="en-US" sz="1050">
                <a:solidFill>
                  <a:srgbClr val="E6EDF3"/>
                </a:solidFill>
                <a:latin typeface="Courier New"/>
                <a:ea typeface="Courier New"/>
                <a:cs typeface="Courier New"/>
              </a:rPr>
              <a:t>    new_delta = best + logb       </a:t>
            </a:r>
            <a:r>
              <a:rPr lang="en-US" sz="1050">
                <a:solidFill>
                  <a:schemeClr val="accent5"/>
                </a:solidFill>
                <a:latin typeface="Courier New"/>
                <a:ea typeface="Courier New"/>
                <a:cs typeface="Courier New"/>
              </a:rPr>
              <a:t>  # avanza nelle parole</a:t>
            </a:r>
            <a:endParaRPr lang="en-US" sz="1050"/>
          </a:p>
          <a:p>
            <a:pPr marL="0" indent="0">
              <a:buNone/>
            </a:pPr>
            <a:r>
              <a:rPr lang="en-US" sz="1050">
                <a:solidFill>
                  <a:srgbClr val="E6EDF3"/>
                </a:solidFill>
                <a:latin typeface="Courier New"/>
                <a:ea typeface="Courier New"/>
                <a:cs typeface="Courier New"/>
              </a:rPr>
              <a:t>    links.extend(...)             </a:t>
            </a:r>
            <a:r>
              <a:rPr lang="en-US" sz="1050">
                <a:solidFill>
                  <a:schemeClr val="accent5"/>
                </a:solidFill>
                <a:latin typeface="Courier New"/>
                <a:ea typeface="Courier New"/>
                <a:cs typeface="Courier New"/>
              </a:rPr>
              <a:t>  # annota i cambi di parola</a:t>
            </a:r>
            <a:endParaRPr lang="en-US" sz="1050"/>
          </a:p>
          <a:p>
            <a:pPr marL="0" indent="0">
              <a:buNone/>
            </a:pPr>
            <a:r>
              <a:rPr lang="en-US" sz="1050">
                <a:solidFill>
                  <a:srgbClr val="E6EDF3"/>
                </a:solidFill>
                <a:latin typeface="Courier New"/>
                <a:ea typeface="Courier New"/>
                <a:cs typeface="Courier New"/>
              </a:rPr>
              <a:t>    delta = self._prune(delta)    </a:t>
            </a:r>
            <a:r>
              <a:rPr lang="en-US" sz="1050">
                <a:solidFill>
                  <a:schemeClr val="accent5"/>
                </a:solidFill>
                <a:latin typeface="Courier New"/>
                <a:ea typeface="Courier New"/>
                <a:cs typeface="Courier New"/>
              </a:rPr>
              <a:t>  # scarta chi è indietro</a:t>
            </a:r>
            <a:endParaRPr lang="en-US" sz="1050"/>
          </a:p>
          <a:p>
            <a:pPr marL="0" indent="0">
              <a:buNone/>
            </a:pPr>
            <a:r>
              <a:rPr lang="en-US" sz="1050">
                <a:solidFill>
                  <a:srgbClr val="E6EDF3"/>
                </a:solidFill>
                <a:latin typeface="Courier New"/>
                <a:ea typeface="Courier New"/>
                <a:cs typeface="Courier New"/>
              </a:rPr>
              <a:t>return self._traceback(delta, bp, links, T)</a:t>
            </a:r>
            <a:endParaRPr lang="en-US" sz="1050"/>
          </a:p>
        </p:txBody>
      </p:sp>
      <p:sp>
        <p:nvSpPr>
          <p:cNvPr id="8" name="Badge"/>
          <p:cNvSpPr/>
          <p:nvPr/>
        </p:nvSpPr>
        <p:spPr>
          <a:xfrm>
            <a:off x="6355080" y="1828800"/>
            <a:ext cx="411480" cy="411480"/>
          </a:xfrm>
          <a:prstGeom prst="ellipse">
            <a:avLst/>
          </a:prstGeom>
          <a:solidFill>
            <a:schemeClr val="accent1"/>
          </a:solidFill>
          <a:ln/>
        </p:spPr>
      </p:sp>
      <p:sp>
        <p:nvSpPr>
          <p:cNvPr id="9" name="Text 7"/>
          <p:cNvSpPr txBox="1"/>
          <p:nvPr/>
        </p:nvSpPr>
        <p:spPr>
          <a:xfrm>
            <a:off x="6355080" y="1828800"/>
            <a:ext cx="411480" cy="411480"/>
          </a:xfrm>
          <a:prstGeom prst="rect">
            <a:avLst/>
          </a:prstGeom>
          <a:noFill/>
          <a:ln/>
        </p:spPr>
        <p:txBody>
          <a:bodyPr wrap="square" lIns="0" tIns="0" rIns="0" bIns="0" rtlCol="0" anchor="ctr"/>
          <a:lstStyle/>
          <a:p>
            <a:pPr marL="0" indent="0" algn="ctr">
              <a:buNone/>
            </a:pPr>
            <a:r>
              <a:rPr lang="en-US" sz="1400" b="1">
                <a:solidFill>
                  <a:srgbClr val="FFFFFF"/>
                </a:solidFill>
              </a:rPr>
              <a:t>a</a:t>
            </a:r>
            <a:endParaRPr lang="en-US" sz="1400"/>
          </a:p>
        </p:txBody>
      </p:sp>
      <p:sp>
        <p:nvSpPr>
          <p:cNvPr id="10" name="Text 8"/>
          <p:cNvSpPr txBox="1"/>
          <p:nvPr/>
        </p:nvSpPr>
        <p:spPr>
          <a:xfrm>
            <a:off x="6949440" y="1783080"/>
            <a:ext cx="4690872" cy="1005840"/>
          </a:xfrm>
          <a:prstGeom prst="rect">
            <a:avLst/>
          </a:prstGeom>
          <a:noFill/>
          <a:ln/>
        </p:spPr>
        <p:txBody>
          <a:bodyPr wrap="square" lIns="0" tIns="0" rIns="0" bIns="0" rtlCol="0" anchor="t"/>
          <a:lstStyle/>
          <a:p>
            <a:pPr marL="0" indent="0">
              <a:buNone/>
            </a:pPr>
            <a:r>
              <a:rPr lang="en-US" sz="1700" b="1">
                <a:solidFill>
                  <a:schemeClr val="tx1"/>
                </a:solidFill>
              </a:rPr>
              <a:t>Tutte le parole in cerchio</a:t>
            </a:r>
            <a:endParaRPr lang="en-US" sz="1400"/>
          </a:p>
          <a:p>
            <a:pPr marL="0" indent="0">
              <a:buNone/>
            </a:pPr>
            <a:r>
              <a:rPr lang="en-US" sz="1400">
                <a:solidFill>
                  <a:schemeClr val="tx2"/>
                </a:solidFill>
              </a:rPr>
              <a:t>Le 1676 parole e la pausa sono collegate ad anello: dopo una parola ne può venire qualsiasi altra, senza grammatica.</a:t>
            </a:r>
            <a:endParaRPr lang="en-US" sz="1400"/>
          </a:p>
        </p:txBody>
      </p:sp>
      <p:sp>
        <p:nvSpPr>
          <p:cNvPr id="11" name="Badge"/>
          <p:cNvSpPr/>
          <p:nvPr/>
        </p:nvSpPr>
        <p:spPr>
          <a:xfrm>
            <a:off x="6355080" y="2926080"/>
            <a:ext cx="411480" cy="411480"/>
          </a:xfrm>
          <a:prstGeom prst="ellipse">
            <a:avLst/>
          </a:prstGeom>
          <a:solidFill>
            <a:schemeClr val="accent1"/>
          </a:solidFill>
          <a:ln/>
        </p:spPr>
      </p:sp>
      <p:sp>
        <p:nvSpPr>
          <p:cNvPr id="12" name="Text 10"/>
          <p:cNvSpPr txBox="1"/>
          <p:nvPr/>
        </p:nvSpPr>
        <p:spPr>
          <a:xfrm>
            <a:off x="6355080" y="2926080"/>
            <a:ext cx="411480" cy="411480"/>
          </a:xfrm>
          <a:prstGeom prst="rect">
            <a:avLst/>
          </a:prstGeom>
          <a:noFill/>
          <a:ln/>
        </p:spPr>
        <p:txBody>
          <a:bodyPr wrap="square" lIns="0" tIns="0" rIns="0" bIns="0" rtlCol="0" anchor="ctr"/>
          <a:lstStyle/>
          <a:p>
            <a:pPr marL="0" indent="0" algn="ctr">
              <a:buNone/>
            </a:pPr>
            <a:r>
              <a:rPr lang="en-US" sz="1400" b="1">
                <a:solidFill>
                  <a:srgbClr val="FFFFFF"/>
                </a:solidFill>
              </a:rPr>
              <a:t>b</a:t>
            </a:r>
            <a:endParaRPr lang="en-US" sz="1400"/>
          </a:p>
        </p:txBody>
      </p:sp>
      <p:sp>
        <p:nvSpPr>
          <p:cNvPr id="13" name="Text 11"/>
          <p:cNvSpPr txBox="1"/>
          <p:nvPr/>
        </p:nvSpPr>
        <p:spPr>
          <a:xfrm>
            <a:off x="6949440" y="2880360"/>
            <a:ext cx="4690872" cy="1005840"/>
          </a:xfrm>
          <a:prstGeom prst="rect">
            <a:avLst/>
          </a:prstGeom>
          <a:noFill/>
          <a:ln/>
        </p:spPr>
        <p:txBody>
          <a:bodyPr wrap="square" lIns="0" tIns="0" rIns="0" bIns="0" rtlCol="0" anchor="t"/>
          <a:lstStyle/>
          <a:p>
            <a:pPr marL="0" indent="0">
              <a:buNone/>
            </a:pPr>
            <a:r>
              <a:rPr lang="en-US" sz="1700" b="1">
                <a:solidFill>
                  <a:schemeClr val="tx1"/>
                </a:solidFill>
              </a:rPr>
              <a:t>Molte ipotesi in parallelo</a:t>
            </a:r>
            <a:endParaRPr lang="en-US" sz="1400"/>
          </a:p>
          <a:p>
            <a:pPr marL="0" indent="0">
              <a:buNone/>
            </a:pPr>
            <a:r>
              <a:rPr lang="en-US" sz="1400">
                <a:solidFill>
                  <a:schemeClr val="tx2"/>
                </a:solidFill>
              </a:rPr>
              <a:t>Mentre l’audio scorre porta avanti tante frasi possibili e scarta subito quelle troppo improbabili.</a:t>
            </a:r>
            <a:endParaRPr lang="en-US" sz="1400"/>
          </a:p>
        </p:txBody>
      </p:sp>
      <p:sp>
        <p:nvSpPr>
          <p:cNvPr id="14" name="Badge"/>
          <p:cNvSpPr/>
          <p:nvPr/>
        </p:nvSpPr>
        <p:spPr>
          <a:xfrm>
            <a:off x="6355080" y="4023360"/>
            <a:ext cx="411480" cy="411480"/>
          </a:xfrm>
          <a:prstGeom prst="ellipse">
            <a:avLst/>
          </a:prstGeom>
          <a:solidFill>
            <a:schemeClr val="accent1"/>
          </a:solidFill>
          <a:ln/>
        </p:spPr>
      </p:sp>
      <p:sp>
        <p:nvSpPr>
          <p:cNvPr id="15" name="Text 13"/>
          <p:cNvSpPr txBox="1"/>
          <p:nvPr/>
        </p:nvSpPr>
        <p:spPr>
          <a:xfrm>
            <a:off x="6355080" y="4023360"/>
            <a:ext cx="411480" cy="411480"/>
          </a:xfrm>
          <a:prstGeom prst="rect">
            <a:avLst/>
          </a:prstGeom>
          <a:noFill/>
          <a:ln/>
        </p:spPr>
        <p:txBody>
          <a:bodyPr wrap="square" lIns="0" tIns="0" rIns="0" bIns="0" rtlCol="0" anchor="ctr"/>
          <a:lstStyle/>
          <a:p>
            <a:pPr marL="0" indent="0" algn="ctr">
              <a:buNone/>
            </a:pPr>
            <a:r>
              <a:rPr lang="en-US" sz="1400" b="1">
                <a:solidFill>
                  <a:srgbClr val="FFFFFF"/>
                </a:solidFill>
              </a:rPr>
              <a:t>c</a:t>
            </a:r>
            <a:endParaRPr lang="en-US" sz="1400"/>
          </a:p>
        </p:txBody>
      </p:sp>
      <p:sp>
        <p:nvSpPr>
          <p:cNvPr id="16" name="Text 14"/>
          <p:cNvSpPr txBox="1"/>
          <p:nvPr/>
        </p:nvSpPr>
        <p:spPr>
          <a:xfrm>
            <a:off x="6949440" y="3977640"/>
            <a:ext cx="4690872" cy="1005840"/>
          </a:xfrm>
          <a:prstGeom prst="rect">
            <a:avLst/>
          </a:prstGeom>
          <a:noFill/>
          <a:ln/>
        </p:spPr>
        <p:txBody>
          <a:bodyPr wrap="square" lIns="0" tIns="0" rIns="0" bIns="0" rtlCol="0" anchor="t"/>
          <a:lstStyle/>
          <a:p>
            <a:pPr marL="0" indent="0">
              <a:buNone/>
            </a:pPr>
            <a:r>
              <a:rPr lang="en-US" sz="1700" b="1">
                <a:solidFill>
                  <a:schemeClr val="tx1"/>
                </a:solidFill>
              </a:rPr>
              <a:t>Alla fine, la migliore</a:t>
            </a:r>
            <a:endParaRPr lang="en-US" sz="1400"/>
          </a:p>
          <a:p>
            <a:pPr marL="0" indent="0">
              <a:buNone/>
            </a:pPr>
            <a:r>
              <a:rPr lang="en-US" sz="1400">
                <a:solidFill>
                  <a:schemeClr val="tx2"/>
                </a:solidFill>
              </a:rPr>
              <a:t>Ripercorre all’indietro l’ipotesi migliore e legge le parole attraversate; le pause non vengono scritte.</a:t>
            </a:r>
            <a:endParaRPr lang="en-US" sz="1400"/>
          </a:p>
        </p:txBody>
      </p:sp>
      <p:sp>
        <p:nvSpPr>
          <p:cNvPr id="17" name="Badge"/>
          <p:cNvSpPr/>
          <p:nvPr/>
        </p:nvSpPr>
        <p:spPr>
          <a:xfrm>
            <a:off x="6355080" y="5120640"/>
            <a:ext cx="411480" cy="411480"/>
          </a:xfrm>
          <a:prstGeom prst="ellipse">
            <a:avLst/>
          </a:prstGeom>
          <a:solidFill>
            <a:schemeClr val="accent1"/>
          </a:solidFill>
          <a:ln/>
        </p:spPr>
      </p:sp>
      <p:sp>
        <p:nvSpPr>
          <p:cNvPr id="18" name="Text 16"/>
          <p:cNvSpPr txBox="1"/>
          <p:nvPr/>
        </p:nvSpPr>
        <p:spPr>
          <a:xfrm>
            <a:off x="6355080" y="5120640"/>
            <a:ext cx="411480" cy="411480"/>
          </a:xfrm>
          <a:prstGeom prst="rect">
            <a:avLst/>
          </a:prstGeom>
          <a:noFill/>
          <a:ln/>
        </p:spPr>
        <p:txBody>
          <a:bodyPr wrap="square" lIns="0" tIns="0" rIns="0" bIns="0" rtlCol="0" anchor="ctr"/>
          <a:lstStyle/>
          <a:p>
            <a:pPr marL="0" indent="0" algn="ctr">
              <a:buNone/>
            </a:pPr>
            <a:r>
              <a:rPr lang="en-US" sz="1400" b="1">
                <a:solidFill>
                  <a:srgbClr val="FFFFFF"/>
                </a:solidFill>
              </a:rPr>
              <a:t>d</a:t>
            </a:r>
            <a:endParaRPr lang="en-US" sz="1400"/>
          </a:p>
        </p:txBody>
      </p:sp>
      <p:sp>
        <p:nvSpPr>
          <p:cNvPr id="19" name="Text 17"/>
          <p:cNvSpPr txBox="1"/>
          <p:nvPr/>
        </p:nvSpPr>
        <p:spPr>
          <a:xfrm>
            <a:off x="6949440" y="5074920"/>
            <a:ext cx="4690872" cy="1005840"/>
          </a:xfrm>
          <a:prstGeom prst="rect">
            <a:avLst/>
          </a:prstGeom>
          <a:noFill/>
          <a:ln/>
        </p:spPr>
        <p:txBody>
          <a:bodyPr wrap="square" lIns="0" tIns="0" rIns="0" bIns="0" rtlCol="0" anchor="t"/>
          <a:lstStyle/>
          <a:p>
            <a:pPr marL="0" indent="0">
              <a:buNone/>
            </a:pPr>
            <a:r>
              <a:rPr lang="en-US" sz="1700" b="1">
                <a:solidFill>
                  <a:schemeClr val="tx1"/>
                </a:solidFill>
              </a:rPr>
              <a:t>Audio brevi in un colpo solo</a:t>
            </a:r>
            <a:endParaRPr lang="en-US" sz="1400"/>
          </a:p>
          <a:p>
            <a:pPr marL="0" indent="0">
              <a:buNone/>
            </a:pPr>
            <a:r>
              <a:rPr lang="en-US" sz="1400">
                <a:solidFill>
                  <a:schemeClr val="tx2"/>
                </a:solidFill>
              </a:rPr>
              <a:t>Fino a 30 s l’audio è cercato in un solo passaggio; oltre, il rilevatore di voce lo divide nei tratti parlati.</a:t>
            </a:r>
            <a:endParaRPr lang="en-US" sz="1400"/>
          </a:p>
        </p:txBody>
      </p:sp>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A4E5D909-40B4-4C80-8454-38C8AE8D0597}"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Fase 6 · Il confronto con il labiale</a:t>
            </a:r>
            <a:endParaRPr lang="en-US" sz="3600"/>
          </a:p>
        </p:txBody>
      </p:sp>
      <p:sp>
        <p:nvSpPr>
          <p:cNvPr id="3" name="Badge"/>
          <p:cNvSpPr/>
          <p:nvPr/>
        </p:nvSpPr>
        <p:spPr>
          <a:xfrm>
            <a:off x="548640" y="1280160"/>
            <a:ext cx="384048" cy="384048"/>
          </a:xfrm>
          <a:prstGeom prst="ellipse">
            <a:avLst/>
          </a:prstGeom>
          <a:solidFill>
            <a:schemeClr val="accent1"/>
          </a:solidFill>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marL="0" indent="0" algn="ctr">
              <a:buNone/>
            </a:pPr>
            <a:r>
              <a:rPr lang="en-US" sz="1400" b="1">
                <a:solidFill>
                  <a:srgbClr val="FFFFFF"/>
                </a:solidFill>
              </a:rPr>
              <a:t>6</a:t>
            </a:r>
            <a:endParaRPr lang="en-US" sz="1400"/>
          </a:p>
        </p:txBody>
      </p:sp>
      <p:sp>
        <p:nvSpPr>
          <p:cNvPr id="5" name="Text 3"/>
          <p:cNvSpPr txBox="1"/>
          <p:nvPr/>
        </p:nvSpPr>
        <p:spPr>
          <a:xfrm>
            <a:off x="1051560" y="1344168"/>
            <a:ext cx="10058400" cy="274320"/>
          </a:xfrm>
          <a:prstGeom prst="rect">
            <a:avLst/>
          </a:prstGeom>
          <a:noFill/>
          <a:ln/>
        </p:spPr>
        <p:txBody>
          <a:bodyPr wrap="square" lIns="0" tIns="0" rIns="0" bIns="0" rtlCol="0" anchor="t"/>
          <a:lstStyle/>
          <a:p>
            <a:pPr marL="0" indent="0">
              <a:buNone/>
            </a:pPr>
            <a:r>
              <a:rPr lang="en-US" sz="1100" b="1" kern="0" spc="100">
                <a:solidFill>
                  <a:schemeClr val="tx2"/>
                </a:solidFill>
              </a:rPr>
              <a:t>lost_in_translation.py compare</a:t>
            </a:r>
            <a:endParaRPr lang="en-US" sz="1100"/>
          </a:p>
        </p:txBody>
      </p:sp>
      <p:sp>
        <p:nvSpPr>
          <p:cNvPr id="6" name="Text 4"/>
          <p:cNvSpPr txBox="1"/>
          <p:nvPr/>
        </p:nvSpPr>
        <p:spPr>
          <a:xfrm>
            <a:off x="548640" y="1828800"/>
            <a:ext cx="5394960" cy="3246120"/>
          </a:xfrm>
          <a:prstGeom prst="rect">
            <a:avLst/>
          </a:prstGeom>
          <a:noFill/>
          <a:ln/>
        </p:spPr>
        <p:txBody>
          <a:bodyPr wrap="square" lIns="0" tIns="0" rIns="0" bIns="0" rtlCol="0" anchor="t"/>
          <a:lstStyle/>
          <a:p>
            <a:pPr marL="0" indent="0">
              <a:spcAft>
                <a:spcPts val="800"/>
              </a:spcAft>
              <a:buNone/>
            </a:pPr>
            <a:r>
              <a:rPr lang="en-US" sz="1500" b="1">
                <a:solidFill>
                  <a:schemeClr val="tx1"/>
                </a:solidFill>
              </a:rPr>
              <a:t>Gli stessi video per tutti e due. </a:t>
            </a:r>
            <a:r>
              <a:rPr lang="en-US" sz="1500">
                <a:solidFill>
                  <a:schemeClr val="tx1"/>
                </a:solidFill>
              </a:rPr>
              <a:t>Entrano solo i video che PureScribe ha trascritto con esito ok, e su quegli stessi video si ricalcola anche Whisper, dai testi salvati dalla baseline.</a:t>
            </a:r>
            <a:endParaRPr lang="en-US" sz="1500"/>
          </a:p>
          <a:p>
            <a:pPr marL="0" indent="0">
              <a:spcAft>
                <a:spcPts val="800"/>
              </a:spcAft>
              <a:buNone/>
            </a:pPr>
            <a:r>
              <a:rPr lang="en-US" sz="1500" b="1">
                <a:solidFill>
                  <a:schemeClr val="tx1"/>
                </a:solidFill>
              </a:rPr>
              <a:t>Le stesse regole della baseline. </a:t>
            </a:r>
            <a:r>
              <a:rPr lang="en-US" sz="1500">
                <a:solidFill>
                  <a:schemeClr val="tx1"/>
                </a:solidFill>
              </a:rPr>
              <a:t>Il testo di PureScribe viene pulito come la baseline puliva quello di Whisper: minuscole, niente punteggiatura né esitazioni come um o uh. Poi si contano le lettere da cambiare per passare da un testo all’altro, divise per la lunghezza del più lungo.</a:t>
            </a:r>
            <a:endParaRPr lang="en-US" sz="1500"/>
          </a:p>
          <a:p>
            <a:pPr marL="0" indent="0">
              <a:spcAft>
                <a:spcPts val="800"/>
              </a:spcAft>
              <a:buNone/>
            </a:pPr>
            <a:r>
              <a:rPr lang="en-US" sz="1500" b="1">
                <a:solidFill>
                  <a:schemeClr val="tx1"/>
                </a:solidFill>
              </a:rPr>
              <a:t>Oltre 0,5 è deepfake. </a:t>
            </a:r>
            <a:r>
              <a:rPr lang="en-US" sz="1500">
                <a:solidFill>
                  <a:schemeClr val="tx1"/>
                </a:solidFill>
              </a:rPr>
              <a:t>La soglia è quella della baseline e non viene ritoccata per PureScribe.</a:t>
            </a:r>
            <a:endParaRPr lang="en-US" sz="1500"/>
          </a:p>
        </p:txBody>
      </p:sp>
      <p:sp>
        <p:nvSpPr>
          <p:cNvPr id="7" name="Card"/>
          <p:cNvSpPr/>
          <p:nvPr/>
        </p:nvSpPr>
        <p:spPr>
          <a:xfrm>
            <a:off x="548640" y="5212080"/>
            <a:ext cx="5394960" cy="914400"/>
          </a:xfrm>
          <a:prstGeom prst="roundRect">
            <a:avLst>
              <a:gd name="adj" fmla="val 8000"/>
            </a:avLst>
          </a:prstGeom>
          <a:solidFill>
            <a:srgbClr val="FFFFFF"/>
          </a:solidFill>
          <a:ln w="19050">
            <a:solidFill>
              <a:schemeClr val="accent1"/>
            </a:solidFill>
            <a:prstDash val="solid"/>
          </a:ln>
        </p:spPr>
      </p:sp>
      <p:sp>
        <p:nvSpPr>
          <p:cNvPr id="8" name="Text 6"/>
          <p:cNvSpPr txBox="1"/>
          <p:nvPr/>
        </p:nvSpPr>
        <p:spPr>
          <a:xfrm>
            <a:off x="777240" y="5212080"/>
            <a:ext cx="4983480" cy="914400"/>
          </a:xfrm>
          <a:prstGeom prst="rect">
            <a:avLst/>
          </a:prstGeom>
          <a:noFill/>
          <a:ln/>
        </p:spPr>
        <p:txBody>
          <a:bodyPr wrap="square" lIns="0" tIns="0" rIns="0" bIns="0" rtlCol="0" anchor="ctr"/>
          <a:lstStyle/>
          <a:p>
            <a:pPr marL="0" indent="0">
              <a:buNone/>
            </a:pPr>
            <a:r>
              <a:rPr lang="en-US" sz="1400" b="1">
                <a:solidFill>
                  <a:schemeClr val="accent1"/>
                </a:solidFill>
              </a:rPr>
              <a:t>Cosa esce: </a:t>
            </a:r>
            <a:r>
              <a:rPr lang="en-US" sz="1400">
                <a:solidFill>
                  <a:schemeClr val="tx1"/>
                </a:solidFill>
              </a:rPr>
              <a:t>deepfake_comparison.json, con veri e falsi positivi e negativi, accuratezza, F1 e distanze per metodo, per Whisper e per PureScribe.</a:t>
            </a:r>
            <a:endParaRPr lang="en-US" sz="1400"/>
          </a:p>
        </p:txBody>
      </p:sp>
      <p:sp>
        <p:nvSpPr>
          <p:cNvPr id="9" name="Card"/>
          <p:cNvSpPr/>
          <p:nvPr/>
        </p:nvSpPr>
        <p:spPr>
          <a:xfrm>
            <a:off x="6355080" y="1783080"/>
            <a:ext cx="5285232" cy="1737360"/>
          </a:xfrm>
          <a:prstGeom prst="roundRect">
            <a:avLst>
              <a:gd name="adj" fmla="val 4211"/>
            </a:avLst>
          </a:prstGeom>
          <a:solidFill>
            <a:schemeClr val="bg2"/>
          </a:solidFill>
          <a:ln/>
        </p:spPr>
      </p:sp>
      <p:sp>
        <p:nvSpPr>
          <p:cNvPr id="10" name="Text 8"/>
          <p:cNvSpPr txBox="1"/>
          <p:nvPr/>
        </p:nvSpPr>
        <p:spPr>
          <a:xfrm>
            <a:off x="6583680" y="1874520"/>
            <a:ext cx="4846320" cy="274320"/>
          </a:xfrm>
          <a:prstGeom prst="rect">
            <a:avLst/>
          </a:prstGeom>
          <a:noFill/>
          <a:ln/>
        </p:spPr>
        <p:txBody>
          <a:bodyPr wrap="square" lIns="0" tIns="0" rIns="0" bIns="0" rtlCol="0" anchor="t"/>
          <a:lstStyle/>
          <a:p>
            <a:pPr marL="0" indent="0">
              <a:buNone/>
            </a:pPr>
            <a:r>
              <a:rPr lang="en-US" sz="1300" b="1">
                <a:solidFill>
                  <a:schemeClr val="tx2"/>
                </a:solidFill>
              </a:rPr>
              <a:t>distanza tra testo dell’audio e testo del labiale</a:t>
            </a:r>
            <a:endParaRPr lang="en-US" sz="1300"/>
          </a:p>
        </p:txBody>
      </p:sp>
      <p:sp>
        <p:nvSpPr>
          <p:cNvPr id="11" name="Reale"/>
          <p:cNvSpPr/>
          <p:nvPr/>
        </p:nvSpPr>
        <p:spPr>
          <a:xfrm>
            <a:off x="6629400" y="2331720"/>
            <a:ext cx="2368296" cy="384048"/>
          </a:xfrm>
          <a:prstGeom prst="rect">
            <a:avLst/>
          </a:prstGeom>
          <a:solidFill>
            <a:schemeClr val="accent1"/>
          </a:solidFill>
          <a:ln/>
        </p:spPr>
      </p:sp>
      <p:sp>
        <p:nvSpPr>
          <p:cNvPr id="12" name="Deepfake"/>
          <p:cNvSpPr/>
          <p:nvPr/>
        </p:nvSpPr>
        <p:spPr>
          <a:xfrm>
            <a:off x="8997696" y="2331720"/>
            <a:ext cx="2368296" cy="384048"/>
          </a:xfrm>
          <a:prstGeom prst="rect">
            <a:avLst/>
          </a:prstGeom>
          <a:solidFill>
            <a:schemeClr val="accent2"/>
          </a:solidFill>
          <a:ln/>
        </p:spPr>
      </p:sp>
      <p:sp>
        <p:nvSpPr>
          <p:cNvPr id="13" name="Text 11"/>
          <p:cNvSpPr txBox="1"/>
          <p:nvPr/>
        </p:nvSpPr>
        <p:spPr>
          <a:xfrm>
            <a:off x="6629400" y="2331720"/>
            <a:ext cx="2368296" cy="384048"/>
          </a:xfrm>
          <a:prstGeom prst="rect">
            <a:avLst/>
          </a:prstGeom>
          <a:noFill/>
          <a:ln/>
        </p:spPr>
        <p:txBody>
          <a:bodyPr wrap="square" lIns="0" tIns="0" rIns="0" bIns="0" rtlCol="0" anchor="ctr"/>
          <a:lstStyle/>
          <a:p>
            <a:pPr marL="0" indent="0" algn="ctr">
              <a:buNone/>
            </a:pPr>
            <a:r>
              <a:rPr lang="en-US" sz="1400" b="1">
                <a:solidFill>
                  <a:srgbClr val="FFFFFF"/>
                </a:solidFill>
              </a:rPr>
              <a:t>reale</a:t>
            </a:r>
            <a:endParaRPr lang="en-US" sz="1400"/>
          </a:p>
        </p:txBody>
      </p:sp>
      <p:sp>
        <p:nvSpPr>
          <p:cNvPr id="14" name="Text 12"/>
          <p:cNvSpPr txBox="1"/>
          <p:nvPr/>
        </p:nvSpPr>
        <p:spPr>
          <a:xfrm>
            <a:off x="8997696" y="2331720"/>
            <a:ext cx="2368296" cy="384048"/>
          </a:xfrm>
          <a:prstGeom prst="rect">
            <a:avLst/>
          </a:prstGeom>
          <a:noFill/>
          <a:ln/>
        </p:spPr>
        <p:txBody>
          <a:bodyPr wrap="square" lIns="0" tIns="0" rIns="0" bIns="0" rtlCol="0" anchor="ctr"/>
          <a:lstStyle/>
          <a:p>
            <a:pPr marL="0" indent="0" algn="ctr">
              <a:buNone/>
            </a:pPr>
            <a:r>
              <a:rPr lang="en-US" sz="1400" b="1">
                <a:solidFill>
                  <a:srgbClr val="FFFFFF"/>
                </a:solidFill>
              </a:rPr>
              <a:t>deepfake</a:t>
            </a:r>
            <a:endParaRPr lang="en-US" sz="1400"/>
          </a:p>
        </p:txBody>
      </p:sp>
      <p:sp>
        <p:nvSpPr>
          <p:cNvPr id="15" name="Shape 13"/>
          <p:cNvSpPr/>
          <p:nvPr/>
        </p:nvSpPr>
        <p:spPr>
          <a:xfrm>
            <a:off x="8997696" y="2240280"/>
            <a:ext cx="0" cy="566928"/>
          </a:xfrm>
          <a:prstGeom prst="line">
            <a:avLst/>
          </a:prstGeom>
          <a:noFill/>
          <a:ln w="25400">
            <a:solidFill>
              <a:schemeClr val="tx1"/>
            </a:solidFill>
            <a:prstDash val="solid"/>
          </a:ln>
        </p:spPr>
      </p:sp>
      <p:sp>
        <p:nvSpPr>
          <p:cNvPr id="16" name="Text 14"/>
          <p:cNvSpPr txBox="1"/>
          <p:nvPr/>
        </p:nvSpPr>
        <p:spPr>
          <a:xfrm>
            <a:off x="6629400" y="2834640"/>
            <a:ext cx="1828800" cy="274320"/>
          </a:xfrm>
          <a:prstGeom prst="rect">
            <a:avLst/>
          </a:prstGeom>
          <a:noFill/>
          <a:ln/>
        </p:spPr>
        <p:txBody>
          <a:bodyPr wrap="square" lIns="0" tIns="0" rIns="0" bIns="0" rtlCol="0" anchor="t"/>
          <a:lstStyle/>
          <a:p>
            <a:pPr marL="0" indent="0">
              <a:buNone/>
            </a:pPr>
            <a:r>
              <a:rPr lang="en-US" sz="1200">
                <a:solidFill>
                  <a:schemeClr val="tx2"/>
                </a:solidFill>
              </a:rPr>
              <a:t>0 · testi identici</a:t>
            </a:r>
            <a:endParaRPr lang="en-US" sz="1200"/>
          </a:p>
        </p:txBody>
      </p:sp>
      <p:sp>
        <p:nvSpPr>
          <p:cNvPr id="17" name="Text 15"/>
          <p:cNvSpPr txBox="1"/>
          <p:nvPr/>
        </p:nvSpPr>
        <p:spPr>
          <a:xfrm>
            <a:off x="8311896" y="2834640"/>
            <a:ext cx="1371600" cy="274320"/>
          </a:xfrm>
          <a:prstGeom prst="rect">
            <a:avLst/>
          </a:prstGeom>
          <a:noFill/>
          <a:ln/>
        </p:spPr>
        <p:txBody>
          <a:bodyPr wrap="square" lIns="0" tIns="0" rIns="0" bIns="0" rtlCol="0" anchor="t"/>
          <a:lstStyle/>
          <a:p>
            <a:pPr marL="0" indent="0" algn="ctr">
              <a:buNone/>
            </a:pPr>
            <a:r>
              <a:rPr lang="en-US" sz="1200" b="1">
                <a:solidFill>
                  <a:schemeClr val="tx1"/>
                </a:solidFill>
              </a:rPr>
              <a:t>soglia 0,5</a:t>
            </a:r>
            <a:endParaRPr lang="en-US" sz="1200"/>
          </a:p>
        </p:txBody>
      </p:sp>
      <p:sp>
        <p:nvSpPr>
          <p:cNvPr id="18" name="Text 16"/>
          <p:cNvSpPr txBox="1"/>
          <p:nvPr/>
        </p:nvSpPr>
        <p:spPr>
          <a:xfrm>
            <a:off x="9537192" y="2834640"/>
            <a:ext cx="1828800" cy="274320"/>
          </a:xfrm>
          <a:prstGeom prst="rect">
            <a:avLst/>
          </a:prstGeom>
          <a:noFill/>
          <a:ln/>
        </p:spPr>
        <p:txBody>
          <a:bodyPr wrap="square" lIns="0" tIns="0" rIns="0" bIns="0" rtlCol="0" anchor="t"/>
          <a:lstStyle/>
          <a:p>
            <a:pPr marL="0" indent="0" algn="r">
              <a:buNone/>
            </a:pPr>
            <a:r>
              <a:rPr lang="en-US" sz="1200">
                <a:solidFill>
                  <a:schemeClr val="tx2"/>
                </a:solidFill>
              </a:rPr>
              <a:t>1 · nulla in comune</a:t>
            </a:r>
            <a:endParaRPr lang="en-US" sz="1200"/>
          </a:p>
        </p:txBody>
      </p:sp>
      <p:sp>
        <p:nvSpPr>
          <p:cNvPr id="19" name="Codice"/>
          <p:cNvSpPr/>
          <p:nvPr/>
        </p:nvSpPr>
        <p:spPr>
          <a:xfrm>
            <a:off x="6355080" y="3703320"/>
            <a:ext cx="5285232" cy="2423160"/>
          </a:xfrm>
          <a:prstGeom prst="roundRect">
            <a:avLst>
              <a:gd name="adj" fmla="val 3019"/>
            </a:avLst>
          </a:prstGeom>
          <a:solidFill>
            <a:schemeClr val="tx1"/>
          </a:solidFill>
          <a:ln/>
        </p:spPr>
      </p:sp>
      <p:sp>
        <p:nvSpPr>
          <p:cNvPr id="20" name="Text 18"/>
          <p:cNvSpPr txBox="1"/>
          <p:nvPr/>
        </p:nvSpPr>
        <p:spPr>
          <a:xfrm>
            <a:off x="6556248" y="3867912"/>
            <a:ext cx="4882896" cy="2093976"/>
          </a:xfrm>
          <a:prstGeom prst="rect">
            <a:avLst/>
          </a:prstGeom>
          <a:noFill/>
          <a:ln/>
        </p:spPr>
        <p:txBody>
          <a:bodyPr wrap="square" lIns="0" tIns="0" rIns="0" bIns="0" rtlCol="0" anchor="ctr"/>
          <a:lstStyle/>
          <a:p>
            <a:pPr marL="0" indent="0">
              <a:buNone/>
            </a:pPr>
            <a:r>
              <a:rPr lang="en-US" sz="1000">
                <a:solidFill>
                  <a:schemeClr val="accent5"/>
                </a:solidFill>
                <a:latin typeface="Courier New"/>
                <a:ea typeface="Courier New"/>
                <a:cs typeface="Courier New"/>
              </a:rPr>
              <a:t># lost_in_translation.py · compare()</a:t>
            </a:r>
            <a:endParaRPr lang="en-US" sz="1000"/>
          </a:p>
          <a:p>
            <a:pPr marL="0" indent="0">
              <a:buNone/>
            </a:pPr>
            <a:r>
              <a:rPr lang="en-US" sz="1000">
                <a:solidFill>
                  <a:srgbClr val="E6EDF3"/>
                </a:solidFill>
                <a:latin typeface="Courier New"/>
                <a:ea typeface="Courier New"/>
                <a:cs typeface="Courier New"/>
              </a:rPr>
              <a:t>for system, audio in (("whisper", whisper_text),</a:t>
            </a:r>
            <a:endParaRPr lang="en-US" sz="1000"/>
          </a:p>
          <a:p>
            <a:pPr marL="0" indent="0">
              <a:buNone/>
            </a:pPr>
            <a:r>
              <a:rPr lang="en-US" sz="1000">
                <a:solidFill>
                  <a:srgbClr val="E6EDF3"/>
                </a:solidFill>
                <a:latin typeface="Courier New"/>
                <a:ea typeface="Courier New"/>
                <a:cs typeface="Courier New"/>
              </a:rPr>
              <a:t>        ("purescribe", standardize_text(pure_text))):</a:t>
            </a:r>
            <a:endParaRPr lang="en-US" sz="1000"/>
          </a:p>
          <a:p>
            <a:pPr marL="0" indent="0">
              <a:buNone/>
            </a:pPr>
            <a:r>
              <a:rPr lang="en-US" sz="1000">
                <a:solidFill>
                  <a:srgbClr val="E6EDF3"/>
                </a:solidFill>
                <a:latin typeface="Courier New"/>
                <a:ea typeface="Courier New"/>
                <a:cs typeface="Courier New"/>
              </a:rPr>
              <a:t>    distance = normalized_levenshtein(audio, video_text)</a:t>
            </a:r>
            <a:endParaRPr lang="en-US" sz="1000"/>
          </a:p>
          <a:p>
            <a:pPr marL="0" indent="0">
              <a:buNone/>
            </a:pPr>
            <a:r>
              <a:rPr lang="en-US" sz="1000">
                <a:solidFill>
                  <a:srgbClr val="E6EDF3"/>
                </a:solidFill>
                <a:latin typeface="Courier New"/>
                <a:ea typeface="Courier New"/>
                <a:cs typeface="Courier New"/>
              </a:rPr>
              <a:t>    prediction = "fake" if distance &gt; threshold else "real"</a:t>
            </a:r>
            <a:endParaRPr lang="en-US" sz="1000"/>
          </a:p>
          <a:p>
            <a:pPr marL="0" indent="0">
              <a:buNone/>
            </a:pPr>
            <a:r>
              <a:rPr lang="en-US" sz="1000">
                <a:solidFill>
                  <a:srgbClr val="E6EDF3"/>
                </a:solidFill>
                <a:latin typeface="Courier New"/>
                <a:ea typeface="Courier New"/>
                <a:cs typeface="Courier New"/>
              </a:rPr>
              <a:t> </a:t>
            </a:r>
            <a:endParaRPr lang="en-US" sz="1000"/>
          </a:p>
          <a:p>
            <a:pPr marL="0" indent="0">
              <a:buNone/>
            </a:pPr>
            <a:r>
              <a:rPr lang="en-US" sz="1000">
                <a:solidFill>
                  <a:schemeClr val="accent5"/>
                </a:solidFill>
                <a:latin typeface="Courier New"/>
                <a:ea typeface="Courier New"/>
                <a:cs typeface="Courier New"/>
              </a:rPr>
              <a:t># normalized_levenshtein(): uguale alla baseline</a:t>
            </a:r>
            <a:endParaRPr lang="en-US" sz="1000"/>
          </a:p>
          <a:p>
            <a:pPr marL="0" indent="0">
              <a:buNone/>
            </a:pPr>
            <a:r>
              <a:rPr lang="en-US" sz="1000">
                <a:solidFill>
                  <a:srgbClr val="E6EDF3"/>
                </a:solidFill>
                <a:latin typeface="Courier New"/>
                <a:ea typeface="Courier New"/>
                <a:cs typeface="Courier New"/>
              </a:rPr>
              <a:t>round(edit_distance(first, second)</a:t>
            </a:r>
            <a:endParaRPr lang="en-US" sz="1000"/>
          </a:p>
          <a:p>
            <a:pPr marL="0" indent="0">
              <a:buNone/>
            </a:pPr>
            <a:r>
              <a:rPr lang="en-US" sz="1000">
                <a:solidFill>
                  <a:srgbClr val="E6EDF3"/>
                </a:solidFill>
                <a:latin typeface="Courier New"/>
                <a:ea typeface="Courier New"/>
                <a:cs typeface="Courier New"/>
              </a:rPr>
              <a:t>      / max(len(first), len(second)), 4)</a:t>
            </a:r>
            <a:endParaRPr lang="en-US" sz="1000"/>
          </a:p>
        </p:txBody>
      </p:sp>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80EC94FA-F8E2-4AC5-8BAF-84C1CD9CCE2A}"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olo"/>
          <p:cNvSpPr txBox="1"/>
          <p:nvPr/>
        </p:nvSpPr>
        <p:spPr>
          <a:xfrm>
            <a:off x="457200" y="274320"/>
            <a:ext cx="11277295" cy="822960"/>
          </a:xfrm>
          <a:prstGeom prst="rect">
            <a:avLst/>
          </a:prstGeom>
          <a:noFill/>
          <a:ln/>
        </p:spPr>
        <p:txBody>
          <a:bodyPr wrap="square" lIns="0" tIns="0" rIns="0" bIns="0" rtlCol="0" anchor="ctr"/>
          <a:lstStyle/>
          <a:p>
            <a:pPr marL="0" indent="0" algn="ctr">
              <a:buNone/>
            </a:pPr>
            <a:r>
              <a:rPr lang="en-US" sz="3600" b="1">
                <a:solidFill>
                  <a:schemeClr val="tx1"/>
                </a:solidFill>
                <a:latin typeface="Cambria"/>
                <a:ea typeface="Cambria"/>
                <a:cs typeface="Cambria"/>
              </a:rPr>
              <a:t>Cosa tenere presente</a:t>
            </a:r>
            <a:endParaRPr lang="en-US" sz="3600"/>
          </a:p>
        </p:txBody>
      </p:sp>
      <p:sp>
        <p:nvSpPr>
          <p:cNvPr id="3" name="Card"/>
          <p:cNvSpPr/>
          <p:nvPr/>
        </p:nvSpPr>
        <p:spPr>
          <a:xfrm>
            <a:off x="548640" y="1463040"/>
            <a:ext cx="5394960" cy="1920240"/>
          </a:xfrm>
          <a:prstGeom prst="roundRect">
            <a:avLst>
              <a:gd name="adj" fmla="val 3810"/>
            </a:avLst>
          </a:prstGeom>
          <a:solidFill>
            <a:schemeClr val="bg2"/>
          </a:solidFill>
          <a:ln/>
        </p:spPr>
      </p:sp>
      <p:sp>
        <p:nvSpPr>
          <p:cNvPr id="4" name="Badge"/>
          <p:cNvSpPr/>
          <p:nvPr/>
        </p:nvSpPr>
        <p:spPr>
          <a:xfrm>
            <a:off x="822960" y="1783080"/>
            <a:ext cx="685800" cy="685800"/>
          </a:xfrm>
          <a:prstGeom prst="ellipse">
            <a:avLst/>
          </a:prstGeom>
          <a:solidFill>
            <a:schemeClr val="accent1"/>
          </a:solidFill>
          <a:ln/>
        </p:spPr>
      </p:sp>
      <p:sp>
        <p:nvSpPr>
          <p:cNvPr id="5"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000" b="1">
                <a:solidFill>
                  <a:srgbClr val="FFFFFF"/>
                </a:solidFill>
              </a:rPr>
              <a:t>V</a:t>
            </a:r>
            <a:endParaRPr lang="en-US" sz="2000"/>
          </a:p>
        </p:txBody>
      </p:sp>
      <p:sp>
        <p:nvSpPr>
          <p:cNvPr id="6" name="Text 4"/>
          <p:cNvSpPr txBox="1"/>
          <p:nvPr/>
        </p:nvSpPr>
        <p:spPr>
          <a:xfrm>
            <a:off x="1737360" y="1737360"/>
            <a:ext cx="4023360" cy="1508760"/>
          </a:xfrm>
          <a:prstGeom prst="rect">
            <a:avLst/>
          </a:prstGeom>
          <a:noFill/>
          <a:ln/>
        </p:spPr>
        <p:txBody>
          <a:bodyPr wrap="square" lIns="0" tIns="0" rIns="0" bIns="0" rtlCol="0" anchor="t"/>
          <a:lstStyle/>
          <a:p>
            <a:pPr marL="0" indent="0">
              <a:spcAft>
                <a:spcPts val="400"/>
              </a:spcAft>
              <a:buNone/>
            </a:pPr>
            <a:r>
              <a:rPr lang="en-US" sz="1800" b="1">
                <a:solidFill>
                  <a:schemeClr val="tx1"/>
                </a:solidFill>
              </a:rPr>
              <a:t>Conosce solo le sue parole</a:t>
            </a:r>
            <a:endParaRPr lang="en-US" sz="1400"/>
          </a:p>
          <a:p>
            <a:pPr marL="0" indent="0">
              <a:spcAft>
                <a:spcPts val="400"/>
              </a:spcAft>
              <a:buNone/>
            </a:pPr>
            <a:r>
              <a:rPr lang="en-US" sz="1500">
                <a:solidFill>
                  <a:schemeClr val="tx2"/>
                </a:solidFill>
              </a:rPr>
              <a:t>1676 parole: nel parlato libero molte parole sono fuori vocabolario, quindi anche nei video autentici il testo audio si allontana dal labiale.</a:t>
            </a:r>
            <a:endParaRPr lang="en-US" sz="1400"/>
          </a:p>
        </p:txBody>
      </p:sp>
      <p:sp>
        <p:nvSpPr>
          <p:cNvPr id="7" name="Card"/>
          <p:cNvSpPr/>
          <p:nvPr/>
        </p:nvSpPr>
        <p:spPr>
          <a:xfrm>
            <a:off x="6263640" y="1463040"/>
            <a:ext cx="5394960" cy="1920240"/>
          </a:xfrm>
          <a:prstGeom prst="roundRect">
            <a:avLst>
              <a:gd name="adj" fmla="val 3810"/>
            </a:avLst>
          </a:prstGeom>
          <a:solidFill>
            <a:schemeClr val="bg2"/>
          </a:solidFill>
          <a:ln/>
        </p:spPr>
      </p:sp>
      <p:sp>
        <p:nvSpPr>
          <p:cNvPr id="8" name="Badge"/>
          <p:cNvSpPr/>
          <p:nvPr/>
        </p:nvSpPr>
        <p:spPr>
          <a:xfrm>
            <a:off x="6537960" y="1783080"/>
            <a:ext cx="685800" cy="685800"/>
          </a:xfrm>
          <a:prstGeom prst="ellipse">
            <a:avLst/>
          </a:prstGeom>
          <a:solidFill>
            <a:schemeClr val="accent4"/>
          </a:solidFill>
          <a:ln/>
        </p:spPr>
      </p:sp>
      <p:sp>
        <p:nvSpPr>
          <p:cNvPr id="9" name="Text 7"/>
          <p:cNvSpPr txBox="1"/>
          <p:nvPr/>
        </p:nvSpPr>
        <p:spPr>
          <a:xfrm>
            <a:off x="6537960" y="1783080"/>
            <a:ext cx="685800" cy="685800"/>
          </a:xfrm>
          <a:prstGeom prst="rect">
            <a:avLst/>
          </a:prstGeom>
          <a:noFill/>
          <a:ln/>
        </p:spPr>
        <p:txBody>
          <a:bodyPr wrap="square" lIns="0" tIns="0" rIns="0" bIns="0" rtlCol="0" anchor="ctr"/>
          <a:lstStyle/>
          <a:p>
            <a:pPr marL="0" indent="0" algn="ctr">
              <a:buNone/>
            </a:pPr>
            <a:r>
              <a:rPr lang="en-US" sz="2000" b="1">
                <a:solidFill>
                  <a:srgbClr val="FFFFFF"/>
                </a:solidFill>
              </a:rPr>
              <a:t>≠</a:t>
            </a:r>
            <a:endParaRPr lang="en-US" sz="2000"/>
          </a:p>
        </p:txBody>
      </p:sp>
      <p:sp>
        <p:nvSpPr>
          <p:cNvPr id="10" name="Text 8"/>
          <p:cNvSpPr txBox="1"/>
          <p:nvPr/>
        </p:nvSpPr>
        <p:spPr>
          <a:xfrm>
            <a:off x="7452360" y="1737360"/>
            <a:ext cx="4023360" cy="1508760"/>
          </a:xfrm>
          <a:prstGeom prst="rect">
            <a:avLst/>
          </a:prstGeom>
          <a:noFill/>
          <a:ln/>
        </p:spPr>
        <p:txBody>
          <a:bodyPr wrap="square" lIns="0" tIns="0" rIns="0" bIns="0" rtlCol="0" anchor="t"/>
          <a:lstStyle/>
          <a:p>
            <a:pPr marL="0" indent="0">
              <a:spcAft>
                <a:spcPts val="400"/>
              </a:spcAft>
              <a:buNone/>
            </a:pPr>
            <a:r>
              <a:rPr lang="en-US" sz="1800" b="1">
                <a:solidFill>
                  <a:schemeClr val="tx1"/>
                </a:solidFill>
              </a:rPr>
              <a:t>Due mondi acustici</a:t>
            </a:r>
            <a:endParaRPr lang="en-US" sz="1400"/>
          </a:p>
          <a:p>
            <a:pPr marL="0" indent="0">
              <a:spcAft>
                <a:spcPts val="400"/>
              </a:spcAft>
              <a:buNone/>
            </a:pPr>
            <a:r>
              <a:rPr lang="en-US" sz="1500">
                <a:solidFill>
                  <a:schemeClr val="tx2"/>
                </a:solidFill>
              </a:rPr>
              <a:t>Impara da parole ritagliate da frasi lette di Common Voice e lavora sull’audio registrato in webcam dei video DeepSpeak.</a:t>
            </a:r>
            <a:endParaRPr lang="en-US" sz="1400"/>
          </a:p>
        </p:txBody>
      </p:sp>
      <p:sp>
        <p:nvSpPr>
          <p:cNvPr id="11" name="Card"/>
          <p:cNvSpPr/>
          <p:nvPr/>
        </p:nvSpPr>
        <p:spPr>
          <a:xfrm>
            <a:off x="548640" y="3657600"/>
            <a:ext cx="5394960" cy="1920240"/>
          </a:xfrm>
          <a:prstGeom prst="roundRect">
            <a:avLst>
              <a:gd name="adj" fmla="val 3810"/>
            </a:avLst>
          </a:prstGeom>
          <a:solidFill>
            <a:schemeClr val="bg2"/>
          </a:solidFill>
          <a:ln/>
        </p:spPr>
      </p:sp>
      <p:sp>
        <p:nvSpPr>
          <p:cNvPr id="12" name="Badge"/>
          <p:cNvSpPr/>
          <p:nvPr/>
        </p:nvSpPr>
        <p:spPr>
          <a:xfrm>
            <a:off x="822960" y="3977640"/>
            <a:ext cx="685800" cy="685800"/>
          </a:xfrm>
          <a:prstGeom prst="ellipse">
            <a:avLst/>
          </a:prstGeom>
          <a:solidFill>
            <a:schemeClr val="accent2"/>
          </a:solidFill>
          <a:ln/>
        </p:spPr>
      </p:sp>
      <p:sp>
        <p:nvSpPr>
          <p:cNvPr id="13" name="Text 11"/>
          <p:cNvSpPr txBox="1"/>
          <p:nvPr/>
        </p:nvSpPr>
        <p:spPr>
          <a:xfrm>
            <a:off x="822960" y="3977640"/>
            <a:ext cx="685800" cy="685800"/>
          </a:xfrm>
          <a:prstGeom prst="rect">
            <a:avLst/>
          </a:prstGeom>
          <a:noFill/>
          <a:ln/>
        </p:spPr>
        <p:txBody>
          <a:bodyPr wrap="square" lIns="0" tIns="0" rIns="0" bIns="0" rtlCol="0" anchor="ctr"/>
          <a:lstStyle/>
          <a:p>
            <a:pPr marL="0" indent="0" algn="ctr">
              <a:buNone/>
            </a:pPr>
            <a:r>
              <a:rPr lang="en-US" sz="2000" b="1">
                <a:solidFill>
                  <a:srgbClr val="FFFFFF"/>
                </a:solidFill>
              </a:rPr>
              <a:t>?</a:t>
            </a:r>
            <a:endParaRPr lang="en-US" sz="2000"/>
          </a:p>
        </p:txBody>
      </p:sp>
      <p:sp>
        <p:nvSpPr>
          <p:cNvPr id="14" name="Text 12"/>
          <p:cNvSpPr txBox="1"/>
          <p:nvPr/>
        </p:nvSpPr>
        <p:spPr>
          <a:xfrm>
            <a:off x="1737360" y="3931920"/>
            <a:ext cx="4023360" cy="1508760"/>
          </a:xfrm>
          <a:prstGeom prst="rect">
            <a:avLst/>
          </a:prstGeom>
          <a:noFill/>
          <a:ln/>
        </p:spPr>
        <p:txBody>
          <a:bodyPr wrap="square" lIns="0" tIns="0" rIns="0" bIns="0" rtlCol="0" anchor="t"/>
          <a:lstStyle/>
          <a:p>
            <a:pPr marL="0" indent="0">
              <a:spcAft>
                <a:spcPts val="400"/>
              </a:spcAft>
              <a:buNone/>
            </a:pPr>
            <a:r>
              <a:rPr lang="en-US" sz="1800" b="1">
                <a:solidFill>
                  <a:schemeClr val="tx1"/>
                </a:solidFill>
              </a:rPr>
              <a:t>Tagli non ascoltati</a:t>
            </a:r>
            <a:endParaRPr lang="en-US" sz="1400"/>
          </a:p>
          <a:p>
            <a:pPr marL="0" indent="0">
              <a:spcAft>
                <a:spcPts val="400"/>
              </a:spcAft>
              <a:buNone/>
            </a:pPr>
            <a:r>
              <a:rPr lang="en-US" sz="1500">
                <a:solidFill>
                  <a:schemeClr val="tx2"/>
                </a:solidFill>
              </a:rPr>
              <a:t>Il confronto con il testo ufficiale dice che la parola c’è, non che il taglio sia perfetto: i clip non sono stati ascoltati uno per uno.</a:t>
            </a:r>
            <a:endParaRPr lang="en-US" sz="1400"/>
          </a:p>
        </p:txBody>
      </p:sp>
      <p:sp>
        <p:nvSpPr>
          <p:cNvPr id="15" name="Card"/>
          <p:cNvSpPr/>
          <p:nvPr/>
        </p:nvSpPr>
        <p:spPr>
          <a:xfrm>
            <a:off x="6263640" y="3657600"/>
            <a:ext cx="5394960" cy="1920240"/>
          </a:xfrm>
          <a:prstGeom prst="roundRect">
            <a:avLst>
              <a:gd name="adj" fmla="val 3810"/>
            </a:avLst>
          </a:prstGeom>
          <a:solidFill>
            <a:schemeClr val="bg2"/>
          </a:solidFill>
          <a:ln/>
        </p:spPr>
      </p:sp>
      <p:sp>
        <p:nvSpPr>
          <p:cNvPr id="16" name="Badge"/>
          <p:cNvSpPr/>
          <p:nvPr/>
        </p:nvSpPr>
        <p:spPr>
          <a:xfrm>
            <a:off x="6537960" y="3977640"/>
            <a:ext cx="685800" cy="685800"/>
          </a:xfrm>
          <a:prstGeom prst="ellipse">
            <a:avLst/>
          </a:prstGeom>
          <a:solidFill>
            <a:schemeClr val="accent3"/>
          </a:solidFill>
          <a:ln/>
        </p:spPr>
      </p:sp>
      <p:sp>
        <p:nvSpPr>
          <p:cNvPr id="17" name="Text 15"/>
          <p:cNvSpPr txBox="1"/>
          <p:nvPr/>
        </p:nvSpPr>
        <p:spPr>
          <a:xfrm>
            <a:off x="6537960" y="3977640"/>
            <a:ext cx="685800" cy="685800"/>
          </a:xfrm>
          <a:prstGeom prst="rect">
            <a:avLst/>
          </a:prstGeom>
          <a:noFill/>
          <a:ln/>
        </p:spPr>
        <p:txBody>
          <a:bodyPr wrap="square" lIns="0" tIns="0" rIns="0" bIns="0" rtlCol="0" anchor="ctr"/>
          <a:lstStyle/>
          <a:p>
            <a:pPr marL="0" indent="0" algn="ctr">
              <a:buNone/>
            </a:pPr>
            <a:r>
              <a:rPr lang="en-US" sz="2000" b="1">
                <a:solidFill>
                  <a:srgbClr val="FFFFFF"/>
                </a:solidFill>
              </a:rPr>
              <a:t>n</a:t>
            </a:r>
            <a:endParaRPr lang="en-US" sz="2000"/>
          </a:p>
        </p:txBody>
      </p:sp>
      <p:sp>
        <p:nvSpPr>
          <p:cNvPr id="18" name="Text 16"/>
          <p:cNvSpPr txBox="1"/>
          <p:nvPr/>
        </p:nvSpPr>
        <p:spPr>
          <a:xfrm>
            <a:off x="7452360" y="3931920"/>
            <a:ext cx="4023360" cy="1508760"/>
          </a:xfrm>
          <a:prstGeom prst="rect">
            <a:avLst/>
          </a:prstGeom>
          <a:noFill/>
          <a:ln/>
        </p:spPr>
        <p:txBody>
          <a:bodyPr wrap="square" lIns="0" tIns="0" rIns="0" bIns="0" rtlCol="0" anchor="t"/>
          <a:lstStyle/>
          <a:p>
            <a:pPr marL="0" indent="0">
              <a:spcAft>
                <a:spcPts val="400"/>
              </a:spcAft>
              <a:buNone/>
            </a:pPr>
            <a:r>
              <a:rPr lang="en-US" sz="1800" b="1">
                <a:solidFill>
                  <a:schemeClr val="tx1"/>
                </a:solidFill>
              </a:rPr>
              <a:t>Un banco di prova piccolo</a:t>
            </a:r>
            <a:endParaRPr lang="en-US" sz="1400"/>
          </a:p>
          <a:p>
            <a:pPr marL="0" indent="0">
              <a:spcAft>
                <a:spcPts val="400"/>
              </a:spcAft>
              <a:buNone/>
            </a:pPr>
            <a:r>
              <a:rPr lang="en-US" sz="1500">
                <a:solidFill>
                  <a:schemeClr val="tx2"/>
                </a:solidFill>
              </a:rPr>
              <a:t>120 video, 20 autentici e 100 deepfake, con un solo metodo lip-sync (latentsync); la soglia resta quella della baseline.</a:t>
            </a:r>
            <a:endParaRPr lang="en-US" sz="1400"/>
          </a:p>
        </p:txBody>
      </p:sp>
      <p:sp>
        <p:nvSpPr>
          <p:cNvPr id="19" name="Text 17"/>
          <p:cNvSpPr txBox="1"/>
          <p:nvPr/>
        </p:nvSpPr>
        <p:spPr>
          <a:xfrm>
            <a:off x="548640" y="5852160"/>
            <a:ext cx="11094415" cy="320040"/>
          </a:xfrm>
          <a:prstGeom prst="rect">
            <a:avLst/>
          </a:prstGeom>
          <a:noFill/>
          <a:ln/>
        </p:spPr>
        <p:txBody>
          <a:bodyPr wrap="square" lIns="0" tIns="0" rIns="0" bIns="0" rtlCol="0" anchor="t"/>
          <a:lstStyle/>
          <a:p>
            <a:pPr marL="0" indent="0">
              <a:buNone/>
            </a:pPr>
            <a:r>
              <a:rPr lang="en-US" sz="1400" i="1">
                <a:solidFill>
                  <a:schemeClr val="tx2"/>
                </a:solidFill>
              </a:rPr>
              <a:t>Ogni miglioramento si prova come esperimento separato, senza scegliere parametri guardando DeepSpeak.</a:t>
            </a:r>
            <a:endParaRPr lang="en-US" sz="1400"/>
          </a:p>
        </p:txBody>
      </p:sp>
      <p:sp>
        <p:nvSpPr>
          <p:cNvPr id="25" name="Slide Number Placeholder 0"/>
          <p:cNvSpPr>
            <a:spLocks noGrp="1"/>
          </p:cNvSpPr>
          <p:nvPr>
            <p:ph type="sldNum" sz="quarter" idx="4294967295"/>
          </p:nvPr>
        </p:nvSpPr>
        <p:spPr>
          <a:xfrm>
            <a:off x="11247120" y="6355080"/>
            <a:ext cx="411480" cy="274320"/>
          </a:xfrm>
          <a:prstGeom prst="rect">
            <a:avLst/>
          </a:prstGeom>
        </p:spPr>
        <p:txBody>
          <a:bodyPr/>
          <a:lstStyle>
            <a:lvl1pPr>
              <a:defRPr sz="1000">
                <a:solidFill>
                  <a:schemeClr val="tx2"/>
                </a:solidFill>
              </a:defRPr>
            </a:lvl1pPr>
          </a:lstStyle>
          <a:p>
            <a:pPr algn="r"/>
            <a:fld id="{A67E2D13-7704-45C7-8091-8B2F05FD78CE}" type="slidenum">
              <a:rPr lang="en-US" b="0"/>
              <a:t>10</a:t>
            </a:fld>
            <a:endParaRPr lang="en-US"/>
          </a:p>
        </p:txBody>
      </p:sp>
    </p:spTree>
  </p:cSld>
  <p:clrMapOvr>
    <a:masterClrMapping/>
  </p:clrMapOvr>
</p:sld>
</file>

<file path=ppt/theme/theme1.xml><?xml version="1.0" encoding="utf-8"?>
<a:theme xmlns:a="http://schemas.openxmlformats.org/drawingml/2006/main" xmlns:r="http://schemas.openxmlformats.org/officeDocument/2006/relationships" name="PureScribe">
  <a:themeElements>
    <a:clrScheme name="PureScribe">
      <a:dk1>
        <a:srgbClr val="1A2638"/>
      </a:dk1>
      <a:lt1>
        <a:srgbClr val="FFFFFF"/>
      </a:lt1>
      <a:dk2>
        <a:srgbClr val="556270"/>
      </a:dk2>
      <a:lt2>
        <a:srgbClr val="ECF1F3"/>
      </a:lt2>
      <a:accent1>
        <a:srgbClr val="0F7B78"/>
      </a:accent1>
      <a:accent2>
        <a:srgbClr val="C8691C"/>
      </a:accent2>
      <a:accent3>
        <a:srgbClr val="5C4D9E"/>
      </a:accent3>
      <a:accent4>
        <a:srgbClr val="B5302A"/>
      </a:accent4>
      <a:accent5>
        <a:srgbClr val="9CCBC8"/>
      </a:accent5>
      <a:accent6>
        <a:srgbClr val="2B3A50"/>
      </a:accent6>
      <a:hlink>
        <a:srgbClr val="0F7B78"/>
      </a:hlink>
      <a:folHlink>
        <a:srgbClr val="5C4D9E"/>
      </a:folHlink>
    </a:clrScheme>
    <a:fontScheme name="PureScrib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solidFill>
            <a:schemeClr val="phClr"/>
          </a:solidFill>
          <a:prstDash val="solid"/>
          <a:miter/>
        </a:ln>
        <a:ln w="12700" cap="flat" cmpd="sng">
          <a:solidFill>
            <a:schemeClr val="phClr"/>
          </a:solidFill>
          <a:prstDash val="solid"/>
          <a:miter/>
        </a:ln>
        <a:ln w="19050" cap="flat" cmpd="sng">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xmlns:a="http://schemas.openxmlformats.org/drawingml/2006/main"/>
  <a:extraClrSchemeLst xmlns:a="http://schemas.openxmlformats.org/drawingml/2006/main"/>
</a:theme>
</file>

<file path=ppt/theme/theme2.xml><?xml version="1.0" encoding="utf-8"?>
<a:theme xmlns:a="http://schemas.openxmlformats.org/drawingml/2006/main" xmlns:r="http://schemas.openxmlformats.org/officeDocument/2006/relationships" name="PureScribe">
  <a:themeElements>
    <a:clrScheme name="PureScribe">
      <a:dk1>
        <a:srgbClr val="1A2638"/>
      </a:dk1>
      <a:lt1>
        <a:srgbClr val="FFFFFF"/>
      </a:lt1>
      <a:dk2>
        <a:srgbClr val="556270"/>
      </a:dk2>
      <a:lt2>
        <a:srgbClr val="ECF1F3"/>
      </a:lt2>
      <a:accent1>
        <a:srgbClr val="0F7B78"/>
      </a:accent1>
      <a:accent2>
        <a:srgbClr val="C8691C"/>
      </a:accent2>
      <a:accent3>
        <a:srgbClr val="5C4D9E"/>
      </a:accent3>
      <a:accent4>
        <a:srgbClr val="B5302A"/>
      </a:accent4>
      <a:accent5>
        <a:srgbClr val="9CCBC8"/>
      </a:accent5>
      <a:accent6>
        <a:srgbClr val="2B3A50"/>
      </a:accent6>
      <a:hlink>
        <a:srgbClr val="0F7B78"/>
      </a:hlink>
      <a:folHlink>
        <a:srgbClr val="5C4D9E"/>
      </a:folHlink>
    </a:clrScheme>
    <a:fontScheme name="PureScrib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solidFill>
            <a:schemeClr val="phClr"/>
          </a:solidFill>
          <a:prstDash val="solid"/>
          <a:miter/>
        </a:ln>
        <a:ln w="12700" cap="flat" cmpd="sng">
          <a:solidFill>
            <a:schemeClr val="phClr"/>
          </a:solidFill>
          <a:prstDash val="solid"/>
          <a:miter/>
        </a:ln>
        <a:ln w="19050" cap="flat" cmpd="sng">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xmlns:a="http://schemas.openxmlformats.org/drawingml/2006/main"/>
  <a:extraClrSchemeLst xmlns:a="http://schemas.openxmlformats.org/drawingml/2006/main"/>
</a:theme>
</file>

<file path=docProps/app.xml><?xml version="1.0" encoding="utf-8"?>
<Properties xmlns="http://schemas.openxmlformats.org/officeDocument/2006/extended-properties" xmlns:vt="http://schemas.openxmlformats.org/officeDocument/2006/docPropsVTypes">
  <Application>DeckCraft</Application>
  <Slides>10</Slides>
  <Notes>10</Notes>
  <HiddenSlides>0</HiddenSlide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PureScribe: la pipeline della tesi</dc:title>
  <dc:subject>PptxGenJS Presentation</dc:subject>
  <dc:creator>PptxGenJS</dc:creator>
  <cp:lastModifiedBy>PptxGenJS</cp:lastModifiedBy>
  <cp:revision>1</cp:revision>
  <dcterms:created xsi:type="dcterms:W3CDTF">2026-10-19T19:47:43Z</dcterms:created>
  <dcterms:modified xsi:type="dcterms:W3CDTF">2026-10-19T19:47:43Z</dcterms:modified>
</cp:coreProperties>
</file>